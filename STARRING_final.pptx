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2" r:id="rId8"/>
    <p:sldId id="265" r:id="rId10"/>
    <p:sldId id="266" r:id="rId11"/>
    <p:sldId id="267" r:id="rId12"/>
    <p:sldId id="27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7"/>
    <p:restoredTop sz="94675"/>
  </p:normalViewPr>
  <p:slideViewPr>
    <p:cSldViewPr snapToGrid="0" snapToObjects="1">
      <p:cViewPr>
        <p:scale>
          <a:sx n="135" d="100"/>
          <a:sy n="135" d="100"/>
        </p:scale>
        <p:origin x="18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946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STARRINGの渡邉直也です。</a:t>
            </a:r>
          </a:p>
          <a:p>
            <a:r>
              <a:rPr lang="ja-JP" dirty="0"/>
              <a:t>STARRINGは、英語で「主演する」という意味です。</a:t>
            </a:r>
          </a:p>
          <a:p>
            <a:r>
              <a:rPr lang="ja-JP" dirty="0"/>
              <a:t>その名前のとおり、教材の主役を「自分」にする学び方を提案します。</a:t>
            </a:r>
          </a:p>
          <a:p>
            <a:r>
              <a:rPr lang="ja-JP" dirty="0"/>
              <a:t>まずは、そう考えたきっかけからお話しします。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最初に届けたいのは、英語を学び直したい18歳以上の人です。</a:t>
            </a:r>
          </a:p>
          <a:p>
            <a:r>
              <a:rPr lang="ja-JP" dirty="0"/>
              <a:t>目標はあるのに、毎回「何から始めるか」で止まってしまう。実は、私自身もそうでした。</a:t>
            </a:r>
          </a:p>
          <a:p>
            <a:r>
              <a:rPr lang="ja-JP" dirty="0"/>
              <a:t>だから、頑張り方ではなく、学びの「入口」を変えたいと考えました。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ここで質問です。</a:t>
            </a:r>
          </a:p>
          <a:p>
            <a:r>
              <a:rPr lang="ja-JP" dirty="0"/>
              <a:t>集合写真を撮ったとき、まずどこを見ますか？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……「自分」ですよね。</a:t>
            </a:r>
          </a:p>
          <a:p>
            <a:r>
              <a:rPr lang="ja-JP" dirty="0"/>
              <a:t>探そうとしなくても、まず自分が気になる。</a:t>
            </a:r>
          </a:p>
          <a:p>
            <a:r>
              <a:rPr lang="ja-JP" dirty="0"/>
              <a:t>この自然な関心を、学びの入口にできないかと考えました。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この問いは、約90年前、カーネギーの『人を動かす』にも書かれていました。</a:t>
            </a:r>
          </a:p>
          <a:p>
            <a:r>
              <a:rPr lang="ja-JP" dirty="0"/>
              <a:t>人は自然と「自分」に注意が向く。ここが、この企画の出発点です。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でも、教材の中には「自分」がいません。</a:t>
            </a:r>
          </a:p>
          <a:p>
            <a:r>
              <a:rPr lang="ja-JP" dirty="0"/>
              <a:t>知らない人の例文を、ただ眺めるだけです。</a:t>
            </a:r>
          </a:p>
          <a:p>
            <a:r>
              <a:rPr lang="ja-JP" dirty="0"/>
              <a:t>だから、自分の興味や疑問から、教材を始めます。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では、なぜAIエージェントなのか。</a:t>
            </a:r>
          </a:p>
          <a:p>
            <a:r>
              <a:rPr lang="ja-JP" dirty="0"/>
              <a:t>チャットボットは、聞かれたら答えます。でも、次に何を学ぶかは、毎回自分で決めなければいけません。</a:t>
            </a:r>
          </a:p>
          <a:p>
            <a:r>
              <a:rPr lang="ja-JP" dirty="0"/>
              <a:t>STARRINGのエージェントは、前回の結果を読みとり、次の教材と問いを選び、説明が伝わったかを確かめ、難しければ復習へ切り替えます。</a:t>
            </a:r>
          </a:p>
          <a:p>
            <a:r>
              <a:rPr lang="ja-JP" dirty="0"/>
              <a:t>「何から始めるか」で止まる負担を、エージェントが引き受けます。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その発想から生まれたのが、STARRINGです。</a:t>
            </a:r>
          </a:p>
          <a:p>
            <a:r>
              <a:rPr lang="ja-JP" dirty="0"/>
              <a:t>1つ目はINPUT。AIエージェントが、本人の選んだメモや学習履歴と目標から、自分が抱きそうな疑問や、一段上の問いを出します。</a:t>
            </a:r>
          </a:p>
          <a:p>
            <a:r>
              <a:rPr lang="ja-JP" dirty="0"/>
              <a:t>2つ目はOUTPUT。AIの先生や同級生がいる教室で、自分の言葉で答えます。</a:t>
            </a:r>
          </a:p>
          <a:p>
            <a:r>
              <a:rPr lang="ja-JP" dirty="0"/>
              <a:t>そして、答えた結果が、次の教材と出番を変えていきます。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たとえば、宇宙の話から学んだorbit。</a:t>
            </a:r>
          </a:p>
          <a:p>
            <a:r>
              <a:rPr lang="ja-JP" dirty="0"/>
              <a:t>先生に「orbitって、どういう意味？」と聞かれて、自分の力で「軌道のことです」と答える。</a:t>
            </a:r>
          </a:p>
          <a:p>
            <a:r>
              <a:rPr lang="ja-JP" dirty="0"/>
              <a:t>先生も同級生もAIですが、学んだことを自分で使う場面が、ここにあります。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反応は、正解したかどうかだけでは決めません。</a:t>
            </a:r>
          </a:p>
          <a:p>
            <a:r>
              <a:rPr lang="ja-JP" dirty="0"/>
              <a:t>例を使って説明できたか。どこが伝わり、どこが足りなかったか。</a:t>
            </a:r>
          </a:p>
          <a:p>
            <a:r>
              <a:rPr lang="ja-JP" dirty="0"/>
              <a:t>説明の中身に具体的に返すから、次の挑戦につながります。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競争や通知は、全員にはかけません。</a:t>
            </a:r>
          </a:p>
          <a:p>
            <a:r>
              <a:rPr lang="ja-JP" dirty="0"/>
              <a:t>マイペース、協力、ライバルとの競争。本人が選び、いつでも止められます。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では、どうつくるのか。</a:t>
            </a:r>
          </a:p>
          <a:p>
            <a:r>
              <a:rPr lang="ja-JP" dirty="0"/>
              <a:t>最初はMindsを学習の進行役にします。公式のMinds Connect SDKで、本人のMindと、STARRINGの教室画面をつなぎます。</a:t>
            </a:r>
          </a:p>
          <a:p>
            <a:r>
              <a:rPr lang="ja-JP" dirty="0"/>
              <a:t>まずは英語の1場面を架空のデータで試作し、学び始められるか、後日また戻ってくるか、別の場面でも説明できるかを確かめます。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集合写真で、自分を探すように。教材の中にも、自分を見つけられる世界を。</a:t>
            </a:r>
          </a:p>
          <a:p>
            <a:r>
              <a:rPr lang="ja-JP" dirty="0"/>
              <a:t>学ぶ。答える。認められる。そして、また挑戦したくなる。</a:t>
            </a:r>
          </a:p>
          <a:p>
            <a:r>
              <a:rPr lang="ja-JP" dirty="0"/>
              <a:t>私はこれから、AIと一緒に「自分が主役の学び」を続けていきます。</a:t>
            </a:r>
          </a:p>
          <a:p>
            <a:r>
              <a:rPr lang="ja-JP" dirty="0"/>
              <a:t>STARRINGでした。ありがとうございました。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microsoft.com/office/2007/relationships/media" Target="../media/media2.mp4"/><Relationship Id="rId7" Type="http://schemas.openxmlformats.org/officeDocument/2006/relationships/slideLayout" Target="../slideLayouts/slideLayout7.xml"/><Relationship Id="rId12" Type="http://schemas.openxmlformats.org/officeDocument/2006/relationships/hyperlink" Target="https://deepmind.google/blog/genie-4-a-new-generation-of-world-simulation/" TargetMode="Externa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8.jpg"/><Relationship Id="rId5" Type="http://schemas.microsoft.com/office/2007/relationships/media" Target="../media/media3.mp4"/><Relationship Id="rId10" Type="http://schemas.openxmlformats.org/officeDocument/2006/relationships/image" Target="../media/image7.jpg"/><Relationship Id="rId4" Type="http://schemas.openxmlformats.org/officeDocument/2006/relationships/video" Target="../media/media2.mp4"/><Relationship Id="rId9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47548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AA7C"/>
                </a:solidFill>
                <a:latin typeface="Noto Sans CJK JP"/>
              </a:rPr>
              <a:t>AIエージェント アイデアソン by Animoca Brands Japan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07592"/>
            <a:ext cx="662940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Noto Sans CJK JP"/>
              </a:rPr>
              <a:t>STARRING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56102"/>
            <a:ext cx="8183879" cy="5570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教材の主語を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、「</a:t>
            </a:r>
            <a:r>
              <a:rPr lang="en-US" sz="3500" b="1" dirty="0" err="1">
                <a:solidFill>
                  <a:srgbClr val="FFD47C"/>
                </a:solidFill>
                <a:latin typeface="Noto Sans CJK JP"/>
              </a:rPr>
              <a:t>自分</a:t>
            </a: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」に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393448"/>
            <a:ext cx="7790688" cy="4185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2600" dirty="0" err="1">
                <a:solidFill>
                  <a:schemeClr val="bg1"/>
                </a:solidFill>
                <a:latin typeface="Noto Sans CJK JP"/>
              </a:rPr>
              <a:t>自分の問いで学び、仮想学校で出番を見つける</a:t>
            </a:r>
            <a:r>
              <a:rPr sz="26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1225296"/>
            <a:ext cx="3657600" cy="3657600"/>
          </a:xfrm>
          <a:prstGeom prst="ellipse">
            <a:avLst/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55380" y="1522476"/>
            <a:ext cx="3063240" cy="3063240"/>
          </a:xfrm>
          <a:prstGeom prst="ellipse">
            <a:avLst/>
          </a:prstGeom>
          <a:solidFill>
            <a:srgbClr val="383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006840" y="1773936"/>
            <a:ext cx="2560320" cy="2560320"/>
          </a:xfrm>
          <a:prstGeom prst="ellipse">
            <a:avLst/>
          </a:prstGeom>
          <a:solidFill>
            <a:srgbClr val="535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17736" y="2084832"/>
            <a:ext cx="1938528" cy="1938528"/>
          </a:xfrm>
          <a:prstGeom prst="ellipse">
            <a:avLst/>
          </a:prstGeom>
          <a:solidFill>
            <a:srgbClr val="74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14916" y="2382012"/>
            <a:ext cx="1344168" cy="1344168"/>
          </a:xfrm>
          <a:prstGeom prst="ellipse">
            <a:avLst/>
          </a:prstGeom>
          <a:solidFill>
            <a:srgbClr val="A5A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65208" y="3035808"/>
            <a:ext cx="493776" cy="493776"/>
          </a:xfrm>
          <a:prstGeom prst="ellipse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10344" y="3520440"/>
            <a:ext cx="667512" cy="685800"/>
          </a:xfrm>
          <a:prstGeom prst="roundRect">
            <a:avLst>
              <a:gd name="adj" fmla="val 10273"/>
            </a:avLst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793012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998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628385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945614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30402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80987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9601" y="356753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06324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39601" y="255894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780987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04019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45614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28385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269980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793012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94944" y="4965192"/>
            <a:ext cx="6565392" cy="713232"/>
          </a:xfrm>
          <a:prstGeom prst="roundRect">
            <a:avLst>
              <a:gd name="adj" fmla="val 1089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5184648"/>
            <a:ext cx="6300216" cy="25603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Noto Sans CJK JP"/>
              </a:rPr>
              <a:t>渡邉 直也  |  TECH.C. AI専攻 / LITALICOワンダー 学習サポート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9509760" cy="1572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0243B"/>
                </a:solidFill>
                <a:latin typeface="Noto Sans CJK JP"/>
              </a:rPr>
              <a:t>学びたい。
でも、続けるのは難しい。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900000"/>
            <a:ext cx="10698480" cy="1400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2200" b="1" i="0" dirty="0">
                <a:solidFill>
                  <a:srgbClr val="E97749"/>
                </a:solidFill>
                <a:latin typeface="Noto Sans CJK JP"/>
              </a:rPr>
              <a:t>最初に届けたいのは、英語を学び直したい18歳以上の人。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sz="2200" b="0" i="0" dirty="0">
                <a:solidFill>
                  <a:srgbClr val="696D81"/>
                </a:solidFill>
                <a:latin typeface="Noto Sans CJK JP"/>
              </a:rPr>
              <a:t>目標はあるのに、毎回「何から始めるか」で止まってしまう。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2200" b="0" i="0" dirty="0">
                <a:solidFill>
                  <a:srgbClr val="696D81"/>
                </a:solidFill>
                <a:latin typeface="Noto Sans CJK JP"/>
              </a:rPr>
              <a:t>私自身も、その一人です。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目標はある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0857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入口が重い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586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5022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だから続かない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1832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ひとつ、質問です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115568"/>
            <a:ext cx="10698480" cy="15361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みなさん、集合写真を撮ったとき、
まずどこを見ますか？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3154680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5806440"/>
            <a:ext cx="4151376" cy="28346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B0CB"/>
                </a:solidFill>
                <a:latin typeface="Noto Sans CJK JP"/>
              </a:rPr>
              <a:t>（2秒、考えてください）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03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70A95A-A715-EE76-6C65-CF64CF6F0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3" y="20844"/>
            <a:ext cx="12161410" cy="68371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8952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3544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1288"/>
            <a:ext cx="1042416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D47C"/>
                </a:solidFill>
                <a:latin typeface="Noto Sans CJK JP"/>
              </a:rPr>
              <a:t>「自分」ですよね。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843784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724144"/>
            <a:ext cx="7946136" cy="4206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Noto Sans CJK JP"/>
              </a:rPr>
              <a:t>探そうとする前に、自分が気になる。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DALE CARNEGIE  /  1936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10744200" cy="6583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0243B"/>
                </a:solidFill>
                <a:latin typeface="Noto Sans CJK JP"/>
              </a:rPr>
              <a:t>この問いは、約90年前に書かれていた。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084831" cy="2889504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938528"/>
            <a:ext cx="2670048" cy="28895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99048" y="1938528"/>
            <a:ext cx="5294376" cy="2889504"/>
          </a:xfrm>
          <a:prstGeom prst="roundRect">
            <a:avLst>
              <a:gd name="adj" fmla="val 3164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212848"/>
            <a:ext cx="4590288" cy="1143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“When you see a group photograph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that you are in, whose picture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do you look for first?”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3575304"/>
            <a:ext cx="4535424" cy="18288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767328"/>
            <a:ext cx="4544568" cy="9052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243B"/>
                </a:solidFill>
                <a:latin typeface="Noto Sans CJK JP"/>
              </a:rPr>
              <a:t>「自分も写っている集合写真を見るとき、
あなたは、まず誰の写真を見るだろう？」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84648"/>
            <a:ext cx="10222992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6D81"/>
                </a:solidFill>
                <a:latin typeface="Noto Sans CJK JP"/>
              </a:rPr>
              <a:t>デール・カーネギー『人を動かす』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0136"/>
            <a:ext cx="10698480" cy="402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7749"/>
                </a:solidFill>
                <a:latin typeface="Noto Sans CJK JP"/>
              </a:rPr>
              <a:t>だから私は、この「自分への関心」を学びの入口にできないかと考えました。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88B9B"/>
                </a:solidFill>
                <a:latin typeface="Noto Sans CJK JP"/>
              </a:rPr>
              <a:t>写真・書影：D・カーネギー著、山口博訳『人を動かす』（創元社）　原著：How to Win Friends and Influence People (1936)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48640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25780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152144"/>
            <a:ext cx="10570464" cy="1545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Noto Sans CJK JP"/>
              </a:rPr>
              <a:t>なのに、教材の世界には
「自分」がいない。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9576" y="3511296"/>
            <a:ext cx="4160520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BC0D0"/>
                </a:solidFill>
                <a:latin typeface="Noto Sans CJK JP"/>
              </a:rPr>
              <a:t>他人の例を「眺める」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8BCD6"/>
                </a:solidFill>
                <a:latin typeface="Noto Sans CJK JP"/>
              </a:rPr>
              <a:t>知らない人物の、知らない場面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3621024"/>
            <a:ext cx="630936" cy="5577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AA7C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373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3992" y="3511296"/>
            <a:ext cx="4187952" cy="4572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D47C"/>
                </a:solidFill>
                <a:latin typeface="Noto Sans CJK JP"/>
              </a:rPr>
              <a:t>自分の物語として「感じる」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Noto Sans CJK JP"/>
              </a:rPr>
              <a:t>興味や疑問が、そのまま教材になる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404104"/>
            <a:ext cx="10405872" cy="54864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AA7C"/>
                </a:solidFill>
                <a:latin typeface="Noto Sans CJK JP"/>
              </a:rPr>
              <a:t>「自分ごと」にすることから、学びを始める。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設計の参考：自己参照効果（Rogers, Kuiper &amp; Kirker, 1977）／興味に合わせた教材の個別化（Walkington, 2013）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WHY AGENT?  /  学びを進める判断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08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6384" y="880000"/>
            <a:ext cx="107442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3400" b="1" i="0" dirty="0">
                <a:solidFill>
                  <a:srgbClr val="20243B"/>
                </a:solidFill>
                <a:latin typeface="Noto Sans CJK JP"/>
              </a:rPr>
              <a:t>なぜ、AIエージェントなのか。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95528" y="1600000"/>
            <a:ext cx="106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696D81"/>
                </a:solidFill>
                <a:latin typeface="Noto Sans CJK JP"/>
              </a:rPr>
              <a:t>チャットボットは、聞かれたら答える。エージェントは、結果を見て次を選ぶ。</a:t>
            </a:r>
          </a:p>
        </p:txBody>
      </p:sp>
      <p:sp>
        <p:nvSpPr>
          <p:cNvPr id="22" name="Shape 22"/>
          <p:cNvSpPr/>
          <p:nvPr/>
        </p:nvSpPr>
        <p:spPr>
          <a:xfrm>
            <a:off x="795528" y="2150000"/>
            <a:ext cx="4480000" cy="13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23" name="TextBox 23"/>
          <p:cNvSpPr txBox="1"/>
          <p:nvPr/>
        </p:nvSpPr>
        <p:spPr>
          <a:xfrm>
            <a:off x="1025528" y="2290000"/>
            <a:ext cx="402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888B9B"/>
                </a:solidFill>
                <a:latin typeface="Noto Sans CJK JP"/>
              </a:rPr>
              <a:t>チャットボット・学習アプリ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5528" y="2650000"/>
            <a:ext cx="4020000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0" i="0" dirty="0">
                <a:solidFill>
                  <a:srgbClr val="696D81"/>
                </a:solidFill>
                <a:latin typeface="Noto Sans CJK JP"/>
              </a:rPr>
              <a:t>次に何を学ぶかは、毎回自分で決める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500" b="0" i="0" dirty="0">
                <a:solidFill>
                  <a:srgbClr val="696D81"/>
                </a:solidFill>
                <a:latin typeface="Noto Sans CJK JP"/>
              </a:rPr>
              <a:t>答えて終わり。結果が次に生きにくい</a:t>
            </a:r>
          </a:p>
        </p:txBody>
      </p:sp>
      <p:sp>
        <p:nvSpPr>
          <p:cNvPr id="25" name="Shape 25"/>
          <p:cNvSpPr/>
          <p:nvPr/>
        </p:nvSpPr>
        <p:spPr>
          <a:xfrm>
            <a:off x="795528" y="3650000"/>
            <a:ext cx="4480000" cy="1650000"/>
          </a:xfrm>
          <a:prstGeom prst="roundRect">
            <a:avLst>
              <a:gd name="adj" fmla="val 8000"/>
            </a:avLst>
          </a:prstGeom>
          <a:solidFill>
            <a:srgbClr val="FCE7D8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26" name="TextBox 26"/>
          <p:cNvSpPr txBox="1"/>
          <p:nvPr/>
        </p:nvSpPr>
        <p:spPr>
          <a:xfrm>
            <a:off x="1025528" y="3790000"/>
            <a:ext cx="402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E97749"/>
                </a:solidFill>
                <a:latin typeface="Noto Sans CJK JP"/>
              </a:rPr>
              <a:t>STARRINGのエージェント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5528" y="4150000"/>
            <a:ext cx="40200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前回の結果から、次を自分で選ぶ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教材・出番・復習を用意して待つ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AIの先生・同級生の役割も調整する</a:t>
            </a:r>
          </a:p>
        </p:txBody>
      </p:sp>
      <p:sp>
        <p:nvSpPr>
          <p:cNvPr id="30" name="Shape 30"/>
          <p:cNvSpPr/>
          <p:nvPr/>
        </p:nvSpPr>
        <p:spPr>
          <a:xfrm>
            <a:off x="5550000" y="2150000"/>
            <a:ext cx="583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1" name="Oval 31"/>
          <p:cNvSpPr/>
          <p:nvPr/>
        </p:nvSpPr>
        <p:spPr>
          <a:xfrm>
            <a:off x="5710000" y="2290000"/>
            <a:ext cx="440000" cy="440000"/>
          </a:xfrm>
          <a:prstGeom prst="ellipse">
            <a:avLst/>
          </a:prstGeom>
          <a:solidFill>
            <a:srgbClr val="268B75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2" name="TextBox 32"/>
          <p:cNvSpPr txBox="1"/>
          <p:nvPr/>
        </p:nvSpPr>
        <p:spPr>
          <a:xfrm>
            <a:off x="5710000" y="229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30000" y="2240000"/>
            <a:ext cx="493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20243B"/>
                </a:solidFill>
                <a:latin typeface="Noto Sans CJK JP"/>
              </a:rPr>
              <a:t>読みとる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30000" y="2550000"/>
            <a:ext cx="493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目標・本人が選んだメモ・前回の回答</a:t>
            </a:r>
          </a:p>
        </p:txBody>
      </p:sp>
      <p:sp>
        <p:nvSpPr>
          <p:cNvPr id="35" name="Shape 35"/>
          <p:cNvSpPr/>
          <p:nvPr/>
        </p:nvSpPr>
        <p:spPr>
          <a:xfrm>
            <a:off x="5550000" y="2950000"/>
            <a:ext cx="583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6" name="Oval 36"/>
          <p:cNvSpPr/>
          <p:nvPr/>
        </p:nvSpPr>
        <p:spPr>
          <a:xfrm>
            <a:off x="5710000" y="3090000"/>
            <a:ext cx="440000" cy="440000"/>
          </a:xfrm>
          <a:prstGeom prst="ellipse">
            <a:avLst/>
          </a:prstGeom>
          <a:solidFill>
            <a:srgbClr val="E97749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7" name="TextBox 37"/>
          <p:cNvSpPr txBox="1"/>
          <p:nvPr/>
        </p:nvSpPr>
        <p:spPr>
          <a:xfrm>
            <a:off x="5710000" y="309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330000" y="3040000"/>
            <a:ext cx="493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20243B"/>
                </a:solidFill>
                <a:latin typeface="Noto Sans CJK JP"/>
              </a:rPr>
              <a:t>選ぶ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30000" y="3350000"/>
            <a:ext cx="493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次の短い教材と、教室で答える問い</a:t>
            </a:r>
          </a:p>
        </p:txBody>
      </p:sp>
      <p:sp>
        <p:nvSpPr>
          <p:cNvPr id="40" name="Shape 40"/>
          <p:cNvSpPr/>
          <p:nvPr/>
        </p:nvSpPr>
        <p:spPr>
          <a:xfrm>
            <a:off x="5550000" y="3750000"/>
            <a:ext cx="583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1" name="Oval 41"/>
          <p:cNvSpPr/>
          <p:nvPr/>
        </p:nvSpPr>
        <p:spPr>
          <a:xfrm>
            <a:off x="5710000" y="3890000"/>
            <a:ext cx="440000" cy="440000"/>
          </a:xfrm>
          <a:prstGeom prst="ellipse">
            <a:avLst/>
          </a:prstGeom>
          <a:solidFill>
            <a:srgbClr val="685EA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2" name="TextBox 42"/>
          <p:cNvSpPr txBox="1"/>
          <p:nvPr/>
        </p:nvSpPr>
        <p:spPr>
          <a:xfrm>
            <a:off x="5710000" y="389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30000" y="3840000"/>
            <a:ext cx="493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20243B"/>
                </a:solidFill>
                <a:latin typeface="Noto Sans CJK JP"/>
              </a:rPr>
              <a:t>確かめる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30000" y="4150000"/>
            <a:ext cx="493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教室での説明が、伝わったか</a:t>
            </a:r>
          </a:p>
        </p:txBody>
      </p:sp>
      <p:sp>
        <p:nvSpPr>
          <p:cNvPr id="45" name="Shape 45"/>
          <p:cNvSpPr/>
          <p:nvPr/>
        </p:nvSpPr>
        <p:spPr>
          <a:xfrm>
            <a:off x="5550000" y="4550000"/>
            <a:ext cx="583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6" name="Oval 46"/>
          <p:cNvSpPr/>
          <p:nvPr/>
        </p:nvSpPr>
        <p:spPr>
          <a:xfrm>
            <a:off x="5710000" y="4690000"/>
            <a:ext cx="440000" cy="440000"/>
          </a:xfrm>
          <a:prstGeom prst="ellipse">
            <a:avLst/>
          </a:prstGeom>
          <a:solidFill>
            <a:srgbClr val="20243B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7" name="TextBox 47"/>
          <p:cNvSpPr txBox="1"/>
          <p:nvPr/>
        </p:nvSpPr>
        <p:spPr>
          <a:xfrm>
            <a:off x="5710000" y="469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330000" y="4640000"/>
            <a:ext cx="493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20243B"/>
                </a:solidFill>
                <a:latin typeface="Noto Sans CJK JP"/>
              </a:rPr>
              <a:t>調整する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330000" y="4950000"/>
            <a:ext cx="493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できたら応用へ、難しければ復習へ。そして1へ戻る</a:t>
            </a:r>
          </a:p>
        </p:txBody>
      </p:sp>
      <p:sp>
        <p:nvSpPr>
          <p:cNvPr id="56" name="Shape 56"/>
          <p:cNvSpPr/>
          <p:nvPr/>
        </p:nvSpPr>
        <p:spPr>
          <a:xfrm>
            <a:off x="795528" y="5500000"/>
            <a:ext cx="10585000" cy="520000"/>
          </a:xfrm>
          <a:prstGeom prst="roundRect">
            <a:avLst>
              <a:gd name="adj" fmla="val 15000"/>
            </a:avLst>
          </a:prstGeom>
          <a:solidFill>
            <a:srgbClr val="20243B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7" name="TextBox 57"/>
          <p:cNvSpPr txBox="1"/>
          <p:nvPr/>
        </p:nvSpPr>
        <p:spPr>
          <a:xfrm>
            <a:off x="795528" y="5500000"/>
            <a:ext cx="10585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FFFFFF"/>
                </a:solidFill>
                <a:latin typeface="Noto Sans CJK JP"/>
              </a:rPr>
              <a:t>結果を次の教材・出番・復習へ反映し続け、「何から始めるか」で止まる負担をなくす。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SOLUTION  /  STARRING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77824"/>
            <a:ext cx="10744200" cy="6675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20243B"/>
                </a:solidFill>
                <a:latin typeface="Noto Sans CJK JP"/>
              </a:rPr>
              <a:t>こちらが、STARRINGです。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18488"/>
            <a:ext cx="1065276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200">
                <a:latin typeface="Noto Sans CJK JP"/>
              </a:rPr>
              <a:t>自分の問いで学び、教室で使い、次の学びへ。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33271" y="2276856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97863" y="2253996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7749"/>
                </a:solidFill>
                <a:latin typeface="Noto Sans CJK JP"/>
              </a:rPr>
              <a:t>INPUT  /  観る・読む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52928"/>
            <a:ext cx="4480560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自分の問いから始まる教材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480000"/>
            <a:ext cx="4634484" cy="1300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AIエージェントが、本人の選んだ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メモ・学習履歴と目標から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「自分が抱きそうな疑問」や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「気づかなかった</a:t>
            </a:r>
            <a:r>
              <a:rPr lang="ja-JP" sz="1700" b="1" i="0" dirty="0">
                <a:solidFill>
                  <a:srgbClr val="E97749"/>
                </a:solidFill>
                <a:latin typeface="Noto Sans CJK JP"/>
              </a:rPr>
              <a:t>一段上の問い</a:t>
            </a: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」を出題。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2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DF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65976" y="2276856"/>
            <a:ext cx="59436" cy="237744"/>
          </a:xfrm>
          <a:prstGeom prst="rect">
            <a:avLst/>
          </a:prstGeom>
          <a:solidFill>
            <a:srgbClr val="268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30568" y="2253996"/>
            <a:ext cx="5102352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8B75"/>
                </a:solidFill>
                <a:latin typeface="Noto Sans CJK JP"/>
              </a:rPr>
              <a:t>OUTPUT  /  動く・試す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852928"/>
            <a:ext cx="4517136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自分が行動する世界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3480000"/>
            <a:ext cx="4517136" cy="130000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AIの先生・同級生がいる教室で、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自分の言葉で答える。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1" i="0" dirty="0">
                <a:solidFill>
                  <a:srgbClr val="268B75"/>
                </a:solidFill>
                <a:latin typeface="Noto Sans CJK JP"/>
              </a:rPr>
              <a:t>できたら応用へ、難しければヒントへ。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5559552"/>
            <a:ext cx="10094976" cy="53035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97749"/>
                </a:solidFill>
                <a:latin typeface="Noto Sans CJK JP"/>
              </a:rPr>
              <a:t>答えた結果が、次の教材と出番を変えていく。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図 42" descr="仮想学校の英語の授業。先生が「orbitって、どういう意味かな？」と問い、宇宙の例で学んだ生徒が「天体が回る道筋、軌道のことです！」と答え、同級生が「なるほど！分かりやすい！」と反応している。右側に「01 学んだ知識を使う／02 自分の言葉で伝える／03 周囲から認められる」">
            <a:extLst>
              <a:ext uri="{FF2B5EF4-FFF2-40B4-BE49-F238E27FC236}">
                <a16:creationId xmlns:a16="http://schemas.microsoft.com/office/drawing/2014/main" id="{848222D0-A0D3-2E75-3E3A-8842164B8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"/>
            <a:ext cx="12192000" cy="6858000"/>
          </a:xfrm>
          <a:prstGeom prst="rect">
            <a:avLst/>
          </a:prstGeom>
        </p:spPr>
      </p:pic>
      <p:sp>
        <p:nvSpPr>
          <p:cNvPr id="60" name="Shape 60"/>
          <p:cNvSpPr/>
          <p:nvPr/>
        </p:nvSpPr>
        <p:spPr>
          <a:xfrm>
            <a:off x="9800000" y="6420000"/>
            <a:ext cx="2250000" cy="3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4774E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1" name="TextBox 61"/>
          <p:cNvSpPr txBox="1"/>
          <p:nvPr/>
        </p:nvSpPr>
        <p:spPr>
          <a:xfrm>
            <a:off x="9800000" y="6420000"/>
            <a:ext cx="22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4774E"/>
                </a:solidFill>
                <a:latin typeface="Noto Sans CJK JP"/>
              </a:rPr>
              <a:t>構想図｜先生・同級生は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THE REWARD  /  EARNED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9243D"/>
                </a:solidFill>
                <a:latin typeface="Noto Sans CJK JP"/>
              </a:rPr>
              <a:t>褒めるのは、正解ではなく「説明の中身」。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858D9C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267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自分で説明できた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3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8E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144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0" i="0" dirty="0">
                <a:solidFill>
                  <a:srgbClr val="19243D"/>
                </a:solidFill>
                <a:latin typeface="Noto Sans CJK JP"/>
              </a:rPr>
              <a:t>例を使って、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0" i="0" dirty="0">
                <a:solidFill>
                  <a:srgbClr val="19243D"/>
                </a:solidFill>
                <a:latin typeface="Noto Sans CJK JP"/>
              </a:rPr>
              <a:t>意味を説明できた。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64608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0328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伝わる説明を練習できた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73752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F8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0" i="0" dirty="0">
                <a:solidFill>
                  <a:srgbClr val="19243D"/>
                </a:solidFill>
                <a:latin typeface="Noto Sans CJK JP"/>
              </a:rPr>
              <a:t>AIの仲間が、伝わった点と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0" i="0" dirty="0">
                <a:solidFill>
                  <a:srgbClr val="19243D"/>
                </a:solidFill>
                <a:latin typeface="Noto Sans CJK JP"/>
              </a:rPr>
              <a:t>足りない点を返す。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3063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23376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685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69095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3376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次の挑戦につながる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19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D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0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0" i="0" dirty="0">
                <a:solidFill>
                  <a:srgbClr val="19243D"/>
                </a:solidFill>
                <a:latin typeface="Noto Sans CJK JP"/>
              </a:rPr>
              <a:t>今回できたことを、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0" i="0" dirty="0">
                <a:solidFill>
                  <a:srgbClr val="19243D"/>
                </a:solidFill>
                <a:latin typeface="Noto Sans CJK JP"/>
              </a:rPr>
              <a:t>次の課題に反映する。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9576" y="5650992"/>
            <a:ext cx="9811512" cy="484632"/>
          </a:xfrm>
          <a:prstGeom prst="roundRect">
            <a:avLst>
              <a:gd name="adj" fmla="val 10000"/>
            </a:avLst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62456" y="5733288"/>
            <a:ext cx="9418320" cy="2560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JP"/>
              </a:rPr>
              <a:t>根拠のない「天才！」ではなく、実際の説明に「どこがよかったか」を返す。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CHOICE  /  OPTIONAL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Noto Sans CJK JP"/>
              </a:rPr>
              <a:t>競争が力になる人には、ライバルも。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A7AFBE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700784"/>
            <a:ext cx="10789920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C4D0DF"/>
                </a:solidFill>
                <a:latin typeface="Noto Sans CJK JP"/>
              </a:rPr>
              <a:t>競争も通知も、全員にはかけない。本人が選び、いつでも止められる。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マイペース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自分のペースで学びに集中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82896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CO-OP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協力モード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得意を持ち寄り課題に挑む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13064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4A3D43"/>
          </a:solidFill>
          <a:ln w="25400">
            <a:solidFill>
              <a:srgbClr val="F47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B792"/>
                </a:solidFill>
                <a:latin typeface="Noto Sans CJK JP"/>
              </a:rPr>
              <a:t>RIVAL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ライバルと競争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相手の上達を刺激にする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8248" y="2734056"/>
            <a:ext cx="585216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1D8"/>
                </a:solidFill>
                <a:latin typeface="Noto Sans CJK JP"/>
              </a:rPr>
              <a:t>選択中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" y="5001768"/>
            <a:ext cx="10186416" cy="786384"/>
          </a:xfrm>
          <a:prstGeom prst="roundRect">
            <a:avLst>
              <a:gd name="adj" fmla="val 10000"/>
            </a:avLst>
          </a:prstGeom>
          <a:solidFill>
            <a:srgbClr val="252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6152" y="5166360"/>
            <a:ext cx="9738360" cy="3931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Noto Sans CJK JP"/>
              </a:rPr>
              <a:t>「ライバルが新しい課題をクリアした。自分も挑んでみよう」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21207"/>
            <a:ext cx="59436" cy="237744"/>
          </a:xfrm>
          <a:prstGeom prst="rect">
            <a:avLst/>
          </a:prstGeom>
          <a:solidFill>
            <a:srgbClr val="8E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98347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EBCF"/>
                </a:solidFill>
                <a:latin typeface="Noto Sans CJK JP"/>
              </a:rPr>
              <a:t>FEASIBILITY  /  実現方法と検証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60000"/>
            <a:ext cx="10415016" cy="587853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Noto Sans CJK JP"/>
              </a:rPr>
              <a:t>まずは Minds を進行役に、2Dの教室から。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9A1C0"/>
                </a:solidFill>
                <a:latin typeface="Noto Sans CJK JP"/>
              </a:rPr>
              <a:t>出典：Minds Builder Hub「Minds Connect SDK」／Google DeepMind「Genie 4: A new generation of world simulation」(2026-10-27)</a:t>
            </a:r>
          </a:p>
        </p:txBody>
      </p:sp>
      <p:pic>
        <p:nvPicPr>
          <p:cNvPr id="103" name="Genie 4 demo 01  /  ROBOTICS" descr="Genie 4 demo 01  /  ROBOTIC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3350000" y="4250000"/>
            <a:ext cx="2619000" cy="1473000"/>
          </a:xfrm>
          <a:prstGeom prst="rect">
            <a:avLst/>
          </a:prstGeom>
        </p:spPr>
      </p:pic>
      <p:pic>
        <p:nvPicPr>
          <p:cNvPr id="109" name="Genie 4 demo 02  /  MAGICIAN" descr="Genie 4 demo 02  /  MAGICIA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119000" y="4250000"/>
            <a:ext cx="2619000" cy="1473000"/>
          </a:xfrm>
          <a:prstGeom prst="rect">
            <a:avLst/>
          </a:prstGeom>
        </p:spPr>
      </p:pic>
      <p:pic>
        <p:nvPicPr>
          <p:cNvPr id="115" name="Genie 4 demo 03  /  CRANE" descr="Genie 4 demo 03  /  CRANE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888000" y="4250000"/>
            <a:ext cx="2619000" cy="1473000"/>
          </a:xfrm>
          <a:prstGeom prst="rect">
            <a:avLst/>
          </a:prstGeom>
        </p:spPr>
      </p:pic>
      <p:sp>
        <p:nvSpPr>
          <p:cNvPr id="119" name="TextBox 119">
            <a:hlinkClick r:id="rId12"/>
          </p:cNvPr>
          <p:cNvSpPr txBox="1"/>
          <p:nvPr/>
        </p:nvSpPr>
        <p:spPr>
          <a:xfrm>
            <a:off x="7400000" y="6245352"/>
            <a:ext cx="410620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800" b="0" dirty="0">
                <a:solidFill>
                  <a:srgbClr val="8EEBCF"/>
                </a:solidFill>
                <a:latin typeface="Noto Sans CJK JP"/>
              </a:rPr>
              <a:t>deepmind.google/blog/genie-4 ↗</a:t>
            </a:r>
          </a:p>
        </p:txBody>
      </p:sp>
      <p:sp>
        <p:nvSpPr>
          <p:cNvPr id="400" name="Shape 400"/>
          <p:cNvSpPr/>
          <p:nvPr/>
        </p:nvSpPr>
        <p:spPr>
          <a:xfrm>
            <a:off x="685800" y="1620000"/>
            <a:ext cx="6620000" cy="2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01" name="TextBox 401"/>
          <p:cNvSpPr txBox="1"/>
          <p:nvPr/>
        </p:nvSpPr>
        <p:spPr>
          <a:xfrm>
            <a:off x="865800" y="1720000"/>
            <a:ext cx="626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8EEBCF"/>
                </a:solidFill>
                <a:latin typeface="Noto Sans CJK JP"/>
              </a:rPr>
              <a:t>初期版の構成</a:t>
            </a:r>
          </a:p>
        </p:txBody>
      </p:sp>
      <p:sp>
        <p:nvSpPr>
          <p:cNvPr id="402" name="Shape 402"/>
          <p:cNvSpPr/>
          <p:nvPr/>
        </p:nvSpPr>
        <p:spPr>
          <a:xfrm>
            <a:off x="865800" y="2080000"/>
            <a:ext cx="1846000" cy="860000"/>
          </a:xfrm>
          <a:prstGeom prst="roundRect">
            <a:avLst>
              <a:gd name="adj" fmla="val 10000"/>
            </a:avLst>
          </a:prstGeom>
          <a:solidFill>
            <a:srgbClr val="263052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03" name="TextBox 403"/>
          <p:cNvSpPr txBox="1"/>
          <p:nvPr/>
        </p:nvSpPr>
        <p:spPr>
          <a:xfrm>
            <a:off x="925800" y="2080000"/>
            <a:ext cx="1726000" cy="8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あなたのMind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記憶をもつ学習の進行役</a:t>
            </a:r>
          </a:p>
        </p:txBody>
      </p:sp>
      <p:sp>
        <p:nvSpPr>
          <p:cNvPr id="404" name="TextBox 404"/>
          <p:cNvSpPr txBox="1"/>
          <p:nvPr/>
        </p:nvSpPr>
        <p:spPr>
          <a:xfrm>
            <a:off x="2711800" y="2080000"/>
            <a:ext cx="360000" cy="8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8EEBCF"/>
                </a:solidFill>
                <a:latin typeface="Noto Sans CJK JP"/>
              </a:rPr>
              <a:t>⇄</a:t>
            </a:r>
          </a:p>
        </p:txBody>
      </p:sp>
      <p:sp>
        <p:nvSpPr>
          <p:cNvPr id="405" name="Shape 405"/>
          <p:cNvSpPr/>
          <p:nvPr/>
        </p:nvSpPr>
        <p:spPr>
          <a:xfrm>
            <a:off x="3071800" y="2080000"/>
            <a:ext cx="1846000" cy="860000"/>
          </a:xfrm>
          <a:prstGeom prst="roundRect">
            <a:avLst>
              <a:gd name="adj" fmla="val 10000"/>
            </a:avLst>
          </a:prstGeom>
          <a:solidFill>
            <a:srgbClr val="263052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06" name="TextBox 406"/>
          <p:cNvSpPr txBox="1"/>
          <p:nvPr/>
        </p:nvSpPr>
        <p:spPr>
          <a:xfrm>
            <a:off x="3131800" y="2080000"/>
            <a:ext cx="1726000" cy="8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Minds Connect SDK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本人の同意で接続</a:t>
            </a:r>
          </a:p>
        </p:txBody>
      </p:sp>
      <p:sp>
        <p:nvSpPr>
          <p:cNvPr id="407" name="TextBox 407"/>
          <p:cNvSpPr txBox="1"/>
          <p:nvPr/>
        </p:nvSpPr>
        <p:spPr>
          <a:xfrm>
            <a:off x="4917800" y="2080000"/>
            <a:ext cx="360000" cy="8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8EEBCF"/>
                </a:solidFill>
                <a:latin typeface="Noto Sans CJK JP"/>
              </a:rPr>
              <a:t>⇄</a:t>
            </a:r>
          </a:p>
        </p:txBody>
      </p:sp>
      <p:sp>
        <p:nvSpPr>
          <p:cNvPr id="408" name="Shape 408"/>
          <p:cNvSpPr/>
          <p:nvPr/>
        </p:nvSpPr>
        <p:spPr>
          <a:xfrm>
            <a:off x="5277800" y="2080000"/>
            <a:ext cx="1846000" cy="860000"/>
          </a:xfrm>
          <a:prstGeom prst="roundRect">
            <a:avLst>
              <a:gd name="adj" fmla="val 10000"/>
            </a:avLst>
          </a:prstGeom>
          <a:solidFill>
            <a:srgbClr val="263052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09" name="TextBox 409"/>
          <p:cNvSpPr txBox="1"/>
          <p:nvPr/>
        </p:nvSpPr>
        <p:spPr>
          <a:xfrm>
            <a:off x="5337800" y="2080000"/>
            <a:ext cx="1726000" cy="8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STARRING 教室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2D画面・先生と同級生AI</a:t>
            </a:r>
          </a:p>
        </p:txBody>
      </p:sp>
      <p:sp>
        <p:nvSpPr>
          <p:cNvPr id="420" name="TextBox 420"/>
          <p:cNvSpPr txBox="1"/>
          <p:nvPr/>
        </p:nvSpPr>
        <p:spPr>
          <a:xfrm>
            <a:off x="865800" y="3080000"/>
            <a:ext cx="6260000" cy="8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EBEEF7"/>
                </a:solidFill>
                <a:latin typeface="Noto Sans CJK JP"/>
              </a:rPr>
              <a:t>・本人のMindに「STARRINGスキル」を装着し、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EBEEF7"/>
                </a:solidFill>
                <a:latin typeface="Noto Sans CJK JP"/>
              </a:rPr>
              <a:t>　教材 → 出題 → 回答の確認 → 次回の課題 を一つの流れに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EBEEF7"/>
                </a:solidFill>
                <a:latin typeface="Noto Sans CJK JP"/>
              </a:rPr>
              <a:t>・まず英語の1場面を、架空の学習データで試作する</a:t>
            </a:r>
          </a:p>
        </p:txBody>
      </p:sp>
      <p:sp>
        <p:nvSpPr>
          <p:cNvPr id="430" name="Shape 430"/>
          <p:cNvSpPr/>
          <p:nvPr/>
        </p:nvSpPr>
        <p:spPr>
          <a:xfrm>
            <a:off x="7490000" y="1620000"/>
            <a:ext cx="4016000" cy="2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31" name="TextBox 431"/>
          <p:cNvSpPr txBox="1"/>
          <p:nvPr/>
        </p:nvSpPr>
        <p:spPr>
          <a:xfrm>
            <a:off x="7670000" y="1720000"/>
            <a:ext cx="37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8EEBCF"/>
                </a:solidFill>
                <a:latin typeface="Noto Sans CJK JP"/>
              </a:rPr>
              <a:t>検証すること</a:t>
            </a:r>
          </a:p>
        </p:txBody>
      </p:sp>
      <p:sp>
        <p:nvSpPr>
          <p:cNvPr id="432" name="TextBox 432"/>
          <p:cNvSpPr txBox="1"/>
          <p:nvPr/>
        </p:nvSpPr>
        <p:spPr>
          <a:xfrm>
            <a:off x="7670000" y="2120000"/>
            <a:ext cx="37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1" i="0" dirty="0">
                <a:solidFill>
                  <a:srgbClr val="8EEBCF"/>
                </a:solidFill>
                <a:latin typeface="Noto Sans CJK JP"/>
              </a:rPr>
              <a:t>01</a:t>
            </a:r>
            <a:r>
              <a:rPr lang="ja-JP" sz="1350" b="0" i="0" dirty="0">
                <a:solidFill>
                  <a:srgbClr val="EBEEF7"/>
                </a:solidFill>
                <a:latin typeface="Noto Sans CJK JP"/>
              </a:rPr>
              <a:t>　学びを始められるか</a:t>
            </a:r>
          </a:p>
        </p:txBody>
      </p:sp>
      <p:sp>
        <p:nvSpPr>
          <p:cNvPr id="433" name="TextBox 433"/>
          <p:cNvSpPr txBox="1"/>
          <p:nvPr/>
        </p:nvSpPr>
        <p:spPr>
          <a:xfrm>
            <a:off x="7670000" y="2570000"/>
            <a:ext cx="37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1" i="0" dirty="0">
                <a:solidFill>
                  <a:srgbClr val="8EEBCF"/>
                </a:solidFill>
                <a:latin typeface="Noto Sans CJK JP"/>
              </a:rPr>
              <a:t>02</a:t>
            </a:r>
            <a:r>
              <a:rPr lang="ja-JP" sz="1350" b="0" i="0" dirty="0">
                <a:solidFill>
                  <a:srgbClr val="EBEEF7"/>
                </a:solidFill>
                <a:latin typeface="Noto Sans CJK JP"/>
              </a:rPr>
              <a:t>　後日、自分から戻ってくるか</a:t>
            </a:r>
          </a:p>
        </p:txBody>
      </p:sp>
      <p:sp>
        <p:nvSpPr>
          <p:cNvPr id="434" name="TextBox 434"/>
          <p:cNvSpPr txBox="1"/>
          <p:nvPr/>
        </p:nvSpPr>
        <p:spPr>
          <a:xfrm>
            <a:off x="7670000" y="3020000"/>
            <a:ext cx="37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1" i="0" dirty="0">
                <a:solidFill>
                  <a:srgbClr val="8EEBCF"/>
                </a:solidFill>
                <a:latin typeface="Noto Sans CJK JP"/>
              </a:rPr>
              <a:t>03</a:t>
            </a:r>
            <a:r>
              <a:rPr lang="ja-JP" sz="1350" b="0" i="0" dirty="0">
                <a:solidFill>
                  <a:srgbClr val="EBEEF7"/>
                </a:solidFill>
                <a:latin typeface="Noto Sans CJK JP"/>
              </a:rPr>
              <a:t>　別の場面でも説明できるか</a:t>
            </a:r>
          </a:p>
        </p:txBody>
      </p:sp>
      <p:sp>
        <p:nvSpPr>
          <p:cNvPr id="435" name="TextBox 435"/>
          <p:cNvSpPr txBox="1"/>
          <p:nvPr/>
        </p:nvSpPr>
        <p:spPr>
          <a:xfrm>
            <a:off x="7670000" y="3470000"/>
            <a:ext cx="37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1" i="0" dirty="0">
                <a:solidFill>
                  <a:srgbClr val="8EEBCF"/>
                </a:solidFill>
                <a:latin typeface="Noto Sans CJK JP"/>
              </a:rPr>
              <a:t>04</a:t>
            </a:r>
            <a:r>
              <a:rPr lang="ja-JP" sz="1350" b="0" i="0" dirty="0">
                <a:solidFill>
                  <a:srgbClr val="EBEEF7"/>
                </a:solidFill>
                <a:latin typeface="Noto Sans CJK JP"/>
              </a:rPr>
              <a:t>　1回の費用と待ち時間は妥当か</a:t>
            </a:r>
          </a:p>
        </p:txBody>
      </p:sp>
      <p:sp>
        <p:nvSpPr>
          <p:cNvPr id="440" name="TextBox 440"/>
          <p:cNvSpPr txBox="1"/>
          <p:nvPr/>
        </p:nvSpPr>
        <p:spPr>
          <a:xfrm>
            <a:off x="685800" y="4250000"/>
            <a:ext cx="2500000" cy="17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F6AF65"/>
                </a:solidFill>
                <a:latin typeface="Noto Sans CJK JP"/>
              </a:rPr>
              <a:t>将来の拡張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EBEEF7"/>
                </a:solidFill>
                <a:latin typeface="Noto Sans CJK JP"/>
              </a:rPr>
              <a:t>ワールドモデルで、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EBEEF7"/>
                </a:solidFill>
                <a:latin typeface="Noto Sans CJK JP"/>
              </a:rPr>
              <a:t>教室を「入り込める世界」へ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Google DeepMind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「Genie 4 × Gemini」技術デモ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2026.10.27 発表・研究プレビュー</a:t>
            </a:r>
          </a:p>
        </p:txBody>
      </p:sp>
      <p:sp>
        <p:nvSpPr>
          <p:cNvPr id="450" name="TextBox 450"/>
          <p:cNvSpPr txBox="1"/>
          <p:nvPr/>
        </p:nvSpPr>
        <p:spPr>
          <a:xfrm>
            <a:off x="3350000" y="5763000"/>
            <a:ext cx="2619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ロボット実験の世界</a:t>
            </a:r>
          </a:p>
        </p:txBody>
      </p:sp>
      <p:sp>
        <p:nvSpPr>
          <p:cNvPr id="451" name="TextBox 451"/>
          <p:cNvSpPr txBox="1"/>
          <p:nvPr/>
        </p:nvSpPr>
        <p:spPr>
          <a:xfrm>
            <a:off x="6119000" y="5763000"/>
            <a:ext cx="2619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一人称で歩ける世界</a:t>
            </a:r>
          </a:p>
        </p:txBody>
      </p:sp>
      <p:sp>
        <p:nvSpPr>
          <p:cNvPr id="452" name="TextBox 452"/>
          <p:cNvSpPr txBox="1"/>
          <p:nvPr/>
        </p:nvSpPr>
        <p:spPr>
          <a:xfrm>
            <a:off x="8888000" y="5763000"/>
            <a:ext cx="2619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雪原を歩くカンムリヅル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10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000" fill="hold"/>
                                        <p:tgtEl>
                                          <p:spTgt spid="10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5667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3"/>
                </p:tgtEl>
              </p:cMediaNode>
            </p:video>
            <p:video>
              <p:cMediaNode vol="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09"/>
                </p:tgtEl>
              </p:cMediaNode>
            </p:video>
            <p:video>
              <p:cMediaNode vol="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" y="530352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07491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FAA7C"/>
                </a:solidFill>
                <a:latin typeface="Noto Sans CJK JP"/>
              </a:rPr>
              <a:t>STARRING  /  OUR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170432"/>
            <a:ext cx="10671048" cy="1307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 dirty="0" err="1">
                <a:solidFill>
                  <a:srgbClr val="FFFFFF"/>
                </a:solidFill>
                <a:latin typeface="Noto Sans CJK JP"/>
              </a:rPr>
              <a:t>集合写真の中から</a:t>
            </a:r>
            <a:r>
              <a:rPr sz="3900" b="1" i="0" dirty="0">
                <a:solidFill>
                  <a:srgbClr val="FFFFFF"/>
                </a:solidFill>
                <a:latin typeface="Noto Sans CJK JP"/>
              </a:rPr>
              <a:t>、
</a:t>
            </a:r>
            <a:r>
              <a:rPr sz="3900" b="1" i="0" dirty="0" err="1">
                <a:solidFill>
                  <a:srgbClr val="FFFFFF"/>
                </a:solidFill>
                <a:latin typeface="Noto Sans CJK JP"/>
              </a:rPr>
              <a:t>自分を探すように</a:t>
            </a:r>
            <a:r>
              <a:rPr sz="3900" b="1" i="0" dirty="0">
                <a:solidFill>
                  <a:srgbClr val="FFFFFF"/>
                </a:solidFill>
                <a:latin typeface="Noto Sans CJK JP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10643616" cy="12435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D47C"/>
                </a:solidFill>
                <a:latin typeface="Noto Sans CJK JP"/>
              </a:rPr>
              <a:t>教材の中にも、
自分自身を見つけられる世界を。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4818888"/>
            <a:ext cx="10469880" cy="758952"/>
          </a:xfrm>
          <a:prstGeom prst="roundRect">
            <a:avLst>
              <a:gd name="adj" fmla="val 8433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032343"/>
            <a:ext cx="10149840" cy="29546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800" dirty="0" err="1">
                <a:solidFill>
                  <a:schemeClr val="bg1"/>
                </a:solidFill>
                <a:latin typeface="Noto Sans CJK JP"/>
              </a:rPr>
              <a:t>学ぶ。答える。認められる。そして、また自分から挑戦したくなる</a:t>
            </a:r>
            <a:r>
              <a:rPr sz="18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515600" cy="46634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AA7C"/>
                </a:solidFill>
                <a:latin typeface="Noto Sans CJK JP"/>
              </a:rPr>
              <a:t>STARRING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13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22960" y="5824728"/>
            <a:ext cx="7400000" cy="466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8EEBCF"/>
                </a:solidFill>
                <a:latin typeface="Noto Sans CJK JP"/>
              </a:rPr>
              <a:t>私はこれから、AIと「自分が主役の学び」を続けていく。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1276</Words>
  <Application>Microsoft Macintosh PowerPoint</Application>
  <PresentationFormat>ワイド画面</PresentationFormat>
  <Paragraphs>178</Paragraphs>
  <Slides>13</Slides>
  <Notes>13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CJK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STARRING｜教材の主語を、「自分」に。</dc:title>
  <dc:subject>Minds Japan Student AI Agent Ideathon 提案資料</dc:subject>
  <dc:creator>渡邉 直也</dc:creator>
  <cp:keywords/>
  <dc:description/>
  <cp:lastModifiedBy>渡邉 直也</cp:lastModifiedBy>
  <cp:revision>7</cp:revision>
  <dcterms:created xsi:type="dcterms:W3CDTF">2013-01-27T09:14:16Z</dcterms:created>
  <dcterms:modified xsi:type="dcterms:W3CDTF">2026-10-30T13:20:55Z</dcterms:modified>
  <cp:category/>
</cp:coreProperties>
</file>