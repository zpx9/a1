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94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STARRINGの渡邉直也です。</a:t>
            </a:r>
          </a:p>
          <a:p>
            <a:r>
              <a:rPr lang="ja-JP" dirty="0"/>
              <a:t>TECH.C.でAIを学び、LITALICOワンダーで学習サポートをしています。</a:t>
            </a:r>
          </a:p>
          <a:p>
            <a:r>
              <a:rPr lang="ja-JP" dirty="0"/>
              <a:t>STARRINGは「主演する」という意味です。</a:t>
            </a:r>
          </a:p>
          <a:p>
            <a:r>
              <a:rPr lang="ja-JP" dirty="0"/>
              <a:t>教材の主語を、「自分」に。自分が主役になる学び方を提案します。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勉強したほうがいいと分かっていても、続かない。そんな経験はありませんか。</a:t>
            </a:r>
          </a:p>
          <a:p>
            <a:r>
              <a:rPr lang="ja-JP" dirty="0"/>
              <a:t>目標はある。でも、入口が重い。だから続かない。</a:t>
            </a:r>
          </a:p>
          <a:p>
            <a:r>
              <a:rPr lang="ja-JP" dirty="0"/>
              <a:t>私自身もそうです。</a:t>
            </a:r>
          </a:p>
          <a:p>
            <a:r>
              <a:rPr lang="ja-JP" dirty="0"/>
              <a:t>だから気合に頼るのではなく、学びの「入口」を変えたいと考えました。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ここで質問です。</a:t>
            </a:r>
          </a:p>
          <a:p>
            <a:r>
              <a:rPr lang="ja-JP" dirty="0"/>
              <a:t>集合写真を撮ったとき、まずどこを見ますか？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……「自分」ですよね。</a:t>
            </a:r>
          </a:p>
          <a:p>
            <a:r>
              <a:rPr lang="ja-JP" dirty="0"/>
              <a:t>探そうとしなくても、まず自分が気になる。</a:t>
            </a:r>
          </a:p>
          <a:p>
            <a:r>
              <a:rPr lang="ja-JP" dirty="0"/>
              <a:t>この自然な行動に、学びを変えるヒントがあると思いました。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この問いは、約90年前に書かれていました。</a:t>
            </a:r>
          </a:p>
          <a:p>
            <a:r>
              <a:rPr lang="ja-JP" dirty="0"/>
              <a:t>デール・カーネギーの『人を動かす』（1936年）です。</a:t>
            </a:r>
          </a:p>
          <a:p>
            <a:r>
              <a:rPr lang="ja-JP" dirty="0"/>
              <a:t>人は自然と「自分」に注意が向く。</a:t>
            </a:r>
          </a:p>
          <a:p>
            <a:r>
              <a:rPr lang="ja-JP" dirty="0"/>
              <a:t>この関心を、学びの入口にできないか。ここが私の出発点です。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ところが、教材の中には「自分」がいません。</a:t>
            </a:r>
          </a:p>
          <a:p>
            <a:r>
              <a:rPr lang="ja-JP" dirty="0"/>
              <a:t>「トムはテニスが好きです」のような、知らない人の話を眺めるだけです。</a:t>
            </a:r>
          </a:p>
          <a:p>
            <a:r>
              <a:rPr lang="ja-JP" dirty="0"/>
              <a:t>STARRINGでは、自分の興味や疑問から教材をつくります。</a:t>
            </a:r>
          </a:p>
          <a:p>
            <a:r>
              <a:rPr lang="ja-JP" dirty="0"/>
              <a:t>心理学でも、自分に関係する情報は覚えやすいという「自己参照効果」が知られています。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勉強って、「自分ごと」じゃないと興味が湧きにくいですよね。</a:t>
            </a:r>
          </a:p>
          <a:p>
            <a:r>
              <a:rPr lang="ja-JP" dirty="0"/>
              <a:t>だったら、教材が「自分」から生まれたらどうでしょう？</a:t>
            </a:r>
          </a:p>
          <a:p>
            <a:r>
              <a:rPr lang="ja-JP" dirty="0"/>
              <a:t>そこで生まれたのが、こちらです。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こちらが、STARRINGです。2つの体験でできています。</a:t>
            </a:r>
          </a:p>
          <a:p>
            <a:r>
              <a:rPr lang="ja-JP" dirty="0"/>
              <a:t>1つ目はINPUTです。</a:t>
            </a:r>
          </a:p>
          <a:p>
            <a:r>
              <a:rPr lang="ja-JP" dirty="0"/>
              <a:t>AIエージェントが、あなたの学習履歴や、あなた自身のメモを参照して考えます。</a:t>
            </a:r>
          </a:p>
          <a:p>
            <a:r>
              <a:rPr lang="ja-JP" dirty="0"/>
              <a:t>そして、あなたが抱きそうな疑問を投げかけます。</a:t>
            </a:r>
          </a:p>
          <a:p>
            <a:r>
              <a:rPr lang="ja-JP" dirty="0"/>
              <a:t>さらに、まだ疑問とすら思っていなかった、少しだけ視点の高い問いも出します。</a:t>
            </a:r>
          </a:p>
          <a:p>
            <a:r>
              <a:rPr lang="ja-JP" dirty="0"/>
              <a:t>今の知識より、ちょうど一段上。だからこそ、学ぶのにぴったりの問いになります。</a:t>
            </a:r>
          </a:p>
          <a:p>
            <a:r>
              <a:rPr lang="ja-JP" dirty="0"/>
              <a:t>しかもその問いは、自分の学びやメモから生まれたものです。だから自然と「知りたい」と思えるんです。</a:t>
            </a:r>
          </a:p>
          <a:p>
            <a:r>
              <a:rPr lang="ja-JP" dirty="0"/>
              <a:t>2つ目はOUTPUTです。</a:t>
            </a:r>
          </a:p>
          <a:p>
            <a:r>
              <a:rPr lang="ja-JP" dirty="0"/>
              <a:t>仮想学校で、学んだことを使って答えます。答えるのは、AIではなく本人です。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たとえば英語の授業で、先生が「orbitってどういう意味？」と聞きます。</a:t>
            </a:r>
          </a:p>
          <a:p>
            <a:r>
              <a:rPr lang="ja-JP" dirty="0"/>
              <a:t>宇宙の問いから学んでいたあなたは、自分の力で答えられます。</a:t>
            </a:r>
          </a:p>
          <a:p>
            <a:r>
              <a:rPr lang="ja-JP" dirty="0"/>
              <a:t>「天体が回る道筋、軌道のことです」。</a:t>
            </a:r>
          </a:p>
          <a:p>
            <a:r>
              <a:rPr lang="ja-JP" dirty="0"/>
              <a:t>すると同級生から「分かった、ありがとう！」と返ってきます。</a:t>
            </a:r>
          </a:p>
          <a:p>
            <a:r>
              <a:rPr lang="ja-JP" dirty="0"/>
              <a:t>学んだことが「自分の出番」になる瞬間です。</a:t>
            </a:r>
          </a:p>
          <a:p>
            <a:r>
              <a:rPr lang="ja-JP" dirty="0"/>
              <a:t>ほかの仲間にも別の得意があるので、活躍する人は入れ替わります。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ここで大切なのは、根拠のない「天才！」ではないことです。</a:t>
            </a:r>
          </a:p>
          <a:p>
            <a:r>
              <a:rPr lang="ja-JP" dirty="0"/>
              <a:t>自分で説明できた。誰かの理解につながった。</a:t>
            </a:r>
          </a:p>
          <a:p>
            <a:r>
              <a:rPr lang="ja-JP" dirty="0"/>
              <a:t>そうした実際の行動に対して、「あなたのおかげで伝わった」と言ってもらえる。</a:t>
            </a:r>
          </a:p>
          <a:p>
            <a:r>
              <a:rPr lang="ja-JP" dirty="0"/>
              <a:t>そんな承認を目指しています。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競争が好きな人もいれば、苦手な人もいます。</a:t>
            </a:r>
          </a:p>
          <a:p>
            <a:r>
              <a:rPr lang="ja-JP" dirty="0"/>
              <a:t>だから、OFF、CO-OP、RIVALの3つから自分で選べます。</a:t>
            </a:r>
          </a:p>
          <a:p>
            <a:r>
              <a:rPr lang="ja-JP" dirty="0"/>
              <a:t>それぞれ、マイペース、協力、競争のモードです。</a:t>
            </a:r>
          </a:p>
          <a:p>
            <a:r>
              <a:rPr lang="ja-JP" dirty="0"/>
              <a:t>ライバルは自分と近いレベルで、いつでもOFFにできます。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こんな世界は本当につくれるのか。そのヒントがこちらです。</a:t>
            </a:r>
          </a:p>
          <a:p>
            <a:r>
              <a:rPr lang="ja-JP" dirty="0"/>
              <a:t>2026年10月27日にGoogle DeepMindが発表した「Genie 4」です。</a:t>
            </a:r>
          </a:p>
          <a:p>
            <a:r>
              <a:rPr lang="ja-JP" dirty="0"/>
              <a:t>文章で指示するだけで、動いて探索できる世界をつくれます。</a:t>
            </a:r>
          </a:p>
          <a:p>
            <a:r>
              <a:rPr lang="ja-JP" dirty="0"/>
              <a:t>さらにGeminiがエージェントとして世界を見守り、手順を計画して、うまくいったかを確かめます。</a:t>
            </a:r>
          </a:p>
          <a:p>
            <a:r>
              <a:rPr lang="ja-JP" dirty="0"/>
              <a:t>ロボットの実験、魔法使いの一人称視点、雪原を歩く鳥。すべてAIがつくった映像です。</a:t>
            </a:r>
          </a:p>
          <a:p>
            <a:r>
              <a:rPr lang="ja-JP" dirty="0"/>
              <a:t>まだ限定公開の研究段階ですが、STARRINGのような学びの世界が現実に近づいています。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dirty="0"/>
              <a:t>集合写真で、つい自分を探してしまうように。</a:t>
            </a:r>
          </a:p>
          <a:p>
            <a:r>
              <a:rPr lang="ja-JP" dirty="0"/>
              <a:t>教材の中にも、自分を見つけられる世界をつくりたい。</a:t>
            </a:r>
          </a:p>
          <a:p>
            <a:r>
              <a:rPr lang="ja-JP" dirty="0"/>
              <a:t>学ぶ。答える。認められる。そして、また自分から挑戦したくなる。</a:t>
            </a:r>
          </a:p>
          <a:p>
            <a:r>
              <a:rPr lang="ja-JP" dirty="0"/>
              <a:t>それが、STARRINGです。</a:t>
            </a:r>
          </a:p>
          <a:p>
            <a:r>
              <a:rPr lang="ja-JP" dirty="0"/>
              <a:t>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deepmind.google/blog/genie-4-a-new-generation-of-world-simulation/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8.jpg"/><Relationship Id="rId5" Type="http://schemas.microsoft.com/office/2007/relationships/media" Target="../media/media3.mp4"/><Relationship Id="rId10" Type="http://schemas.openxmlformats.org/officeDocument/2006/relationships/image" Target="../media/image7.jpg"/><Relationship Id="rId4" Type="http://schemas.openxmlformats.org/officeDocument/2006/relationships/video" Target="../media/media2.mp4"/><Relationship Id="rId9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051560"/>
            <a:ext cx="3931920" cy="3931920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17152" y="-886968"/>
            <a:ext cx="3584448" cy="3584448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64624" y="-722375"/>
            <a:ext cx="3236976" cy="3236976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12096" y="-557783"/>
            <a:ext cx="2889503" cy="2889503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7" y="-393191"/>
            <a:ext cx="2542032" cy="2542032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475488"/>
            <a:ext cx="59436" cy="237744"/>
          </a:xfrm>
          <a:prstGeom prst="rect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45262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AA7C"/>
                </a:solidFill>
                <a:latin typeface="Noto Sans CJK JP"/>
              </a:rPr>
              <a:t>AIエージェント アイデアソン by Animoca Brands Japan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307592"/>
            <a:ext cx="6629400" cy="9601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Noto Sans CJK JP"/>
              </a:rPr>
              <a:t>STARRING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56102"/>
            <a:ext cx="8183879" cy="55707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 dirty="0" err="1">
                <a:solidFill>
                  <a:srgbClr val="FFD47C"/>
                </a:solidFill>
                <a:latin typeface="Noto Sans CJK JP"/>
              </a:rPr>
              <a:t>教材の主語を</a:t>
            </a:r>
            <a:r>
              <a:rPr sz="3500" b="1" i="0" dirty="0">
                <a:solidFill>
                  <a:srgbClr val="FFD47C"/>
                </a:solidFill>
                <a:latin typeface="Noto Sans CJK JP"/>
              </a:rPr>
              <a:t>、「</a:t>
            </a:r>
            <a:r>
              <a:rPr lang="en-US" sz="3500" b="1" dirty="0" err="1">
                <a:solidFill>
                  <a:srgbClr val="FFD47C"/>
                </a:solidFill>
                <a:latin typeface="Noto Sans CJK JP"/>
              </a:rPr>
              <a:t>自分</a:t>
            </a:r>
            <a:r>
              <a:rPr sz="3500" b="1" i="0" dirty="0" err="1">
                <a:solidFill>
                  <a:srgbClr val="FFD47C"/>
                </a:solidFill>
                <a:latin typeface="Noto Sans CJK JP"/>
              </a:rPr>
              <a:t>」に</a:t>
            </a:r>
            <a:r>
              <a:rPr sz="3500" b="1" i="0" dirty="0">
                <a:solidFill>
                  <a:srgbClr val="FFD47C"/>
                </a:solidFill>
                <a:latin typeface="Noto Sans CJK JP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393448"/>
            <a:ext cx="7790688" cy="41857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r>
              <a:rPr sz="2600" dirty="0" err="1">
                <a:solidFill>
                  <a:schemeClr val="bg1"/>
                </a:solidFill>
                <a:latin typeface="Noto Sans CJK JP"/>
              </a:rPr>
              <a:t>自分の問いで学び、仮想学校で出番を見つける</a:t>
            </a:r>
            <a:r>
              <a:rPr sz="2600" dirty="0">
                <a:solidFill>
                  <a:schemeClr val="bg1"/>
                </a:solidFill>
                <a:latin typeface="Noto Sans CJK JP"/>
              </a:rPr>
              <a:t>。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0" y="1225296"/>
            <a:ext cx="3657600" cy="3657600"/>
          </a:xfrm>
          <a:prstGeom prst="ellipse">
            <a:avLst/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55380" y="1522476"/>
            <a:ext cx="3063240" cy="3063240"/>
          </a:xfrm>
          <a:prstGeom prst="ellipse">
            <a:avLst/>
          </a:prstGeom>
          <a:solidFill>
            <a:srgbClr val="383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06840" y="1773936"/>
            <a:ext cx="2560320" cy="2560320"/>
          </a:xfrm>
          <a:prstGeom prst="ellipse">
            <a:avLst/>
          </a:prstGeom>
          <a:solidFill>
            <a:srgbClr val="53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17736" y="2084832"/>
            <a:ext cx="1938528" cy="1938528"/>
          </a:xfrm>
          <a:prstGeom prst="ellipse">
            <a:avLst/>
          </a:prstGeom>
          <a:solidFill>
            <a:srgbClr val="7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14916" y="2382012"/>
            <a:ext cx="1344168" cy="1344168"/>
          </a:xfrm>
          <a:prstGeom prst="ellipse">
            <a:avLst/>
          </a:prstGeom>
          <a:solidFill>
            <a:srgbClr val="A5A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65208" y="3035808"/>
            <a:ext cx="493776" cy="493776"/>
          </a:xfrm>
          <a:prstGeom prst="ellipse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10344" y="3520440"/>
            <a:ext cx="667512" cy="685800"/>
          </a:xfrm>
          <a:prstGeom prst="roundRect">
            <a:avLst>
              <a:gd name="adj" fmla="val 10273"/>
            </a:avLst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793012" y="4011011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69980" y="4340168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28385" y="4515309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45614" y="4515309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04020" y="4340168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80987" y="4011011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39601" y="3567538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0" y="3063240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39601" y="2558941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80987" y="2115468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04019" y="1786311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45614" y="1611170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628385" y="1611170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269980" y="1786311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793012" y="2115468"/>
            <a:ext cx="41148" cy="41148"/>
          </a:xfrm>
          <a:prstGeom prst="ellipse">
            <a:avLst/>
          </a:prstGeom>
          <a:solidFill>
            <a:srgbClr val="FFD47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4944" y="4965192"/>
            <a:ext cx="6565392" cy="713232"/>
          </a:xfrm>
          <a:prstGeom prst="roundRect">
            <a:avLst>
              <a:gd name="adj" fmla="val 10897"/>
            </a:avLst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" y="5184648"/>
            <a:ext cx="6300216" cy="25603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JP"/>
              </a:rPr>
              <a:t>渡邉 直也  |  TECH.C. AI専攻 / LITALICOワンダー 学習サポート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59436" cy="237744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45262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97749"/>
                </a:solidFill>
                <a:latin typeface="Noto Sans CJK JP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9509760" cy="15727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0243B"/>
                </a:solidFill>
                <a:latin typeface="Noto Sans CJK JP"/>
              </a:rPr>
              <a:t>学びたい。
でも、続けるのは難しい。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63240"/>
            <a:ext cx="10698480" cy="1033271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96D81"/>
                </a:solidFill>
                <a:latin typeface="Noto Sans CJK JP"/>
              </a:rPr>
              <a:t>学ぶ価値を理解している大人でも、机に長時間向かうことや、
学習を習慣にすることが苦手な人はいる。私自身も、その一人です。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745736"/>
            <a:ext cx="3410712" cy="777240"/>
          </a:xfrm>
          <a:prstGeom prst="roundRect">
            <a:avLst>
              <a:gd name="adj" fmla="val 11764"/>
            </a:avLst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4937760"/>
            <a:ext cx="2990088" cy="3657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目標はある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4" y="4910328"/>
            <a:ext cx="365760" cy="3657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7749"/>
                </a:solidFill>
                <a:latin typeface="Noto Sans CJK JP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4745736"/>
            <a:ext cx="3410712" cy="777240"/>
          </a:xfrm>
          <a:prstGeom prst="roundRect">
            <a:avLst>
              <a:gd name="adj" fmla="val 11764"/>
            </a:avLst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9744" y="4937760"/>
            <a:ext cx="2990088" cy="3657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入口が重い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4910328"/>
            <a:ext cx="365760" cy="3657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7749"/>
                </a:solidFill>
                <a:latin typeface="Noto Sans CJK JP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4745736"/>
            <a:ext cx="3410712" cy="777240"/>
          </a:xfrm>
          <a:prstGeom prst="roundRect">
            <a:avLst>
              <a:gd name="adj" fmla="val 11764"/>
            </a:avLst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0224" y="4937760"/>
            <a:ext cx="2990088" cy="3657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だから続かない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8B9B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9436" cy="237744"/>
          </a:xfrm>
          <a:prstGeom prst="rect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" y="54406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AA7C"/>
                </a:solidFill>
                <a:latin typeface="Noto Sans CJK JP"/>
              </a:rPr>
              <a:t>ひとつ、質問です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115568"/>
            <a:ext cx="10698480" cy="15361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Noto Sans CJK JP"/>
              </a:rPr>
              <a:t>みなさん、集合写真を撮ったとき、
まずどこを見ますか？</a:t>
            </a:r>
          </a:p>
        </p:txBody>
      </p:sp>
      <p:pic>
        <p:nvPicPr>
          <p:cNvPr id="6" name="Picture 5" descr="asset_original_slide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3154680"/>
            <a:ext cx="8458200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0" y="5806440"/>
            <a:ext cx="4151376" cy="28346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6B0CB"/>
                </a:solidFill>
                <a:latin typeface="Noto Sans CJK JP"/>
              </a:rPr>
              <a:t>（2秒、考えてください）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03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C70A95A-A715-EE76-6C65-CF64CF6F0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3" y="20844"/>
            <a:ext cx="12161410" cy="6837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" y="566928"/>
            <a:ext cx="59436" cy="237744"/>
          </a:xfrm>
          <a:prstGeom prst="rect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54406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AA7C"/>
                </a:solidFill>
                <a:latin typeface="Noto Sans CJK JP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61288"/>
            <a:ext cx="10424160" cy="9601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D47C"/>
                </a:solidFill>
                <a:latin typeface="Noto Sans CJK JP"/>
              </a:rPr>
              <a:t>「自分」ですよね。</a:t>
            </a:r>
          </a:p>
        </p:txBody>
      </p:sp>
      <p:pic>
        <p:nvPicPr>
          <p:cNvPr id="6" name="Picture 5" descr="asset_original_slide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2843784"/>
            <a:ext cx="8458200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5724144"/>
            <a:ext cx="7946136" cy="4206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Noto Sans CJK JP"/>
              </a:rPr>
              <a:t>探そうとする前に、自分が気になる。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59436" cy="237744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45262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97749"/>
                </a:solidFill>
                <a:latin typeface="Noto Sans CJK JP"/>
              </a:rPr>
              <a:t>DALE CARNEGIE  /  1936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10744200" cy="6583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0243B"/>
                </a:solidFill>
                <a:latin typeface="Noto Sans CJK JP"/>
              </a:rPr>
              <a:t>この問いは、約90年前に書かれていた。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38528"/>
            <a:ext cx="2084831" cy="288950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938528"/>
            <a:ext cx="2670048" cy="28895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99048" y="1938528"/>
            <a:ext cx="5294376" cy="2889504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2212848"/>
            <a:ext cx="4590288" cy="11430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243B"/>
                </a:solidFill>
                <a:latin typeface="Noto Sans CJK JP"/>
              </a:rPr>
              <a:t>“When you see a group photograph that you are in,
whose picture do you look for first?”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2" y="3575304"/>
            <a:ext cx="4535424" cy="18288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3767328"/>
            <a:ext cx="4544568" cy="90525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243B"/>
                </a:solidFill>
                <a:latin typeface="Noto Sans CJK JP"/>
              </a:rPr>
              <a:t>「自分も写っている集合写真を見るとき、
あなたは、まず誰の写真を見るだろう？」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184648"/>
            <a:ext cx="10222992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96D81"/>
                </a:solidFill>
                <a:latin typeface="Noto Sans CJK JP"/>
              </a:rPr>
              <a:t>デール・カーネギー『人を動かす』 (1936)  /  日本語は意訳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0136"/>
            <a:ext cx="10698480" cy="402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97749"/>
                </a:solidFill>
                <a:latin typeface="Noto Sans CJK JP"/>
              </a:rPr>
              <a:t>だから私は、この「自分への関心」を学びの入口にできないかと考えました。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8B9B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45352"/>
            <a:ext cx="1078992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88B9B"/>
                </a:solidFill>
                <a:latin typeface="Noto Sans CJK JP"/>
              </a:rPr>
              <a:t>写真・書影：D・カーネギー著、山口博訳『人を動かす』（創元社）　原著：How to Win Friends and Influence People (1936)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8" y="548640"/>
            <a:ext cx="59436" cy="237744"/>
          </a:xfrm>
          <a:prstGeom prst="rect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25780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AA7C"/>
                </a:solidFill>
                <a:latin typeface="Noto Sans CJK JP"/>
              </a:rPr>
              <a:t>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152144"/>
            <a:ext cx="10570464" cy="1545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Noto Sans CJK JP"/>
              </a:rPr>
              <a:t>なのに、教材の世界には
「自分」がいない。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3191256"/>
            <a:ext cx="4745736" cy="1627632"/>
          </a:xfrm>
          <a:prstGeom prst="roundRect">
            <a:avLst>
              <a:gd name="adj" fmla="val 5617"/>
            </a:avLst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9576" y="3511296"/>
            <a:ext cx="4160520" cy="4297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BC0D0"/>
                </a:solidFill>
                <a:latin typeface="Noto Sans CJK JP"/>
              </a:rPr>
              <a:t>他人の例を「眺める」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4123944"/>
            <a:ext cx="3995928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BCD6"/>
                </a:solidFill>
                <a:latin typeface="Noto Sans CJK JP"/>
              </a:rPr>
              <a:t>知らない人物の、知らない場面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4144" y="3621024"/>
            <a:ext cx="630936" cy="55778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AA7C"/>
                </a:solidFill>
                <a:latin typeface="Noto Sans CJK JP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191256"/>
            <a:ext cx="4745736" cy="1627632"/>
          </a:xfrm>
          <a:prstGeom prst="roundRect">
            <a:avLst>
              <a:gd name="adj" fmla="val 5617"/>
            </a:avLst>
          </a:prstGeom>
          <a:solidFill>
            <a:srgbClr val="373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3992" y="3511296"/>
            <a:ext cx="4187952" cy="4572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D47C"/>
                </a:solidFill>
                <a:latin typeface="Noto Sans CJK JP"/>
              </a:rPr>
              <a:t>自分の物語として「感じる」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4123944"/>
            <a:ext cx="3995928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Noto Sans CJK JP"/>
              </a:rPr>
              <a:t>興味や疑問が、そのまま教材になる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404104"/>
            <a:ext cx="10405872" cy="54864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AA7C"/>
                </a:solidFill>
                <a:latin typeface="Noto Sans CJK JP"/>
              </a:rPr>
              <a:t>「自分ごと」にすることから、学びを始める。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45352"/>
            <a:ext cx="1078992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A1C0"/>
                </a:solidFill>
                <a:latin typeface="Noto Sans CJK JP"/>
              </a:rPr>
              <a:t>関連研究：Rogers, Kuiper &amp; Kirker (1977), self-reference effect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59436" cy="237744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45262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97749"/>
                </a:solidFill>
                <a:latin typeface="Noto Sans CJK JP"/>
              </a:rPr>
              <a:t>THE QUESTION  /  学びの入口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87552"/>
            <a:ext cx="10744200" cy="19933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0243B"/>
                </a:solidFill>
                <a:latin typeface="Noto Sans CJK JP"/>
              </a:rPr>
              <a:t>勉強って、
「自分ごと」じゃないと
興味が湧きにくいですよね。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3328416"/>
            <a:ext cx="105796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3465576"/>
            <a:ext cx="9966960" cy="6492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96D81"/>
                </a:solidFill>
                <a:latin typeface="Noto Sans CJK JP"/>
              </a:rPr>
              <a:t>役に立つと分かっていても、知らない誰かの例文を眺めるだけでは、
「自分もやってみたい」には、なかなかつながらない。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4553712"/>
            <a:ext cx="10579608" cy="1042415"/>
          </a:xfrm>
          <a:prstGeom prst="roundRect">
            <a:avLst>
              <a:gd name="adj" fmla="val 8771"/>
            </a:avLst>
          </a:prstGeom>
          <a:solidFill>
            <a:srgbClr val="FC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8" y="4553712"/>
            <a:ext cx="77724" cy="1042415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736592"/>
            <a:ext cx="10003536" cy="44805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3B"/>
                </a:solidFill>
                <a:latin typeface="Noto Sans CJK JP"/>
              </a:rPr>
              <a:t>だったら、教材が「自分」から生まれたら？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5815584"/>
            <a:ext cx="5632704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97749"/>
                </a:solidFill>
                <a:latin typeface="Noto Sans CJK JP"/>
              </a:rPr>
              <a:t>その発想から生まれたのが——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8B9B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59436" cy="237744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452628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97749"/>
                </a:solidFill>
                <a:latin typeface="Noto Sans CJK JP"/>
              </a:rPr>
              <a:t>THE SOLUTION  /  STARRING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744200" cy="6675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20243B"/>
                </a:solidFill>
                <a:latin typeface="Noto Sans CJK JP"/>
              </a:rPr>
              <a:t>こちらが、STARRINGです。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1065276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r>
              <a:rPr sz="1200">
                <a:latin typeface="Noto Sans CJK JP"/>
              </a:rPr>
              <a:t>自分の問いから始まる教材 × 自分が活躍する仮想学校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984248"/>
            <a:ext cx="4983480" cy="3182112"/>
          </a:xfrm>
          <a:prstGeom prst="roundRect">
            <a:avLst>
              <a:gd name="adj" fmla="val 2873"/>
            </a:avLst>
          </a:prstGeom>
          <a:solidFill>
            <a:srgbClr val="FC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3271" y="2276856"/>
            <a:ext cx="59436" cy="237744"/>
          </a:xfrm>
          <a:prstGeom prst="rect">
            <a:avLst/>
          </a:prstGeom>
          <a:solidFill>
            <a:srgbClr val="E97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7863" y="2253996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7749"/>
                </a:solidFill>
                <a:latin typeface="Noto Sans CJK JP"/>
              </a:rPr>
              <a:t>INPUT  /  観る・読む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52928"/>
            <a:ext cx="4480560" cy="6309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3B"/>
                </a:solidFill>
                <a:latin typeface="Noto Sans CJK JP"/>
              </a:rPr>
              <a:t>自分の問いから始まる教材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645477"/>
            <a:ext cx="4489704" cy="1121525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r>
              <a:rPr lang="ja-JP" sz="1700" b="0" i="0">
                <a:solidFill>
                  <a:srgbClr val="20243B"/>
                </a:solidFill>
                <a:latin typeface="Noto Sans CJK JP"/>
              </a:rPr>
              <a:t>AIエージェントが</a:t>
            </a:r>
            <a:r>
              <a:rPr lang="ja-JP" altLang="ja-JP" sz="1600"/>
              <a:t>学習履歴や本人のメモを参照して考える</a:t>
            </a:r>
            <a:r>
              <a:rPr lang="ja-JP" sz="1700" b="0" i="0">
                <a:solidFill>
                  <a:srgbClr val="20243B"/>
                </a:solidFill>
                <a:latin typeface="Noto Sans CJK JP"/>
              </a:rPr>
              <a:t>から、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700" b="0" i="0">
                <a:solidFill>
                  <a:srgbClr val="20243B"/>
                </a:solidFill>
                <a:latin typeface="Noto Sans CJK JP"/>
              </a:rPr>
              <a:t>「自分が抱きそうな疑問」や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1700" b="0" i="0">
                <a:solidFill>
                  <a:srgbClr val="20243B"/>
                </a:solidFill>
                <a:latin typeface="Noto Sans CJK JP"/>
              </a:rPr>
              <a:t>「</a:t>
            </a:r>
            <a:r>
              <a:rPr lang="ja-JP" sz="1700" b="0" i="0" dirty="0">
                <a:solidFill>
                  <a:srgbClr val="20243B"/>
                </a:solidFill>
                <a:latin typeface="Noto Sans CJK JP"/>
              </a:rPr>
              <a:t>気づかなかった</a:t>
            </a:r>
            <a:r>
              <a:rPr lang="ja-JP" sz="1700" b="1" i="0" dirty="0">
                <a:solidFill>
                  <a:srgbClr val="E97749"/>
                </a:solidFill>
                <a:latin typeface="Noto Sans CJK JP"/>
              </a:rPr>
              <a:t>一段上の問い</a:t>
            </a:r>
            <a:r>
              <a:rPr lang="ja-JP" sz="1700" b="0" i="0" dirty="0">
                <a:solidFill>
                  <a:srgbClr val="20243B"/>
                </a:solidFill>
                <a:latin typeface="Noto Sans CJK JP"/>
              </a:rPr>
              <a:t>」</a:t>
            </a:r>
            <a:r>
              <a:rPr lang="ja-JP" sz="1700" b="0" i="0">
                <a:solidFill>
                  <a:srgbClr val="20243B"/>
                </a:solidFill>
                <a:latin typeface="Noto Sans CJK JP"/>
              </a:rPr>
              <a:t>を出題。</a:t>
            </a:r>
            <a:endParaRPr lang="ja-JP" altLang="en-US" sz="1700" b="0" i="0">
              <a:solidFill>
                <a:srgbClr val="20243B"/>
              </a:solidFill>
              <a:latin typeface="Noto Sans CJK JP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28232" y="1984248"/>
            <a:ext cx="4983480" cy="3182112"/>
          </a:xfrm>
          <a:prstGeom prst="roundRect">
            <a:avLst>
              <a:gd name="adj" fmla="val 2873"/>
            </a:avLst>
          </a:prstGeom>
          <a:solidFill>
            <a:srgbClr val="D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65976" y="2276856"/>
            <a:ext cx="59436" cy="237744"/>
          </a:xfrm>
          <a:prstGeom prst="rect">
            <a:avLst/>
          </a:prstGeom>
          <a:solidFill>
            <a:srgbClr val="26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2253996"/>
            <a:ext cx="5102352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8B75"/>
                </a:solidFill>
                <a:latin typeface="Noto Sans CJK JP"/>
              </a:rPr>
              <a:t>OUTPUT  /  動く・試す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852928"/>
            <a:ext cx="4517136" cy="6309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3B"/>
                </a:solidFill>
                <a:latin typeface="Noto Sans CJK JP"/>
              </a:rPr>
              <a:t>自分が行動する世界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3703320"/>
            <a:ext cx="4517136" cy="80467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r>
              <a:rPr sz="1700">
                <a:latin typeface="Noto Sans CJK JP"/>
              </a:rPr>
              <a:t>仮想学校で答え、貢献し、ときには競う。</a:t>
            </a:r>
          </a:p>
          <a:p>
            <a:r>
              <a:rPr sz="1700">
                <a:latin typeface="Noto Sans CJK JP"/>
              </a:rPr>
              <a:t>仲間から具体的な反応が返ってくる。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559552"/>
            <a:ext cx="10094976" cy="53035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97749"/>
                </a:solidFill>
                <a:latin typeface="Noto Sans CJK JP"/>
              </a:rPr>
              <a:t>理解したことを、世界で使ってみたくなる。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8B9B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図 42" descr="仮想学校の英語の授業。先生が「orbitって、どういう意味かな？」と問い、宇宙の例で学んだ生徒が「天体が回る道筋、軌道のことです！」と答え、同級生が「なるほど！分かりやすい！」と反応している。右側に「01 学んだ知識を使う／02 自分の言葉で伝える／03 周囲から認められる」">
            <a:extLst>
              <a:ext uri="{FF2B5EF4-FFF2-40B4-BE49-F238E27FC236}">
                <a16:creationId xmlns:a16="http://schemas.microsoft.com/office/drawing/2014/main" id="{848222D0-A0D3-2E75-3E3A-8842164B8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4088" y="429768"/>
            <a:ext cx="68580" cy="219456"/>
          </a:xfrm>
          <a:prstGeom prst="rect">
            <a:avLst/>
          </a:prstGeom>
          <a:solidFill>
            <a:srgbClr val="F47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1060704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774E"/>
                </a:solidFill>
                <a:latin typeface="Noto Sans CJK JP"/>
              </a:rPr>
              <a:t>THE REWARD  /  EARNED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6583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243D"/>
                </a:solidFill>
                <a:latin typeface="Noto Sans CJK JP"/>
              </a:rPr>
              <a:t>褒められるのは、正解したからだけじゃない。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10515600" cy="1645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858D9C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130552"/>
            <a:ext cx="3502152" cy="3273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350008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26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450592"/>
            <a:ext cx="429768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3017520" cy="53035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243D"/>
                </a:solidFill>
                <a:latin typeface="Noto Sans CJK JP"/>
              </a:rPr>
              <a:t>自分で説明できた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3" y="3913632"/>
            <a:ext cx="2971800" cy="1078992"/>
          </a:xfrm>
          <a:prstGeom prst="roundRect">
            <a:avLst>
              <a:gd name="adj" fmla="val 10000"/>
            </a:avLst>
          </a:prstGeom>
          <a:solidFill>
            <a:srgbClr val="E8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4041648"/>
            <a:ext cx="2752344" cy="8046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以前は言えなかった単語を、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例を使って説明できた。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2130552"/>
            <a:ext cx="3502152" cy="3273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64608" y="2350008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F47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0328" y="2450592"/>
            <a:ext cx="429768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127248"/>
            <a:ext cx="3017520" cy="53035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243D"/>
                </a:solidFill>
                <a:latin typeface="Noto Sans CJK JP"/>
              </a:rPr>
              <a:t>誰かの理解につながった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3752" y="3913632"/>
            <a:ext cx="2971800" cy="1078992"/>
          </a:xfrm>
          <a:prstGeom prst="roundRect">
            <a:avLst>
              <a:gd name="adj" fmla="val 10000"/>
            </a:avLst>
          </a:prstGeom>
          <a:solidFill>
            <a:srgbClr val="F8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0912" y="4041648"/>
            <a:ext cx="2752344" cy="8046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仲間が「ああ、そういう意味か」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と納得してくれた。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3063" y="2130552"/>
            <a:ext cx="3502152" cy="3273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23376" y="2350008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68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69095" y="2450592"/>
            <a:ext cx="429768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3127248"/>
            <a:ext cx="3017520" cy="53035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243D"/>
                </a:solidFill>
                <a:latin typeface="Noto Sans CJK JP"/>
              </a:rPr>
              <a:t>互いに役割がある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19" y="3913632"/>
            <a:ext cx="2971800" cy="1078992"/>
          </a:xfrm>
          <a:prstGeom prst="roundRect">
            <a:avLst>
              <a:gd name="adj" fmla="val 10000"/>
            </a:avLst>
          </a:prstGeom>
          <a:solidFill>
            <a:srgbClr val="ED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4041648"/>
            <a:ext cx="2752344" cy="8046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別の課題では仲間が活躍する。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9243D"/>
                </a:solidFill>
                <a:latin typeface="Noto Sans CJK JP"/>
              </a:rPr>
              <a:t>その違いが、関係を作る。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6" y="5650992"/>
            <a:ext cx="9811512" cy="484632"/>
          </a:xfrm>
          <a:prstGeom prst="roundRect">
            <a:avLst>
              <a:gd name="adj" fmla="val 10000"/>
            </a:avLst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62456" y="5733288"/>
            <a:ext cx="941832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JP"/>
              </a:rPr>
              <a:t>根拠のない「天才！」ではなく、実際の行動に対して「あなたのおかげで伝わった」。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4088" y="429768"/>
            <a:ext cx="68580" cy="219456"/>
          </a:xfrm>
          <a:prstGeom prst="rect">
            <a:avLst/>
          </a:prstGeom>
          <a:solidFill>
            <a:srgbClr val="F47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1060704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774E"/>
                </a:solidFill>
                <a:latin typeface="Noto Sans CJK JP"/>
              </a:rPr>
              <a:t>CHOICE  /  OPTIONAL RIVAL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6583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Noto Sans CJK JP"/>
              </a:rPr>
              <a:t>競争が力になる人には、ライバルも。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46520"/>
            <a:ext cx="10515600" cy="1645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7AFBE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00784"/>
            <a:ext cx="107899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4D0DF"/>
                </a:solidFill>
                <a:latin typeface="Noto Sans CJK JP"/>
              </a:rPr>
              <a:t>圧力は全員にかけない。必要な人が、自分で選ぶ。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450592"/>
            <a:ext cx="3493008" cy="2148840"/>
          </a:xfrm>
          <a:prstGeom prst="roundRect">
            <a:avLst>
              <a:gd name="adj" fmla="val 10000"/>
            </a:avLst>
          </a:prstGeom>
          <a:solidFill>
            <a:srgbClr val="2D4363"/>
          </a:solidFill>
          <a:ln w="12700">
            <a:solidFill>
              <a:srgbClr val="4D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697480"/>
            <a:ext cx="306324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DD0CF"/>
                </a:solidFill>
                <a:latin typeface="Noto Sans CJK JP"/>
              </a:rPr>
              <a:t>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2724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マイペース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822191"/>
            <a:ext cx="3035808" cy="5577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DE7"/>
                </a:solidFill>
                <a:latin typeface="Noto Sans CJK JP"/>
              </a:rPr>
              <a:t>自分のペースで学びに集中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450592"/>
            <a:ext cx="3493008" cy="2148840"/>
          </a:xfrm>
          <a:prstGeom prst="roundRect">
            <a:avLst>
              <a:gd name="adj" fmla="val 10000"/>
            </a:avLst>
          </a:prstGeom>
          <a:solidFill>
            <a:srgbClr val="2D4363"/>
          </a:solidFill>
          <a:ln w="12700">
            <a:solidFill>
              <a:srgbClr val="4D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82896" y="2697480"/>
            <a:ext cx="306324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DD0CF"/>
                </a:solidFill>
                <a:latin typeface="Noto Sans CJK JP"/>
              </a:rPr>
              <a:t>CO-OP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312724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協力モード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3822191"/>
            <a:ext cx="3035808" cy="5577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DE7"/>
                </a:solidFill>
                <a:latin typeface="Noto Sans CJK JP"/>
              </a:rPr>
              <a:t>得意を持ち寄り課題に挑む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13064" y="2450592"/>
            <a:ext cx="3493008" cy="2148840"/>
          </a:xfrm>
          <a:prstGeom prst="roundRect">
            <a:avLst>
              <a:gd name="adj" fmla="val 10000"/>
            </a:avLst>
          </a:prstGeom>
          <a:solidFill>
            <a:srgbClr val="4A3D43"/>
          </a:solidFill>
          <a:ln w="25400">
            <a:solidFill>
              <a:srgbClr val="F47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2697480"/>
            <a:ext cx="306324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B792"/>
                </a:solidFill>
                <a:latin typeface="Noto Sans CJK JP"/>
              </a:rPr>
              <a:t>RIVAL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127248"/>
            <a:ext cx="3054096" cy="4206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ans CJK JP"/>
              </a:rPr>
              <a:t>ライバルと競争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822191"/>
            <a:ext cx="3035808" cy="5577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DE7"/>
                </a:solidFill>
                <a:latin typeface="Noto Sans CJK JP"/>
              </a:rPr>
              <a:t>相手の上達を刺激にする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2734056"/>
            <a:ext cx="585216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1D8"/>
                </a:solidFill>
                <a:latin typeface="Noto Sans CJK JP"/>
              </a:rPr>
              <a:t>選択中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" y="5001768"/>
            <a:ext cx="10186416" cy="786384"/>
          </a:xfrm>
          <a:prstGeom prst="roundRect">
            <a:avLst>
              <a:gd name="adj" fmla="val 10000"/>
            </a:avLst>
          </a:prstGeom>
          <a:solidFill>
            <a:srgbClr val="25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16152" y="5166360"/>
            <a:ext cx="9738360" cy="3931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Noto Sans CJK JP"/>
              </a:rPr>
              <a:t>「ライバルが新しい課題をクリアした。自分も挑んでみよう」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6053328"/>
            <a:ext cx="10131552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D1E0"/>
                </a:solidFill>
                <a:latin typeface="Noto Sans CJK JP"/>
              </a:rPr>
              <a:t>勝敗は学習行動に基づく／いつでもOFF／休んだ日の罰則なし／仲間にも異なる得意がある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8" y="521207"/>
            <a:ext cx="59436" cy="237744"/>
          </a:xfrm>
          <a:prstGeom prst="rect">
            <a:avLst/>
          </a:prstGeom>
          <a:solidFill>
            <a:srgbClr val="8E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98347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EBCF"/>
                </a:solidFill>
                <a:latin typeface="Noto Sans CJK JP"/>
              </a:rPr>
              <a:t>TECHNOLOGY  /  GOOGLE DEEPMIND  2026.10.27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32537"/>
            <a:ext cx="10415016" cy="587853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 dirty="0">
                <a:solidFill>
                  <a:srgbClr val="FFFFFF"/>
                </a:solidFill>
                <a:latin typeface="Noto Sans CJK JP"/>
              </a:rPr>
              <a:t>Genie 4 ×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828800"/>
            <a:ext cx="10488168" cy="4297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>
              <a:defRPr sz="1900" b="1">
                <a:solidFill>
                  <a:srgbClr val="EBEBFA"/>
                </a:solidFill>
              </a:defRPr>
            </a:pPr>
            <a:r>
              <a:t>文章（プロンプト）だけで、動く世界が生まれる ― 公開デモ3本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245352"/>
            <a:ext cx="1078992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99A1C0"/>
                </a:solidFill>
                <a:latin typeface="Noto Sans CJK JP"/>
              </a:rPr>
              <a:t>Google DeepMind, Genie 4: A new generation of world simulation (2026-10-27)</a:t>
            </a:r>
          </a:p>
        </p:txBody>
      </p:sp>
      <p:sp>
        <p:nvSpPr>
          <p:cNvPr id="100" name="Shape 100"/>
          <p:cNvSpPr/>
          <p:nvPr/>
        </p:nvSpPr>
        <p:spPr>
          <a:xfrm>
            <a:off x="685800" y="2430000"/>
            <a:ext cx="3454400" cy="3400000"/>
          </a:xfrm>
          <a:prstGeom prst="roundRect">
            <a:avLst>
              <a:gd name="adj" fmla="val 5000"/>
            </a:avLst>
          </a:prstGeom>
          <a:solidFill>
            <a:srgbClr val="1C2340"/>
          </a:solidFill>
          <a:ln w="9525">
            <a:solidFill>
              <a:srgbClr val="3A4670"/>
            </a:solidFill>
          </a:ln>
        </p:spPr>
        <p:txBody>
          <a:bodyPr anchor="ctr"/>
          <a:lstStyle/>
          <a:p>
            <a:endParaRPr lang="ja-JP"/>
          </a:p>
        </p:txBody>
      </p:sp>
      <p:sp>
        <p:nvSpPr>
          <p:cNvPr id="101" name="TextBox 101"/>
          <p:cNvSpPr txBox="1"/>
          <p:nvPr/>
        </p:nvSpPr>
        <p:spPr>
          <a:xfrm>
            <a:off x="868680" y="2530000"/>
            <a:ext cx="308864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500" b="1" dirty="0">
                <a:solidFill>
                  <a:srgbClr val="F6AF65"/>
                </a:solidFill>
                <a:latin typeface="Noto Sans CJK JP"/>
              </a:rPr>
              <a:t>01  /  ROBOTICS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657320" y="253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ja-JP" sz="900" b="0" dirty="0">
                <a:solidFill>
                  <a:srgbClr val="8EEBCF"/>
                </a:solidFill>
                <a:latin typeface="Noto Sans CJK JP"/>
              </a:rPr>
              <a:t>● 自動再生  29秒</a:t>
            </a:r>
          </a:p>
        </p:txBody>
      </p:sp>
      <p:pic>
        <p:nvPicPr>
          <p:cNvPr id="103" name="Genie 4 demo 01  /  ROBOTICS" descr="Genie 4 demo 01  /  ROBOTIC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77240" y="2860000"/>
            <a:ext cx="3271520" cy="1840230"/>
          </a:xfrm>
          <a:prstGeom prst="rect">
            <a:avLst/>
          </a:prstGeom>
        </p:spPr>
      </p:pic>
      <p:sp>
        <p:nvSpPr>
          <p:cNvPr id="104" name="TextBox 104"/>
          <p:cNvSpPr txBox="1"/>
          <p:nvPr/>
        </p:nvSpPr>
        <p:spPr>
          <a:xfrm>
            <a:off x="868680" y="4810230"/>
            <a:ext cx="308864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900" b="1" dirty="0">
                <a:solidFill>
                  <a:srgbClr val="8EEBCF"/>
                </a:solidFill>
                <a:latin typeface="Noto Sans CJK JP"/>
              </a:rPr>
              <a:t>PROMPT（要約）</a:t>
            </a:r>
          </a:p>
          <a:p>
            <a:pPr algn="l">
              <a:lnSpc>
                <a:spcPct val="110000"/>
              </a:lnSpc>
            </a:pPr>
            <a:r>
              <a:rPr lang="ja-JP" sz="1150" b="0" dirty="0">
                <a:solidFill>
                  <a:srgbClr val="EBEEF7"/>
                </a:solidFill>
                <a:latin typeface="Noto Sans CJK JP"/>
              </a:rPr>
              <a:t>UR5ロボットアームがピペットで液体をプレートに注ぎ、小さな火花が散る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68680" y="5410230"/>
            <a:ext cx="308864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150" b="1" dirty="0">
                <a:solidFill>
                  <a:srgbClr val="F6AF65"/>
                </a:solidFill>
                <a:latin typeface="Noto Sans CJK JP"/>
              </a:rPr>
              <a:t>→ 実験室の細かな物理操作を、映像だけで再現</a:t>
            </a:r>
          </a:p>
        </p:txBody>
      </p:sp>
      <p:sp>
        <p:nvSpPr>
          <p:cNvPr id="106" name="Shape 106"/>
          <p:cNvSpPr/>
          <p:nvPr/>
        </p:nvSpPr>
        <p:spPr>
          <a:xfrm>
            <a:off x="4368800" y="2430000"/>
            <a:ext cx="3454400" cy="3400000"/>
          </a:xfrm>
          <a:prstGeom prst="roundRect">
            <a:avLst>
              <a:gd name="adj" fmla="val 5000"/>
            </a:avLst>
          </a:prstGeom>
          <a:solidFill>
            <a:srgbClr val="1C2340"/>
          </a:solidFill>
          <a:ln w="9525">
            <a:solidFill>
              <a:srgbClr val="3A4670"/>
            </a:solidFill>
          </a:ln>
        </p:spPr>
        <p:txBody>
          <a:bodyPr anchor="ctr"/>
          <a:lstStyle/>
          <a:p>
            <a:endParaRPr lang="ja-JP"/>
          </a:p>
        </p:txBody>
      </p:sp>
      <p:sp>
        <p:nvSpPr>
          <p:cNvPr id="107" name="TextBox 107"/>
          <p:cNvSpPr txBox="1"/>
          <p:nvPr/>
        </p:nvSpPr>
        <p:spPr>
          <a:xfrm>
            <a:off x="4551680" y="2530000"/>
            <a:ext cx="308864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500" b="1" dirty="0">
                <a:solidFill>
                  <a:srgbClr val="F6AF65"/>
                </a:solidFill>
                <a:latin typeface="Noto Sans CJK JP"/>
              </a:rPr>
              <a:t>02  /  MAGICIAN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340320" y="253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ja-JP" sz="900" b="0" dirty="0">
                <a:solidFill>
                  <a:srgbClr val="8EEBCF"/>
                </a:solidFill>
                <a:latin typeface="Noto Sans CJK JP"/>
              </a:rPr>
              <a:t>● 自動再生  24秒</a:t>
            </a:r>
          </a:p>
        </p:txBody>
      </p:sp>
      <p:pic>
        <p:nvPicPr>
          <p:cNvPr id="109" name="Genie 4 demo 02  /  MAGICIAN" descr="Genie 4 demo 02  /  MAGICIAN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460240" y="2860000"/>
            <a:ext cx="3271520" cy="1840230"/>
          </a:xfrm>
          <a:prstGeom prst="rect">
            <a:avLst/>
          </a:prstGeom>
        </p:spPr>
      </p:pic>
      <p:sp>
        <p:nvSpPr>
          <p:cNvPr id="110" name="TextBox 110"/>
          <p:cNvSpPr txBox="1"/>
          <p:nvPr/>
        </p:nvSpPr>
        <p:spPr>
          <a:xfrm>
            <a:off x="4551680" y="4810230"/>
            <a:ext cx="308864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900" b="1" dirty="0">
                <a:solidFill>
                  <a:srgbClr val="8EEBCF"/>
                </a:solidFill>
                <a:latin typeface="Noto Sans CJK JP"/>
              </a:rPr>
              <a:t>PROMPT（要約）</a:t>
            </a:r>
          </a:p>
          <a:p>
            <a:pPr algn="l">
              <a:lnSpc>
                <a:spcPct val="110000"/>
              </a:lnSpc>
            </a:pPr>
            <a:r>
              <a:rPr lang="ja-JP" sz="1150" b="0" dirty="0">
                <a:solidFill>
                  <a:srgbClr val="EBEEF7"/>
                </a:solidFill>
                <a:latin typeface="Noto Sans CJK JP"/>
              </a:rPr>
              <a:t>骨董サロンを杖を手に一人称で歩く。磁器の動物と本物のクジャク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551680" y="5410230"/>
            <a:ext cx="308864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150" b="1" dirty="0">
                <a:solidFill>
                  <a:srgbClr val="F6AF65"/>
                </a:solidFill>
                <a:latin typeface="Noto Sans CJK JP"/>
              </a:rPr>
              <a:t>→ 歩いて探索できる、映画品質の一人称世界</a:t>
            </a:r>
          </a:p>
        </p:txBody>
      </p:sp>
      <p:sp>
        <p:nvSpPr>
          <p:cNvPr id="112" name="Shape 112"/>
          <p:cNvSpPr/>
          <p:nvPr/>
        </p:nvSpPr>
        <p:spPr>
          <a:xfrm>
            <a:off x="8051800" y="2430000"/>
            <a:ext cx="3454400" cy="3400000"/>
          </a:xfrm>
          <a:prstGeom prst="roundRect">
            <a:avLst>
              <a:gd name="adj" fmla="val 5000"/>
            </a:avLst>
          </a:prstGeom>
          <a:solidFill>
            <a:srgbClr val="1C2340"/>
          </a:solidFill>
          <a:ln w="9525">
            <a:solidFill>
              <a:srgbClr val="3A4670"/>
            </a:solidFill>
          </a:ln>
        </p:spPr>
        <p:txBody>
          <a:bodyPr anchor="ctr"/>
          <a:lstStyle/>
          <a:p>
            <a:endParaRPr lang="ja-JP"/>
          </a:p>
        </p:txBody>
      </p:sp>
      <p:sp>
        <p:nvSpPr>
          <p:cNvPr id="113" name="TextBox 113"/>
          <p:cNvSpPr txBox="1"/>
          <p:nvPr/>
        </p:nvSpPr>
        <p:spPr>
          <a:xfrm>
            <a:off x="8234680" y="2530000"/>
            <a:ext cx="308864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500" b="1" dirty="0">
                <a:solidFill>
                  <a:srgbClr val="F6AF65"/>
                </a:solidFill>
                <a:latin typeface="Noto Sans CJK JP"/>
              </a:rPr>
              <a:t>03  /  CRANE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023320" y="253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ja-JP" sz="900" b="0" dirty="0">
                <a:solidFill>
                  <a:srgbClr val="8EEBCF"/>
                </a:solidFill>
                <a:latin typeface="Noto Sans CJK JP"/>
              </a:rPr>
              <a:t>● 自動再生  55秒</a:t>
            </a:r>
          </a:p>
        </p:txBody>
      </p:sp>
      <p:pic>
        <p:nvPicPr>
          <p:cNvPr id="115" name="Genie 4 demo 03  /  CRANE" descr="Genie 4 demo 03  /  CRAN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143240" y="2860000"/>
            <a:ext cx="3271520" cy="1840230"/>
          </a:xfrm>
          <a:prstGeom prst="rect">
            <a:avLst/>
          </a:prstGeom>
        </p:spPr>
      </p:pic>
      <p:sp>
        <p:nvSpPr>
          <p:cNvPr id="116" name="TextBox 116"/>
          <p:cNvSpPr txBox="1"/>
          <p:nvPr/>
        </p:nvSpPr>
        <p:spPr>
          <a:xfrm>
            <a:off x="8234680" y="4810230"/>
            <a:ext cx="308864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900" b="1" dirty="0">
                <a:solidFill>
                  <a:srgbClr val="8EEBCF"/>
                </a:solidFill>
                <a:latin typeface="Noto Sans CJK JP"/>
              </a:rPr>
              <a:t>PROMPT（要約）</a:t>
            </a:r>
          </a:p>
          <a:p>
            <a:pPr algn="l">
              <a:lnSpc>
                <a:spcPct val="110000"/>
              </a:lnSpc>
            </a:pPr>
            <a:r>
              <a:rPr lang="ja-JP" sz="1150" b="0" dirty="0">
                <a:solidFill>
                  <a:srgbClr val="EBEEF7"/>
                </a:solidFill>
                <a:latin typeface="Noto Sans CJK JP"/>
              </a:rPr>
              <a:t>夕暮れの空の下、雪原を歩くカンムリヅル（ドキュメンタリー調）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234680" y="5410230"/>
            <a:ext cx="308864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150" b="1" dirty="0">
                <a:solidFill>
                  <a:srgbClr val="F6AF65"/>
                </a:solidFill>
                <a:latin typeface="Noto Sans CJK JP"/>
              </a:rPr>
              <a:t>→ 自然・生き物の世界も、実写さながらに生成</a:t>
            </a:r>
          </a:p>
        </p:txBody>
      </p:sp>
      <p:sp>
        <p:nvSpPr>
          <p:cNvPr id="119" name="TextBox 119">
            <a:hlinkClick r:id="rId12"/>
          </p:cNvPr>
          <p:cNvSpPr txBox="1"/>
          <p:nvPr/>
        </p:nvSpPr>
        <p:spPr>
          <a:xfrm>
            <a:off x="7400000" y="6245352"/>
            <a:ext cx="4106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ja-JP" sz="800" b="0" dirty="0">
                <a:solidFill>
                  <a:srgbClr val="8EEBCF"/>
                </a:solidFill>
                <a:latin typeface="Noto Sans CJK JP"/>
              </a:rPr>
              <a:t>deepmind.google/blog/genie-4 ↗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685800" y="5920000"/>
            <a:ext cx="108204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ja-JP" sz="1000" b="0" dirty="0">
                <a:solidFill>
                  <a:srgbClr val="EBEEF7"/>
                </a:solidFill>
                <a:latin typeface="Noto Sans CJK JP"/>
              </a:rPr>
              <a:t>Genie 4が世界を生成し、Gemini 3.8 Flashがエージェントとして観察・計画・検証</a:t>
            </a:r>
            <a:r>
              <a:rPr lang="ja-JP" sz="1000" b="1" dirty="0">
                <a:solidFill>
                  <a:srgbClr val="8EEBCF"/>
                </a:solidFill>
                <a:latin typeface="Noto Sans CJK JP"/>
              </a:rPr>
              <a:t>　→ STARRINGの仮想学校もこの延長線上に（現在は限定研究プレビュー）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0" fill="hold"/>
                                        <p:tgtEl>
                                          <p:spTgt spid="1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4000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5667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103"/>
                </p:tgtEl>
              </p:cMediaNode>
            </p:video>
            <p:video>
              <p:cMediaNode vol="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9"/>
                </p:tgtEl>
              </p:cMediaNode>
            </p:video>
            <p:video>
              <p:cMediaNode vol="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1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051560"/>
            <a:ext cx="3931920" cy="3931920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17152" y="-886968"/>
            <a:ext cx="3584448" cy="3584448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64624" y="-722375"/>
            <a:ext cx="3236976" cy="3236976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12096" y="-557783"/>
            <a:ext cx="2889503" cy="2889503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7" y="-393191"/>
            <a:ext cx="2542032" cy="2542032"/>
          </a:xfrm>
          <a:prstGeom prst="ellipse">
            <a:avLst/>
          </a:prstGeom>
          <a:solidFill>
            <a:srgbClr val="5279BA">
              <a:alpha val="8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530352"/>
            <a:ext cx="59436" cy="237744"/>
          </a:xfrm>
          <a:prstGeom prst="rect">
            <a:avLst/>
          </a:prstGeom>
          <a:solidFill>
            <a:srgbClr val="FFA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07491"/>
            <a:ext cx="10332720" cy="2743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AA7C"/>
                </a:solidFill>
                <a:latin typeface="Noto Sans CJK JP"/>
              </a:rPr>
              <a:t>STARRING  /  OUR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170432"/>
            <a:ext cx="10671048" cy="1307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Noto Sans CJK JP"/>
              </a:rPr>
              <a:t>集合写真の中から、
自分を探すように。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10643616" cy="124358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D47C"/>
                </a:solidFill>
                <a:latin typeface="Noto Sans CJK JP"/>
              </a:rPr>
              <a:t>教材の中にも、
自分自身を見つけられる世界を。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4818888"/>
            <a:ext cx="10469880" cy="758952"/>
          </a:xfrm>
          <a:prstGeom prst="roundRect">
            <a:avLst>
              <a:gd name="adj" fmla="val 8433"/>
            </a:avLst>
          </a:prstGeom>
          <a:solidFill>
            <a:srgbClr val="25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032343"/>
            <a:ext cx="10149840" cy="29546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r>
              <a:rPr sz="1800" dirty="0" err="1">
                <a:solidFill>
                  <a:schemeClr val="bg1"/>
                </a:solidFill>
                <a:latin typeface="Noto Sans CJK JP"/>
              </a:rPr>
              <a:t>学ぶ。答える。認められる。また、自分から挑戦したくなる</a:t>
            </a:r>
            <a:r>
              <a:rPr sz="1800" dirty="0">
                <a:solidFill>
                  <a:schemeClr val="bg1"/>
                </a:solidFill>
                <a:latin typeface="Noto Sans CJK JP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24728"/>
            <a:ext cx="10515600" cy="46634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AA7C"/>
                </a:solidFill>
                <a:latin typeface="Noto Sans CJK JP"/>
              </a:rPr>
              <a:t>STARRING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01384"/>
            <a:ext cx="9875520" cy="18288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A1C0"/>
                </a:solidFill>
                <a:latin typeface="Noto Sans CJK JP"/>
              </a:rPr>
              <a:t>STARRING  /  AIエージェント アイデアソン by Animoca Brands Japan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64808"/>
            <a:ext cx="393192" cy="2103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1">
                <a:solidFill>
                  <a:srgbClr val="848D9C"/>
                </a:solidFill>
                <a:latin typeface="Noto Sans CJK JP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1605</Words>
  <Application>Microsoft Macintosh PowerPoint</Application>
  <PresentationFormat>ワイド画面</PresentationFormat>
  <Paragraphs>192</Paragraphs>
  <Slides>13</Slides>
  <Notes>13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Noto Sans CJK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STARRING｜教材の主語を、「あなた」に。</dc:title>
  <dc:subject>AIエージェント アイデアソン by Animoca Brands Japan 提案資料</dc:subject>
  <dc:creator>渡邉 直也</dc:creator>
  <cp:keywords/>
  <dc:description/>
  <cp:lastModifiedBy>渡邉 直也</cp:lastModifiedBy>
  <cp:revision>5</cp:revision>
  <dcterms:created xsi:type="dcterms:W3CDTF">2013-01-27T09:14:16Z</dcterms:created>
  <dcterms:modified xsi:type="dcterms:W3CDTF">2026-10-30T12:56:12Z</dcterms:modified>
  <cp:category/>
</cp:coreProperties>
</file>