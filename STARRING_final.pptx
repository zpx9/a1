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10"/>
    <p:sldId id="266" r:id="rId11"/>
    <p:sldId id="270" r:id="rId13"/>
    <p:sldId id="27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7"/>
    <p:restoredTop sz="94675"/>
  </p:normalViewPr>
  <p:slideViewPr>
    <p:cSldViewPr snapToGrid="0" snapToObjects="1">
      <p:cViewPr>
        <p:scale>
          <a:sx n="135" d="100"/>
          <a:sy n="135" d="100"/>
        </p:scale>
        <p:origin x="18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6946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STARRINGの渡邉直也です。</a:t>
            </a:r>
          </a:p>
          <a:p>
            <a:r>
              <a:rPr lang="ja-JP" dirty="0"/>
              <a:t>STARRINGは、英語で「主演する」という意味です。</a:t>
            </a:r>
          </a:p>
          <a:p>
            <a:r>
              <a:rPr lang="ja-JP" dirty="0"/>
              <a:t>その名前のとおり、教材の主役を「自分」にする学び方を提案します。</a:t>
            </a:r>
          </a:p>
          <a:p>
            <a:r>
              <a:rPr lang="ja-JP" dirty="0"/>
              <a:t>まずは、そう考えたきっかけからお話しします。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最初に届けたいのは、英語を学び直したい18歳以上の人です。</a:t>
            </a:r>
          </a:p>
          <a:p>
            <a:r>
              <a:rPr lang="ja-JP" dirty="0"/>
              <a:t>目標はあるのに、毎回「何から始めるか」で止まってしまう。実は、私自身もそうでした。</a:t>
            </a:r>
          </a:p>
          <a:p>
            <a:r>
              <a:rPr lang="ja-JP" dirty="0"/>
              <a:t>だから、頑張り方ではなく、学びの「入口」を変えたいと考えました。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ここで質問です。</a:t>
            </a:r>
          </a:p>
          <a:p>
            <a:r>
              <a:rPr lang="ja-JP" dirty="0"/>
              <a:t>集合写真を撮ったとき、まずどこを見ますか？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……「自分」ですよね。</a:t>
            </a:r>
          </a:p>
          <a:p>
            <a:r>
              <a:rPr lang="ja-JP" dirty="0"/>
              <a:t>探そうとしなくても、まず自分が気になる。</a:t>
            </a:r>
          </a:p>
          <a:p>
            <a:r>
              <a:rPr lang="ja-JP" dirty="0"/>
              <a:t>この自然な関心を、学びの入口にできないかと考えました。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この問いは、約90年前、カーネギーの『人を動かす』にも書かれていました。</a:t>
            </a:r>
          </a:p>
          <a:p>
            <a:r>
              <a:rPr lang="ja-JP" dirty="0"/>
              <a:t>人は自然と「自分」に注意が向く。ここが、この企画の出発点です。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でも、教材の中には「自分」がいません。</a:t>
            </a:r>
          </a:p>
          <a:p>
            <a:r>
              <a:rPr lang="ja-JP" dirty="0"/>
              <a:t>知らない人の例文を、ただ眺めるだけです。</a:t>
            </a:r>
          </a:p>
          <a:p>
            <a:r>
              <a:rPr lang="ja-JP" dirty="0"/>
              <a:t>だから、自分の興味や疑問から、教材を始めます。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その発想から生まれたのが、STARRINGです。</a:t>
            </a:r>
          </a:p>
          <a:p>
            <a:r>
              <a:rPr lang="ja-JP" dirty="0"/>
              <a:t>AIエージェントが、目標やメモ、前回の回答を読みとり、自分が抱きそうな疑問や、一段上の問いを出します。</a:t>
            </a:r>
          </a:p>
          <a:p>
            <a:r>
              <a:rPr lang="ja-JP" dirty="0"/>
              <a:t>それに、AIの先生や同級生がいる教室で、自分の言葉で答える。その結果を見て、エージェントが次の教材と出番を選びます。</a:t>
            </a:r>
          </a:p>
          <a:p>
            <a:r>
              <a:rPr lang="ja-JP" dirty="0"/>
              <a:t>チャットボットのように、毎回「次に何をするか」を自分で決めなくていい。ここが、エージェントだからこそできることです。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たとえば、宇宙の話から学んだorbit。</a:t>
            </a:r>
          </a:p>
          <a:p>
            <a:r>
              <a:rPr lang="ja-JP" dirty="0"/>
              <a:t>先生に「orbitって、どういう意味？」と聞かれて、自分の力で「軌道のことです」と答える。</a:t>
            </a:r>
          </a:p>
          <a:p>
            <a:r>
              <a:rPr lang="ja-JP" dirty="0"/>
              <a:t>先生も同級生もAIですが、学んだことを自分で使う場面が、ここにあります。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反応は、正解かどうかだけでは決めません。</a:t>
            </a:r>
          </a:p>
          <a:p>
            <a:r>
              <a:rPr lang="ja-JP" dirty="0"/>
              <a:t>例を使って説明できたか。どこが伝わり、どこが足りなかったかを、具体的に返します。</a:t>
            </a:r>
          </a:p>
          <a:p>
            <a:r>
              <a:rPr lang="ja-JP" dirty="0"/>
              <a:t>そして、競争や通知は全員にはかけません。マイペース、協力、ライバル。本人が選び、いつでも止められます。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では、本当につくれるのか。必要な技術は、もうそろい始めています。</a:t>
            </a:r>
          </a:p>
          <a:p>
            <a:r>
              <a:rPr lang="ja-JP" dirty="0"/>
              <a:t>Mindsには、本人を覚えて裏側で動くエージェント、手順をまとめるスキル、複数のMindが協力するCircleがあります。</a:t>
            </a:r>
          </a:p>
          <a:p>
            <a:r>
              <a:rPr lang="ja-JP" dirty="0"/>
              <a:t>公式のConnect SDKで、STARRINGの教室画面ともつなげられます。まずは英語の1場面を、2Dの教室で試作します。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dirty="0"/>
              <a:t>集合写真で、自分を探すように。教材の中にも、自分を見つけられる世界を。</a:t>
            </a:r>
          </a:p>
          <a:p>
            <a:r>
              <a:rPr lang="ja-JP" dirty="0"/>
              <a:t>学ぶ。答える。認められる。そして、また挑戦したくなる。</a:t>
            </a:r>
          </a:p>
          <a:p>
            <a:r>
              <a:rPr lang="ja-JP" dirty="0"/>
              <a:t>私はこれから、AIと一緒に「自分が主役の学び」を続けていきます。</a:t>
            </a:r>
          </a:p>
          <a:p>
            <a:r>
              <a:rPr lang="ja-JP" dirty="0"/>
              <a:t>STARRINGでした。ありがとうございました。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3" Type="http://schemas.microsoft.com/office/2007/relationships/media" Target="../media/media2.mp4"/><Relationship Id="rId7" Type="http://schemas.openxmlformats.org/officeDocument/2006/relationships/slideLayout" Target="../slideLayouts/slideLayout7.xml"/><Relationship Id="rId12" Type="http://schemas.openxmlformats.org/officeDocument/2006/relationships/hyperlink" Target="https://deepmind.google/blog/genie-4-a-new-generation-of-world-simulation/" TargetMode="Externa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8.jpg"/><Relationship Id="rId5" Type="http://schemas.microsoft.com/office/2007/relationships/media" Target="../media/media3.mp4"/><Relationship Id="rId10" Type="http://schemas.openxmlformats.org/officeDocument/2006/relationships/image" Target="../media/image7.jpg"/><Relationship Id="rId4" Type="http://schemas.openxmlformats.org/officeDocument/2006/relationships/video" Target="../media/media2.mp4"/><Relationship Id="rId9" Type="http://schemas.openxmlformats.org/officeDocument/2006/relationships/image" Target="../media/image6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051560"/>
            <a:ext cx="3931920" cy="3931920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217152" y="-886968"/>
            <a:ext cx="3584448" cy="3584448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64624" y="-722375"/>
            <a:ext cx="3236976" cy="3236976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912096" y="-557783"/>
            <a:ext cx="2889503" cy="2889503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7" y="-393191"/>
            <a:ext cx="2542032" cy="2542032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4944" y="47548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AA7C"/>
                </a:solidFill>
                <a:latin typeface="Noto Sans CJK JP"/>
              </a:rPr>
              <a:t>AIエージェント アイデアソン by Animoca Brands Japan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307592"/>
            <a:ext cx="6629400" cy="9601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FFFFF"/>
                </a:solidFill>
                <a:latin typeface="Noto Sans CJK JP"/>
              </a:rPr>
              <a:t>STARRING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56102"/>
            <a:ext cx="8183879" cy="55707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00" b="1" i="0" dirty="0" err="1">
                <a:solidFill>
                  <a:srgbClr val="FFD47C"/>
                </a:solidFill>
                <a:latin typeface="Noto Sans CJK JP"/>
              </a:rPr>
              <a:t>教材の主語を</a:t>
            </a:r>
            <a:r>
              <a:rPr sz="3500" b="1" i="0" dirty="0">
                <a:solidFill>
                  <a:srgbClr val="FFD47C"/>
                </a:solidFill>
                <a:latin typeface="Noto Sans CJK JP"/>
              </a:rPr>
              <a:t>、「</a:t>
            </a:r>
            <a:r>
              <a:rPr lang="en-US" sz="3500" b="1" dirty="0" err="1">
                <a:solidFill>
                  <a:srgbClr val="FFD47C"/>
                </a:solidFill>
                <a:latin typeface="Noto Sans CJK JP"/>
              </a:rPr>
              <a:t>自分</a:t>
            </a:r>
            <a:r>
              <a:rPr sz="3500" b="1" i="0" dirty="0" err="1">
                <a:solidFill>
                  <a:srgbClr val="FFD47C"/>
                </a:solidFill>
                <a:latin typeface="Noto Sans CJK JP"/>
              </a:rPr>
              <a:t>」に</a:t>
            </a:r>
            <a:r>
              <a:rPr sz="3500" b="1" i="0" dirty="0">
                <a:solidFill>
                  <a:srgbClr val="FFD47C"/>
                </a:solidFill>
                <a:latin typeface="Noto Sans CJK JP"/>
              </a:rPr>
              <a:t>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393448"/>
            <a:ext cx="7790688" cy="41857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2600" dirty="0" err="1">
                <a:solidFill>
                  <a:schemeClr val="bg1"/>
                </a:solidFill>
                <a:latin typeface="Noto Sans CJK JP"/>
              </a:rPr>
              <a:t>自分の問いで学び、仮想学校で出番を見つける</a:t>
            </a:r>
            <a:r>
              <a:rPr sz="2600" dirty="0">
                <a:solidFill>
                  <a:schemeClr val="bg1"/>
                </a:solidFill>
                <a:latin typeface="Noto Sans CJK JP"/>
              </a:rPr>
              <a:t>。</a:t>
            </a:r>
          </a:p>
        </p:txBody>
      </p:sp>
      <p:sp>
        <p:nvSpPr>
          <p:cNvPr id="13" name="Oval 12"/>
          <p:cNvSpPr/>
          <p:nvPr/>
        </p:nvSpPr>
        <p:spPr>
          <a:xfrm>
            <a:off x="8458200" y="1225296"/>
            <a:ext cx="3657600" cy="3657600"/>
          </a:xfrm>
          <a:prstGeom prst="ellipse">
            <a:avLst/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55380" y="1522476"/>
            <a:ext cx="3063240" cy="3063240"/>
          </a:xfrm>
          <a:prstGeom prst="ellipse">
            <a:avLst/>
          </a:prstGeom>
          <a:solidFill>
            <a:srgbClr val="383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006840" y="1773936"/>
            <a:ext cx="2560320" cy="2560320"/>
          </a:xfrm>
          <a:prstGeom prst="ellipse">
            <a:avLst/>
          </a:prstGeom>
          <a:solidFill>
            <a:srgbClr val="535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317736" y="2084832"/>
            <a:ext cx="1938528" cy="1938528"/>
          </a:xfrm>
          <a:prstGeom prst="ellipse">
            <a:avLst/>
          </a:prstGeom>
          <a:solidFill>
            <a:srgbClr val="7473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614916" y="2382012"/>
            <a:ext cx="1344168" cy="1344168"/>
          </a:xfrm>
          <a:prstGeom prst="ellipse">
            <a:avLst/>
          </a:prstGeom>
          <a:solidFill>
            <a:srgbClr val="A5A1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65208" y="3035808"/>
            <a:ext cx="493776" cy="493776"/>
          </a:xfrm>
          <a:prstGeom prst="ellipse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610344" y="3520440"/>
            <a:ext cx="667512" cy="685800"/>
          </a:xfrm>
          <a:prstGeom prst="roundRect">
            <a:avLst>
              <a:gd name="adj" fmla="val 10273"/>
            </a:avLst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793012" y="40110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269980" y="43401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628385" y="4515309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945614" y="4515309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304020" y="43401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780987" y="40110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439601" y="356753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21040" y="306324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439601" y="255894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780987" y="21154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04019" y="17863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45614" y="161117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628385" y="1611170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1269980" y="1786311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1793012" y="2115468"/>
            <a:ext cx="41148" cy="41148"/>
          </a:xfrm>
          <a:prstGeom prst="ellipse">
            <a:avLst/>
          </a:prstGeom>
          <a:solidFill>
            <a:srgbClr val="FFD47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94944" y="4965192"/>
            <a:ext cx="6565392" cy="713232"/>
          </a:xfrm>
          <a:prstGeom prst="roundRect">
            <a:avLst>
              <a:gd name="adj" fmla="val 10897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50976" y="5184648"/>
            <a:ext cx="6300216" cy="25603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Noto Sans CJK JP"/>
              </a:rPr>
              <a:t>渡邉 直也  |  TECH.C. AI専攻 / LITALICOワンダー 学習サポート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70432"/>
            <a:ext cx="9509760" cy="1572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20243B"/>
                </a:solidFill>
                <a:latin typeface="Noto Sans CJK JP"/>
              </a:rPr>
              <a:t>学びたい。
でも、続けるのは難しい。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900000"/>
            <a:ext cx="10698480" cy="14000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2200" b="1" i="0" dirty="0">
                <a:solidFill>
                  <a:srgbClr val="E97749"/>
                </a:solidFill>
                <a:latin typeface="Noto Sans CJK JP"/>
              </a:rPr>
              <a:t>最初に届けたいのは、英語を学び直したい18歳以上の人。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lang="ja-JP" sz="2200" b="0" i="0" dirty="0">
                <a:solidFill>
                  <a:srgbClr val="696D81"/>
                </a:solidFill>
                <a:latin typeface="Noto Sans CJK JP"/>
              </a:rPr>
              <a:t>目標はあるのに、毎回「何から始めるか」で止まってしまう。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2200" b="0" i="0" dirty="0">
                <a:solidFill>
                  <a:srgbClr val="696D81"/>
                </a:solidFill>
                <a:latin typeface="Noto Sans CJK JP"/>
              </a:rPr>
              <a:t>私自身も、その一人です。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926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目標はある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5384" y="4910328"/>
            <a:ext cx="365760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0857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0974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入口が重い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5864" y="4910328"/>
            <a:ext cx="365760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4745736"/>
            <a:ext cx="3410712" cy="777240"/>
          </a:xfrm>
          <a:prstGeom prst="roundRect">
            <a:avLst>
              <a:gd name="adj" fmla="val 11764"/>
            </a:avLst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50224" y="4937760"/>
            <a:ext cx="2990088" cy="36576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Noto Sans CJK JP"/>
              </a:rPr>
              <a:t>だから続かない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41832" y="54406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ひとつ、質問です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115568"/>
            <a:ext cx="10698480" cy="15361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FFFFFF"/>
                </a:solidFill>
                <a:latin typeface="Noto Sans CJK JP"/>
              </a:rPr>
              <a:t>みなさん、集合写真を撮ったとき、
まずどこを見ますか？</a:t>
            </a:r>
          </a:p>
        </p:txBody>
      </p:sp>
      <p:pic>
        <p:nvPicPr>
          <p:cNvPr id="6" name="Picture 5" descr="asset_original_slide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664" y="3154680"/>
            <a:ext cx="8458200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23360" y="5806440"/>
            <a:ext cx="4151376" cy="28346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6B0CB"/>
                </a:solidFill>
                <a:latin typeface="Noto Sans CJK JP"/>
              </a:rPr>
              <a:t>（2秒、考えてください）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03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5C70A95A-A715-EE76-6C65-CF64CF6F0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3" y="20844"/>
            <a:ext cx="12161410" cy="68371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58952" y="566928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23544" y="54406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61288"/>
            <a:ext cx="10424160" cy="9601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D47C"/>
                </a:solidFill>
                <a:latin typeface="Noto Sans CJK JP"/>
              </a:rPr>
              <a:t>「自分」ですよね。</a:t>
            </a:r>
          </a:p>
        </p:txBody>
      </p:sp>
      <p:pic>
        <p:nvPicPr>
          <p:cNvPr id="6" name="Picture 5" descr="asset_original_slide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19" y="2843784"/>
            <a:ext cx="8458200" cy="2395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724144"/>
            <a:ext cx="7946136" cy="42062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Noto Sans CJK JP"/>
              </a:rPr>
              <a:t>探そうとする前に、自分が気になる。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DALE CARNEGIE  /  1936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10744200" cy="6583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0243B"/>
                </a:solidFill>
                <a:latin typeface="Noto Sans CJK JP"/>
              </a:rPr>
              <a:t>この問いは、約90年前に書かれていた。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38528"/>
            <a:ext cx="2084831" cy="2889504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672" y="1938528"/>
            <a:ext cx="2670048" cy="28895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99048" y="1938528"/>
            <a:ext cx="5294376" cy="2889504"/>
          </a:xfrm>
          <a:prstGeom prst="roundRect">
            <a:avLst>
              <a:gd name="adj" fmla="val 3164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9088" y="2212848"/>
            <a:ext cx="4590288" cy="11430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“When you see a group photograph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that you are in, whose picture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3B"/>
                </a:solidFill>
                <a:latin typeface="Noto Sans CJK JP"/>
              </a:rPr>
              <a:t>do you look for first?”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3575304"/>
            <a:ext cx="4535424" cy="18288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3767328"/>
            <a:ext cx="4544568" cy="90525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0243B"/>
                </a:solidFill>
                <a:latin typeface="Noto Sans CJK JP"/>
              </a:rPr>
              <a:t>「自分も写っている集合写真を見るとき、
あなたは、まず誰の写真を見るだろう？」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184648"/>
            <a:ext cx="10222992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6D81"/>
                </a:solidFill>
                <a:latin typeface="Noto Sans CJK JP"/>
              </a:rPr>
              <a:t>デール・カーネギー『人を動かす』 (1936)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60136"/>
            <a:ext cx="10698480" cy="4023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97749"/>
                </a:solidFill>
                <a:latin typeface="Noto Sans CJK JP"/>
              </a:rPr>
              <a:t>だから私は、この「自分への関心」を学びの入口にできないかと考えました。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88B9B"/>
                </a:solidFill>
                <a:latin typeface="Noto Sans CJK JP"/>
              </a:rPr>
              <a:t>写真・書影：D・カーネギー著、山口博訳『人を動かす』（創元社）　原著：How to Win Friends and Influence People (1936)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8" y="548640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525780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AA7C"/>
                </a:solidFill>
                <a:latin typeface="Noto Sans CJK JP"/>
              </a:rPr>
              <a:t>THE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152144"/>
            <a:ext cx="10570464" cy="154533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FFFFFF"/>
                </a:solidFill>
                <a:latin typeface="Noto Sans CJK JP"/>
              </a:rPr>
              <a:t>なのに、教材の世界には
「自分」がいない。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3191256"/>
            <a:ext cx="4745736" cy="1627632"/>
          </a:xfrm>
          <a:prstGeom prst="roundRect">
            <a:avLst>
              <a:gd name="adj" fmla="val 5617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79576" y="3511296"/>
            <a:ext cx="4160520" cy="429768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BC0D0"/>
                </a:solidFill>
                <a:latin typeface="Noto Sans CJK JP"/>
              </a:rPr>
              <a:t>他人の例を「眺める」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7864" y="4123944"/>
            <a:ext cx="3995928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B8BCD6"/>
                </a:solidFill>
                <a:latin typeface="Noto Sans CJK JP"/>
              </a:rPr>
              <a:t>知らない人物の、知らない場面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3621024"/>
            <a:ext cx="630936" cy="55778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AA7C"/>
                </a:solidFill>
                <a:latin typeface="Noto Sans CJK JP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191256"/>
            <a:ext cx="4745736" cy="1627632"/>
          </a:xfrm>
          <a:prstGeom prst="roundRect">
            <a:avLst>
              <a:gd name="adj" fmla="val 5617"/>
            </a:avLst>
          </a:prstGeom>
          <a:solidFill>
            <a:srgbClr val="373F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93992" y="3511296"/>
            <a:ext cx="4187952" cy="45720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D47C"/>
                </a:solidFill>
                <a:latin typeface="Noto Sans CJK JP"/>
              </a:rPr>
              <a:t>自分の物語として「感じる」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3136" y="4123944"/>
            <a:ext cx="3995928" cy="31089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Noto Sans CJK JP"/>
              </a:rPr>
              <a:t>興味や疑問が、そのまま教材になる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404104"/>
            <a:ext cx="10405872" cy="54864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AA7C"/>
                </a:solidFill>
                <a:latin typeface="Noto Sans CJK JP"/>
              </a:rPr>
              <a:t>「自分ごと」にすることから、学びを始める。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9A1C0"/>
                </a:solidFill>
                <a:latin typeface="Noto Sans CJK JP"/>
              </a:rPr>
              <a:t>設計の参考：自己参照効果（Rogers, Kuiper &amp; Kirker, 1977）／興味に合わせた教材の個別化（Walkington, 2013）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85800" y="475488"/>
            <a:ext cx="59436" cy="237744"/>
          </a:xfrm>
          <a:prstGeom prst="rect">
            <a:avLst/>
          </a:prstGeom>
          <a:solidFill>
            <a:srgbClr val="E97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52628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97749"/>
                </a:solidFill>
                <a:latin typeface="Noto Sans CJK JP"/>
              </a:rPr>
              <a:t>THE SOLUTION  /  WHY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88B9B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6384" y="860000"/>
            <a:ext cx="10744200" cy="6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3600" b="1" i="0" dirty="0">
                <a:solidFill>
                  <a:srgbClr val="20243B"/>
                </a:solidFill>
                <a:latin typeface="Noto Sans CJK JP"/>
              </a:rPr>
              <a:t>こちらが、STARRINGです。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95528" y="1560000"/>
            <a:ext cx="10600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800" b="0" i="0" dirty="0">
                <a:solidFill>
                  <a:srgbClr val="696D81"/>
                </a:solidFill>
                <a:latin typeface="Noto Sans CJK JP"/>
              </a:rPr>
              <a:t>AIエージェントが、学びの「次」を組み立て続ける。</a:t>
            </a:r>
          </a:p>
        </p:txBody>
      </p:sp>
      <p:sp>
        <p:nvSpPr>
          <p:cNvPr id="30" name="Shape 30"/>
          <p:cNvSpPr/>
          <p:nvPr/>
        </p:nvSpPr>
        <p:spPr>
          <a:xfrm>
            <a:off x="795528" y="2080000"/>
            <a:ext cx="2406000" cy="22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31" name="TextBox 31"/>
          <p:cNvSpPr txBox="1"/>
          <p:nvPr/>
        </p:nvSpPr>
        <p:spPr>
          <a:xfrm>
            <a:off x="975528" y="2250000"/>
            <a:ext cx="2046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20243B"/>
                </a:solidFill>
                <a:latin typeface="Noto Sans CJK JP"/>
              </a:rPr>
              <a:t>AGENT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75528" y="2640000"/>
            <a:ext cx="2046000" cy="4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800" b="1" i="0" dirty="0">
                <a:solidFill>
                  <a:srgbClr val="20243B"/>
                </a:solidFill>
                <a:latin typeface="Noto Sans CJK JP"/>
              </a:rPr>
              <a:t>1  読みとる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75528" y="3230000"/>
            <a:ext cx="2046000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696D81"/>
                </a:solidFill>
                <a:latin typeface="Noto Sans CJK JP"/>
              </a:rPr>
              <a:t>目標・本人が選んだメモ・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696D81"/>
                </a:solidFill>
                <a:latin typeface="Noto Sans CJK JP"/>
              </a:rPr>
              <a:t>前回の回答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201528" y="2080000"/>
            <a:ext cx="320000" cy="2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800" b="1" i="0" dirty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36" name="Shape 36"/>
          <p:cNvSpPr/>
          <p:nvPr/>
        </p:nvSpPr>
        <p:spPr>
          <a:xfrm>
            <a:off x="3521528" y="2080000"/>
            <a:ext cx="2406000" cy="2250000"/>
          </a:xfrm>
          <a:prstGeom prst="roundRect">
            <a:avLst>
              <a:gd name="adj" fmla="val 8000"/>
            </a:avLst>
          </a:prstGeom>
          <a:solidFill>
            <a:srgbClr val="FCE7D8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37" name="TextBox 37"/>
          <p:cNvSpPr txBox="1"/>
          <p:nvPr/>
        </p:nvSpPr>
        <p:spPr>
          <a:xfrm>
            <a:off x="3701528" y="2250000"/>
            <a:ext cx="2046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E97749"/>
                </a:solidFill>
                <a:latin typeface="Noto Sans CJK JP"/>
              </a:rPr>
              <a:t>INPUT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701528" y="2640000"/>
            <a:ext cx="2046000" cy="4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800" b="1" i="0" dirty="0">
                <a:solidFill>
                  <a:srgbClr val="20243B"/>
                </a:solidFill>
                <a:latin typeface="Noto Sans CJK JP"/>
              </a:rPr>
              <a:t>2  出題する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701528" y="3230000"/>
            <a:ext cx="2046000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20243B"/>
                </a:solidFill>
                <a:latin typeface="Noto Sans CJK JP"/>
              </a:rPr>
              <a:t>「自分が抱きそうな疑問」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20243B"/>
                </a:solidFill>
                <a:latin typeface="Noto Sans CJK JP"/>
              </a:rPr>
              <a:t>や「</a:t>
            </a:r>
            <a:r>
              <a:rPr lang="ja-JP" sz="1250" b="1" i="0" dirty="0">
                <a:solidFill>
                  <a:srgbClr val="E97749"/>
                </a:solidFill>
                <a:latin typeface="Noto Sans CJK JP"/>
              </a:rPr>
              <a:t>一段上の問い</a:t>
            </a:r>
            <a:r>
              <a:rPr lang="ja-JP" sz="1250" b="0" i="0" dirty="0">
                <a:solidFill>
                  <a:srgbClr val="20243B"/>
                </a:solidFill>
                <a:latin typeface="Noto Sans CJK JP"/>
              </a:rPr>
              <a:t>」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927528" y="2080000"/>
            <a:ext cx="320000" cy="2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800" b="1" i="0" dirty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42" name="Shape 42"/>
          <p:cNvSpPr/>
          <p:nvPr/>
        </p:nvSpPr>
        <p:spPr>
          <a:xfrm>
            <a:off x="6247528" y="2080000"/>
            <a:ext cx="2406000" cy="2250000"/>
          </a:xfrm>
          <a:prstGeom prst="roundRect">
            <a:avLst>
              <a:gd name="adj" fmla="val 8000"/>
            </a:avLst>
          </a:prstGeom>
          <a:solidFill>
            <a:srgbClr val="DFEEE8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43" name="TextBox 43"/>
          <p:cNvSpPr txBox="1"/>
          <p:nvPr/>
        </p:nvSpPr>
        <p:spPr>
          <a:xfrm>
            <a:off x="6427528" y="2250000"/>
            <a:ext cx="2046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268B75"/>
                </a:solidFill>
                <a:latin typeface="Noto Sans CJK JP"/>
              </a:rPr>
              <a:t>OUTPUT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427528" y="2640000"/>
            <a:ext cx="2046000" cy="4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800" b="1" i="0" dirty="0">
                <a:solidFill>
                  <a:srgbClr val="20243B"/>
                </a:solidFill>
                <a:latin typeface="Noto Sans CJK JP"/>
              </a:rPr>
              <a:t>3  教室で答える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427528" y="3230000"/>
            <a:ext cx="2046000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20243B"/>
                </a:solidFill>
                <a:latin typeface="Noto Sans CJK JP"/>
              </a:rPr>
              <a:t>AIの先生・同級生の前で、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20243B"/>
                </a:solidFill>
                <a:latin typeface="Noto Sans CJK JP"/>
              </a:rPr>
              <a:t>自分の言葉で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653528" y="2080000"/>
            <a:ext cx="320000" cy="22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800" b="1" i="0" dirty="0">
                <a:solidFill>
                  <a:srgbClr val="E97749"/>
                </a:solidFill>
                <a:latin typeface="Noto Sans CJK JP"/>
              </a:rPr>
              <a:t>→</a:t>
            </a:r>
          </a:p>
        </p:txBody>
      </p:sp>
      <p:sp>
        <p:nvSpPr>
          <p:cNvPr id="48" name="Shape 48"/>
          <p:cNvSpPr/>
          <p:nvPr/>
        </p:nvSpPr>
        <p:spPr>
          <a:xfrm>
            <a:off x="8973528" y="2080000"/>
            <a:ext cx="2406000" cy="22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49" name="TextBox 49"/>
          <p:cNvSpPr txBox="1"/>
          <p:nvPr/>
        </p:nvSpPr>
        <p:spPr>
          <a:xfrm>
            <a:off x="9153528" y="2250000"/>
            <a:ext cx="2046000" cy="2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20243B"/>
                </a:solidFill>
                <a:latin typeface="Noto Sans CJK JP"/>
              </a:rPr>
              <a:t>AGENT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153528" y="2640000"/>
            <a:ext cx="2046000" cy="45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800" b="1" i="0" dirty="0">
                <a:solidFill>
                  <a:srgbClr val="20243B"/>
                </a:solidFill>
                <a:latin typeface="Noto Sans CJK JP"/>
              </a:rPr>
              <a:t>4  次を選ぶ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9153528" y="3230000"/>
            <a:ext cx="2046000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696D81"/>
                </a:solidFill>
                <a:latin typeface="Noto Sans CJK JP"/>
              </a:rPr>
              <a:t>できたら応用へ、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0" i="0" dirty="0">
                <a:solidFill>
                  <a:srgbClr val="696D81"/>
                </a:solidFill>
                <a:latin typeface="Noto Sans CJK JP"/>
              </a:rPr>
              <a:t>難しければ復習へ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95528" y="4390000"/>
            <a:ext cx="10585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1" i="0" dirty="0">
                <a:solidFill>
                  <a:srgbClr val="E97749"/>
                </a:solidFill>
                <a:latin typeface="Noto Sans CJK JP"/>
              </a:rPr>
              <a:t>結果は次回へ。この流れを、毎回くり返す</a:t>
            </a:r>
          </a:p>
        </p:txBody>
      </p:sp>
      <p:sp>
        <p:nvSpPr>
          <p:cNvPr id="61" name="Shape 61"/>
          <p:cNvSpPr/>
          <p:nvPr/>
        </p:nvSpPr>
        <p:spPr>
          <a:xfrm>
            <a:off x="795528" y="4800000"/>
            <a:ext cx="3900000" cy="12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62" name="TextBox 62"/>
          <p:cNvSpPr txBox="1"/>
          <p:nvPr/>
        </p:nvSpPr>
        <p:spPr>
          <a:xfrm>
            <a:off x="1015528" y="4920000"/>
            <a:ext cx="346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1" i="0" dirty="0">
                <a:solidFill>
                  <a:srgbClr val="888B9B"/>
                </a:solidFill>
                <a:latin typeface="Noto Sans CJK JP"/>
              </a:rPr>
              <a:t>チャットボット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15528" y="5260000"/>
            <a:ext cx="3460000" cy="7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50" b="0" i="0" dirty="0">
                <a:solidFill>
                  <a:srgbClr val="696D81"/>
                </a:solidFill>
                <a:latin typeface="Noto Sans CJK JP"/>
              </a:rPr>
              <a:t>聞かれたら答える。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50" b="0" i="0" dirty="0">
                <a:solidFill>
                  <a:srgbClr val="696D81"/>
                </a:solidFill>
                <a:latin typeface="Noto Sans CJK JP"/>
              </a:rPr>
              <a:t>次に何を学ぶかは、毎回自分で決める</a:t>
            </a:r>
          </a:p>
        </p:txBody>
      </p:sp>
      <p:sp>
        <p:nvSpPr>
          <p:cNvPr id="64" name="Shape 64"/>
          <p:cNvSpPr/>
          <p:nvPr/>
        </p:nvSpPr>
        <p:spPr>
          <a:xfrm>
            <a:off x="4865528" y="4800000"/>
            <a:ext cx="6515000" cy="1250000"/>
          </a:xfrm>
          <a:prstGeom prst="roundRect">
            <a:avLst>
              <a:gd name="adj" fmla="val 8000"/>
            </a:avLst>
          </a:prstGeom>
          <a:solidFill>
            <a:srgbClr val="20243B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65" name="TextBox 65"/>
          <p:cNvSpPr txBox="1"/>
          <p:nvPr/>
        </p:nvSpPr>
        <p:spPr>
          <a:xfrm>
            <a:off x="5085528" y="4920000"/>
            <a:ext cx="61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1" i="0" dirty="0">
                <a:solidFill>
                  <a:srgbClr val="F6AF65"/>
                </a:solidFill>
                <a:latin typeface="Noto Sans CJK JP"/>
              </a:rPr>
              <a:t>STARRINGのエージェント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5085528" y="5260000"/>
            <a:ext cx="6100000" cy="7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50" b="1" i="0" dirty="0">
                <a:solidFill>
                  <a:srgbClr val="FFFFFF"/>
                </a:solidFill>
                <a:latin typeface="Noto Sans CJK JP"/>
              </a:rPr>
              <a:t>結果を見て、次の教材・出番・復習を自分で選ぶ。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50" b="1" i="0" dirty="0">
                <a:solidFill>
                  <a:srgbClr val="FFFFFF"/>
                </a:solidFill>
                <a:latin typeface="Noto Sans CJK JP"/>
              </a:rPr>
              <a:t>「何から始めるか」で止まる負担を引き受ける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図 42" descr="仮想学校の英語の授業。先生が「orbitって、どういう意味かな？」と問い、宇宙の例で学んだ生徒が「天体が回る道筋、軌道のことです！」と答え、同級生が「なるほど！分かりやすい！」と反応している。右側に「01 学んだ知識を使う／02 自分の言葉で伝える／03 周囲から認められる」">
            <a:extLst>
              <a:ext uri="{FF2B5EF4-FFF2-40B4-BE49-F238E27FC236}">
                <a16:creationId xmlns:a16="http://schemas.microsoft.com/office/drawing/2014/main" id="{848222D0-A0D3-2E75-3E3A-8842164B8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"/>
            <a:ext cx="12192000" cy="6858000"/>
          </a:xfrm>
          <a:prstGeom prst="rect">
            <a:avLst/>
          </a:prstGeom>
        </p:spPr>
      </p:pic>
      <p:sp>
        <p:nvSpPr>
          <p:cNvPr id="60" name="Shape 60"/>
          <p:cNvSpPr/>
          <p:nvPr/>
        </p:nvSpPr>
        <p:spPr>
          <a:xfrm>
            <a:off x="9800000" y="6420000"/>
            <a:ext cx="2250000" cy="3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4774E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61" name="TextBox 61"/>
          <p:cNvSpPr txBox="1"/>
          <p:nvPr/>
        </p:nvSpPr>
        <p:spPr>
          <a:xfrm>
            <a:off x="9800000" y="6420000"/>
            <a:ext cx="22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F4774E"/>
                </a:solidFill>
                <a:latin typeface="Noto Sans CJK JP"/>
              </a:rPr>
              <a:t>構想図｜先生・同級生は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04088" y="429768"/>
            <a:ext cx="68580" cy="219456"/>
          </a:xfrm>
          <a:prstGeom prst="rect">
            <a:avLst/>
          </a:prstGeom>
          <a:solidFill>
            <a:srgbClr val="F47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86968" y="411480"/>
            <a:ext cx="10607040" cy="32004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774E"/>
                </a:solidFill>
                <a:latin typeface="Noto Sans CJK JP"/>
              </a:rPr>
              <a:t>THE REWARD  / 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89920" cy="6583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9243D"/>
                </a:solidFill>
                <a:latin typeface="Noto Sans CJK JP"/>
              </a:rPr>
              <a:t>褒めるのは「説明の中身」。競争は、自分で選ぶ。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6446520"/>
            <a:ext cx="10515600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858D9C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37376"/>
            <a:ext cx="320040" cy="1828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09</a:t>
            </a:r>
          </a:p>
        </p:txBody>
      </p:sp>
      <p:sp>
        <p:nvSpPr>
          <p:cNvPr id="80" name="Shape 80"/>
          <p:cNvSpPr/>
          <p:nvPr/>
        </p:nvSpPr>
        <p:spPr>
          <a:xfrm>
            <a:off x="795528" y="1830000"/>
            <a:ext cx="5250000" cy="36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81" name="TextBox 81"/>
          <p:cNvSpPr txBox="1"/>
          <p:nvPr/>
        </p:nvSpPr>
        <p:spPr>
          <a:xfrm>
            <a:off x="1045528" y="1990000"/>
            <a:ext cx="4750000" cy="3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F4774E"/>
                </a:solidFill>
                <a:latin typeface="Noto Sans CJK JP"/>
              </a:rPr>
              <a:t>反応は、説明の中身に返す</a:t>
            </a:r>
          </a:p>
        </p:txBody>
      </p:sp>
      <p:sp>
        <p:nvSpPr>
          <p:cNvPr id="82" name="Shape 82"/>
          <p:cNvSpPr/>
          <p:nvPr/>
        </p:nvSpPr>
        <p:spPr>
          <a:xfrm>
            <a:off x="6240000" y="1830000"/>
            <a:ext cx="5140000" cy="36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ED6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83" name="TextBox 83"/>
          <p:cNvSpPr txBox="1"/>
          <p:nvPr/>
        </p:nvSpPr>
        <p:spPr>
          <a:xfrm>
            <a:off x="6490000" y="1990000"/>
            <a:ext cx="4640000" cy="3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268B75"/>
                </a:solidFill>
                <a:latin typeface="Noto Sans CJK JP"/>
              </a:rPr>
              <a:t>競争も通知も、本人が選ぶ</a:t>
            </a:r>
          </a:p>
        </p:txBody>
      </p:sp>
      <p:sp>
        <p:nvSpPr>
          <p:cNvPr id="90" name="Shape 90"/>
          <p:cNvSpPr/>
          <p:nvPr/>
        </p:nvSpPr>
        <p:spPr>
          <a:xfrm>
            <a:off x="1045528" y="2510000"/>
            <a:ext cx="440000" cy="440000"/>
          </a:xfrm>
          <a:prstGeom prst="roundRect">
            <a:avLst>
              <a:gd name="adj" fmla="val 18000"/>
            </a:avLst>
          </a:prstGeom>
          <a:solidFill>
            <a:srgbClr val="267A73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91" name="TextBox 91"/>
          <p:cNvSpPr txBox="1"/>
          <p:nvPr/>
        </p:nvSpPr>
        <p:spPr>
          <a:xfrm>
            <a:off x="1045528" y="2510000"/>
            <a:ext cx="440000" cy="4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FFFFFF"/>
                </a:solidFill>
                <a:latin typeface="Noto Sans CJK JP"/>
              </a:rPr>
              <a:t>01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1675528" y="2470000"/>
            <a:ext cx="415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19243D"/>
                </a:solidFill>
                <a:latin typeface="Noto Sans CJK JP"/>
              </a:rPr>
              <a:t>自分で説明できた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1675528" y="2850000"/>
            <a:ext cx="415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696D81"/>
                </a:solidFill>
                <a:latin typeface="Noto Sans CJK JP"/>
              </a:rPr>
              <a:t>例を使って、意味を説明できた</a:t>
            </a:r>
          </a:p>
        </p:txBody>
      </p:sp>
      <p:sp>
        <p:nvSpPr>
          <p:cNvPr id="95" name="Shape 95"/>
          <p:cNvSpPr/>
          <p:nvPr/>
        </p:nvSpPr>
        <p:spPr>
          <a:xfrm>
            <a:off x="1045528" y="3470000"/>
            <a:ext cx="440000" cy="440000"/>
          </a:xfrm>
          <a:prstGeom prst="roundRect">
            <a:avLst>
              <a:gd name="adj" fmla="val 18000"/>
            </a:avLst>
          </a:prstGeom>
          <a:solidFill>
            <a:srgbClr val="F4774E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96" name="TextBox 96"/>
          <p:cNvSpPr txBox="1"/>
          <p:nvPr/>
        </p:nvSpPr>
        <p:spPr>
          <a:xfrm>
            <a:off x="1045528" y="3470000"/>
            <a:ext cx="440000" cy="4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FFFFFF"/>
                </a:solidFill>
                <a:latin typeface="Noto Sans CJK JP"/>
              </a:rPr>
              <a:t>02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1675528" y="3430000"/>
            <a:ext cx="415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19243D"/>
                </a:solidFill>
                <a:latin typeface="Noto Sans CJK JP"/>
              </a:rPr>
              <a:t>伝わる説明を練習できた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675528" y="3810000"/>
            <a:ext cx="415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696D81"/>
                </a:solidFill>
                <a:latin typeface="Noto Sans CJK JP"/>
              </a:rPr>
              <a:t>AIの仲間が、伝わった点と足りない点を返す</a:t>
            </a:r>
          </a:p>
        </p:txBody>
      </p:sp>
      <p:sp>
        <p:nvSpPr>
          <p:cNvPr id="100" name="Shape 100"/>
          <p:cNvSpPr/>
          <p:nvPr/>
        </p:nvSpPr>
        <p:spPr>
          <a:xfrm>
            <a:off x="1045528" y="4430000"/>
            <a:ext cx="440000" cy="440000"/>
          </a:xfrm>
          <a:prstGeom prst="roundRect">
            <a:avLst>
              <a:gd name="adj" fmla="val 18000"/>
            </a:avLst>
          </a:prstGeom>
          <a:solidFill>
            <a:srgbClr val="685EA2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01" name="TextBox 101"/>
          <p:cNvSpPr txBox="1"/>
          <p:nvPr/>
        </p:nvSpPr>
        <p:spPr>
          <a:xfrm>
            <a:off x="1045528" y="4430000"/>
            <a:ext cx="440000" cy="4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00" b="1" i="0" dirty="0">
                <a:solidFill>
                  <a:srgbClr val="FFFFFF"/>
                </a:solidFill>
                <a:latin typeface="Noto Sans CJK JP"/>
              </a:rPr>
              <a:t>03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1675528" y="4390000"/>
            <a:ext cx="4150000" cy="36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19243D"/>
                </a:solidFill>
                <a:latin typeface="Noto Sans CJK JP"/>
              </a:rPr>
              <a:t>次の挑戦につながる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1675528" y="4770000"/>
            <a:ext cx="415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696D81"/>
                </a:solidFill>
                <a:latin typeface="Noto Sans CJK JP"/>
              </a:rPr>
              <a:t>できたことを、次の課題に反映する</a:t>
            </a:r>
          </a:p>
        </p:txBody>
      </p:sp>
      <p:sp>
        <p:nvSpPr>
          <p:cNvPr id="110" name="Shape 110"/>
          <p:cNvSpPr/>
          <p:nvPr/>
        </p:nvSpPr>
        <p:spPr>
          <a:xfrm>
            <a:off x="6490000" y="2430000"/>
            <a:ext cx="4640000" cy="820000"/>
          </a:xfrm>
          <a:prstGeom prst="roundRect">
            <a:avLst>
              <a:gd name="adj" fmla="val 12000"/>
            </a:avLst>
          </a:prstGeom>
          <a:solidFill>
            <a:srgbClr val="F3F1EC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11" name="TextBox 111"/>
          <p:cNvSpPr txBox="1"/>
          <p:nvPr/>
        </p:nvSpPr>
        <p:spPr>
          <a:xfrm>
            <a:off x="6670000" y="2430000"/>
            <a:ext cx="1000000" cy="8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50" b="1" i="0" dirty="0">
                <a:solidFill>
                  <a:srgbClr val="888B9B"/>
                </a:solidFill>
                <a:latin typeface="Noto Sans CJK JP"/>
              </a:rPr>
              <a:t>OFF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7720000" y="2520000"/>
            <a:ext cx="330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19243D"/>
                </a:solidFill>
                <a:latin typeface="Noto Sans CJK JP"/>
              </a:rPr>
              <a:t>マイペース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7720000" y="2880000"/>
            <a:ext cx="33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696D81"/>
                </a:solidFill>
                <a:latin typeface="Noto Sans CJK JP"/>
              </a:rPr>
              <a:t>自分のペースで学びに集中</a:t>
            </a:r>
          </a:p>
        </p:txBody>
      </p:sp>
      <p:sp>
        <p:nvSpPr>
          <p:cNvPr id="115" name="Shape 115"/>
          <p:cNvSpPr/>
          <p:nvPr/>
        </p:nvSpPr>
        <p:spPr>
          <a:xfrm>
            <a:off x="6490000" y="3390000"/>
            <a:ext cx="4640000" cy="820000"/>
          </a:xfrm>
          <a:prstGeom prst="roundRect">
            <a:avLst>
              <a:gd name="adj" fmla="val 12000"/>
            </a:avLst>
          </a:prstGeom>
          <a:solidFill>
            <a:srgbClr val="F3F1EC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16" name="TextBox 116"/>
          <p:cNvSpPr txBox="1"/>
          <p:nvPr/>
        </p:nvSpPr>
        <p:spPr>
          <a:xfrm>
            <a:off x="6670000" y="3390000"/>
            <a:ext cx="1000000" cy="8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50" b="1" i="0" dirty="0">
                <a:solidFill>
                  <a:srgbClr val="888B9B"/>
                </a:solidFill>
                <a:latin typeface="Noto Sans CJK JP"/>
              </a:rPr>
              <a:t>CO-OP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7720000" y="3480000"/>
            <a:ext cx="330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19243D"/>
                </a:solidFill>
                <a:latin typeface="Noto Sans CJK JP"/>
              </a:rPr>
              <a:t>協力モード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7720000" y="3840000"/>
            <a:ext cx="33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696D81"/>
                </a:solidFill>
                <a:latin typeface="Noto Sans CJK JP"/>
              </a:rPr>
              <a:t>得意を持ち寄り課題に挑む</a:t>
            </a:r>
          </a:p>
        </p:txBody>
      </p:sp>
      <p:sp>
        <p:nvSpPr>
          <p:cNvPr id="120" name="Shape 120"/>
          <p:cNvSpPr/>
          <p:nvPr/>
        </p:nvSpPr>
        <p:spPr>
          <a:xfrm>
            <a:off x="6490000" y="4350000"/>
            <a:ext cx="4640000" cy="820000"/>
          </a:xfrm>
          <a:prstGeom prst="roundRect">
            <a:avLst>
              <a:gd name="adj" fmla="val 12000"/>
            </a:avLst>
          </a:prstGeom>
          <a:solidFill>
            <a:srgbClr val="FCE7D8"/>
          </a:solidFill>
          <a:ln w="9525">
            <a:solidFill>
              <a:srgbClr val="E97749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21" name="TextBox 121"/>
          <p:cNvSpPr txBox="1"/>
          <p:nvPr/>
        </p:nvSpPr>
        <p:spPr>
          <a:xfrm>
            <a:off x="6670000" y="4350000"/>
            <a:ext cx="1000000" cy="8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50" b="1" i="0" dirty="0">
                <a:solidFill>
                  <a:srgbClr val="E97749"/>
                </a:solidFill>
                <a:latin typeface="Noto Sans CJK JP"/>
              </a:rPr>
              <a:t>RIVAL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7720000" y="4440000"/>
            <a:ext cx="330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19243D"/>
                </a:solidFill>
                <a:latin typeface="Noto Sans CJK JP"/>
              </a:rPr>
              <a:t>ライバルと競争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7720000" y="4800000"/>
            <a:ext cx="33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00" b="0" i="0" dirty="0">
                <a:solidFill>
                  <a:srgbClr val="696D81"/>
                </a:solidFill>
                <a:latin typeface="Noto Sans CJK JP"/>
              </a:rPr>
              <a:t>相手の上達を刺激にする</a:t>
            </a:r>
          </a:p>
        </p:txBody>
      </p:sp>
      <p:sp>
        <p:nvSpPr>
          <p:cNvPr id="130" name="Shape 130"/>
          <p:cNvSpPr/>
          <p:nvPr/>
        </p:nvSpPr>
        <p:spPr>
          <a:xfrm>
            <a:off x="795528" y="5600000"/>
            <a:ext cx="10585000" cy="500000"/>
          </a:xfrm>
          <a:prstGeom prst="roundRect">
            <a:avLst>
              <a:gd name="adj" fmla="val 15000"/>
            </a:avLst>
          </a:prstGeom>
          <a:solidFill>
            <a:srgbClr val="24364D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131" name="TextBox 131"/>
          <p:cNvSpPr txBox="1"/>
          <p:nvPr/>
        </p:nvSpPr>
        <p:spPr>
          <a:xfrm>
            <a:off x="795528" y="5600000"/>
            <a:ext cx="10585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FFFFFF"/>
                </a:solidFill>
                <a:latin typeface="Noto Sans CJK JP"/>
              </a:rPr>
              <a:t>根拠のない「天才！」ではなく、実際の説明に「どこがよかったか」を返す。競争は、いつでも止められる。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8" y="521207"/>
            <a:ext cx="59436" cy="237744"/>
          </a:xfrm>
          <a:prstGeom prst="rect">
            <a:avLst/>
          </a:prstGeom>
          <a:solidFill>
            <a:srgbClr val="8E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98347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EBCF"/>
                </a:solidFill>
                <a:latin typeface="Noto Sans CJK JP"/>
              </a:rPr>
              <a:t>FEASIBILITY  /  技術的な実現可能性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60000"/>
            <a:ext cx="10415016" cy="587853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 dirty="0">
                <a:solidFill>
                  <a:srgbClr val="FFFFFF"/>
                </a:solidFill>
                <a:latin typeface="Noto Sans CJK JP"/>
              </a:rPr>
              <a:t>必要な技術は、もうそろい始めている。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245352"/>
            <a:ext cx="10789920" cy="164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 dirty="0">
                <a:solidFill>
                  <a:srgbClr val="99A1C0"/>
                </a:solidFill>
                <a:latin typeface="Noto Sans CJK JP"/>
              </a:rPr>
              <a:t>出典：Minds公式FAQ／Minds Builder Hub「Minds Connect SDK」／Google DeepMind「Genie 4: A new generation of world simulation」(2026-10-27)</a:t>
            </a:r>
          </a:p>
        </p:txBody>
      </p:sp>
      <p:pic>
        <p:nvPicPr>
          <p:cNvPr id="103" name="Genie 4 demo 01  /  ROBOTICS" descr="Genie 4 demo 01  /  ROBOTICS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3550000" y="4460000"/>
            <a:ext cx="2552000" cy="1435500"/>
          </a:xfrm>
          <a:prstGeom prst="rect">
            <a:avLst/>
          </a:prstGeom>
        </p:spPr>
      </p:pic>
      <p:pic>
        <p:nvPicPr>
          <p:cNvPr id="109" name="Genie 4 demo 02  /  MAGICIAN" descr="Genie 4 demo 02  /  MAGICIAN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6252000" y="4460000"/>
            <a:ext cx="2552000" cy="1435500"/>
          </a:xfrm>
          <a:prstGeom prst="rect">
            <a:avLst/>
          </a:prstGeom>
        </p:spPr>
      </p:pic>
      <p:pic>
        <p:nvPicPr>
          <p:cNvPr id="115" name="Genie 4 demo 03  /  CRANE" descr="Genie 4 demo 03  /  CRANE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954000" y="4460000"/>
            <a:ext cx="2552000" cy="1435500"/>
          </a:xfrm>
          <a:prstGeom prst="rect">
            <a:avLst/>
          </a:prstGeom>
        </p:spPr>
      </p:pic>
      <p:sp>
        <p:nvSpPr>
          <p:cNvPr id="119" name="TextBox 119">
            <a:hlinkClick r:id="rId12"/>
          </p:cNvPr>
          <p:cNvSpPr txBox="1"/>
          <p:nvPr/>
        </p:nvSpPr>
        <p:spPr>
          <a:xfrm>
            <a:off x="7400000" y="6245352"/>
            <a:ext cx="410620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0000"/>
              </a:lnSpc>
            </a:pPr>
            <a:r>
              <a:rPr lang="ja-JP" sz="800" b="0" dirty="0">
                <a:solidFill>
                  <a:srgbClr val="8EEBCF"/>
                </a:solidFill>
                <a:latin typeface="Noto Sans CJK JP"/>
              </a:rPr>
              <a:t>deepmind.google/blog/genie-4 ↗</a:t>
            </a:r>
          </a:p>
        </p:txBody>
      </p:sp>
      <p:sp>
        <p:nvSpPr>
          <p:cNvPr id="500" name="TextBox 500"/>
          <p:cNvSpPr txBox="1"/>
          <p:nvPr/>
        </p:nvSpPr>
        <p:spPr>
          <a:xfrm>
            <a:off x="685800" y="1560000"/>
            <a:ext cx="10820400" cy="3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8EEBCF"/>
                </a:solidFill>
                <a:latin typeface="Noto Sans CJK JP"/>
              </a:rPr>
              <a:t>いま：</a:t>
            </a:r>
            <a:r>
              <a:rPr lang="ja-JP" sz="1300" b="1" i="0" dirty="0">
                <a:solidFill>
                  <a:srgbClr val="EBEEF7"/>
                </a:solidFill>
                <a:latin typeface="Noto Sans CJK JP"/>
              </a:rPr>
              <a:t>Mindsの公開機能を組み合わせ、英語の1場面を2Dの教室で試作</a:t>
            </a:r>
          </a:p>
        </p:txBody>
      </p:sp>
      <p:sp>
        <p:nvSpPr>
          <p:cNvPr id="510" name="Shape 510"/>
          <p:cNvSpPr/>
          <p:nvPr/>
        </p:nvSpPr>
        <p:spPr>
          <a:xfrm>
            <a:off x="685800" y="1950000"/>
            <a:ext cx="2555000" cy="2050000"/>
          </a:xfrm>
          <a:prstGeom prst="roundRect">
            <a:avLst>
              <a:gd name="adj" fmla="val 6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11" name="TextBox 511"/>
          <p:cNvSpPr txBox="1"/>
          <p:nvPr/>
        </p:nvSpPr>
        <p:spPr>
          <a:xfrm>
            <a:off x="835800" y="2080000"/>
            <a:ext cx="2255000" cy="6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自分を覚えて、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次を選ぶ進行役</a:t>
            </a:r>
          </a:p>
        </p:txBody>
      </p:sp>
      <p:sp>
        <p:nvSpPr>
          <p:cNvPr id="512" name="Shape 512"/>
          <p:cNvSpPr/>
          <p:nvPr/>
        </p:nvSpPr>
        <p:spPr>
          <a:xfrm>
            <a:off x="835800" y="2810000"/>
            <a:ext cx="2255000" cy="380000"/>
          </a:xfrm>
          <a:prstGeom prst="roundRect">
            <a:avLst>
              <a:gd name="adj" fmla="val 30000"/>
            </a:avLst>
          </a:prstGeom>
          <a:solidFill>
            <a:srgbClr val="263052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13" name="TextBox 513"/>
          <p:cNvSpPr txBox="1"/>
          <p:nvPr/>
        </p:nvSpPr>
        <p:spPr>
          <a:xfrm>
            <a:off x="835800" y="2810000"/>
            <a:ext cx="2255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1" i="0" dirty="0">
                <a:solidFill>
                  <a:srgbClr val="8EEBCF"/>
                </a:solidFill>
                <a:latin typeface="Noto Sans CJK JP"/>
              </a:rPr>
              <a:t>Mind</a:t>
            </a:r>
          </a:p>
        </p:txBody>
      </p:sp>
      <p:sp>
        <p:nvSpPr>
          <p:cNvPr id="514" name="TextBox 514"/>
          <p:cNvSpPr txBox="1"/>
          <p:nvPr/>
        </p:nvSpPr>
        <p:spPr>
          <a:xfrm>
            <a:off x="835800" y="3290000"/>
            <a:ext cx="2255000" cy="6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長期記憶をもち、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裏側で自律的に動く</a:t>
            </a:r>
          </a:p>
        </p:txBody>
      </p:sp>
      <p:sp>
        <p:nvSpPr>
          <p:cNvPr id="516" name="Shape 516"/>
          <p:cNvSpPr/>
          <p:nvPr/>
        </p:nvSpPr>
        <p:spPr>
          <a:xfrm>
            <a:off x="3440800" y="1950000"/>
            <a:ext cx="2555000" cy="2050000"/>
          </a:xfrm>
          <a:prstGeom prst="roundRect">
            <a:avLst>
              <a:gd name="adj" fmla="val 6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17" name="TextBox 517"/>
          <p:cNvSpPr txBox="1"/>
          <p:nvPr/>
        </p:nvSpPr>
        <p:spPr>
          <a:xfrm>
            <a:off x="3590800" y="2080000"/>
            <a:ext cx="2255000" cy="6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教材→出題→確認→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次回をつなぐ流れ</a:t>
            </a:r>
          </a:p>
        </p:txBody>
      </p:sp>
      <p:sp>
        <p:nvSpPr>
          <p:cNvPr id="518" name="Shape 518"/>
          <p:cNvSpPr/>
          <p:nvPr/>
        </p:nvSpPr>
        <p:spPr>
          <a:xfrm>
            <a:off x="3590800" y="2810000"/>
            <a:ext cx="2255000" cy="380000"/>
          </a:xfrm>
          <a:prstGeom prst="roundRect">
            <a:avLst>
              <a:gd name="adj" fmla="val 30000"/>
            </a:avLst>
          </a:prstGeom>
          <a:solidFill>
            <a:srgbClr val="263052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19" name="TextBox 519"/>
          <p:cNvSpPr txBox="1"/>
          <p:nvPr/>
        </p:nvSpPr>
        <p:spPr>
          <a:xfrm>
            <a:off x="3590800" y="2810000"/>
            <a:ext cx="2255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1" i="0" dirty="0">
                <a:solidFill>
                  <a:srgbClr val="8EEBCF"/>
                </a:solidFill>
                <a:latin typeface="Noto Sans CJK JP"/>
              </a:rPr>
              <a:t>Skill</a:t>
            </a:r>
          </a:p>
        </p:txBody>
      </p:sp>
      <p:sp>
        <p:nvSpPr>
          <p:cNvPr id="520" name="TextBox 520"/>
          <p:cNvSpPr txBox="1"/>
          <p:nvPr/>
        </p:nvSpPr>
        <p:spPr>
          <a:xfrm>
            <a:off x="3590800" y="3290000"/>
            <a:ext cx="2255000" cy="6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手順を決めた一連の流れを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Mindに装着できる</a:t>
            </a:r>
          </a:p>
        </p:txBody>
      </p:sp>
      <p:sp>
        <p:nvSpPr>
          <p:cNvPr id="522" name="Shape 522"/>
          <p:cNvSpPr/>
          <p:nvPr/>
        </p:nvSpPr>
        <p:spPr>
          <a:xfrm>
            <a:off x="6195800" y="1950000"/>
            <a:ext cx="2555000" cy="2050000"/>
          </a:xfrm>
          <a:prstGeom prst="roundRect">
            <a:avLst>
              <a:gd name="adj" fmla="val 6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23" name="TextBox 523"/>
          <p:cNvSpPr txBox="1"/>
          <p:nvPr/>
        </p:nvSpPr>
        <p:spPr>
          <a:xfrm>
            <a:off x="6345800" y="2080000"/>
            <a:ext cx="2255000" cy="6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AIの先生・同級生</a:t>
            </a:r>
          </a:p>
        </p:txBody>
      </p:sp>
      <p:sp>
        <p:nvSpPr>
          <p:cNvPr id="524" name="Shape 524"/>
          <p:cNvSpPr/>
          <p:nvPr/>
        </p:nvSpPr>
        <p:spPr>
          <a:xfrm>
            <a:off x="6345800" y="2810000"/>
            <a:ext cx="2255000" cy="380000"/>
          </a:xfrm>
          <a:prstGeom prst="roundRect">
            <a:avLst>
              <a:gd name="adj" fmla="val 30000"/>
            </a:avLst>
          </a:prstGeom>
          <a:solidFill>
            <a:srgbClr val="263052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25" name="TextBox 525"/>
          <p:cNvSpPr txBox="1"/>
          <p:nvPr/>
        </p:nvSpPr>
        <p:spPr>
          <a:xfrm>
            <a:off x="6345800" y="2810000"/>
            <a:ext cx="2255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1" i="0" dirty="0">
                <a:solidFill>
                  <a:srgbClr val="8EEBCF"/>
                </a:solidFill>
                <a:latin typeface="Noto Sans CJK JP"/>
              </a:rPr>
              <a:t>Circle（複数のMind）</a:t>
            </a:r>
          </a:p>
        </p:txBody>
      </p:sp>
      <p:sp>
        <p:nvSpPr>
          <p:cNvPr id="526" name="TextBox 526"/>
          <p:cNvSpPr txBox="1"/>
          <p:nvPr/>
        </p:nvSpPr>
        <p:spPr>
          <a:xfrm>
            <a:off x="6345800" y="3290000"/>
            <a:ext cx="2255000" cy="6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同じCircleのMind同士が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文脈を共有して協働</a:t>
            </a:r>
          </a:p>
        </p:txBody>
      </p:sp>
      <p:sp>
        <p:nvSpPr>
          <p:cNvPr id="528" name="Shape 528"/>
          <p:cNvSpPr/>
          <p:nvPr/>
        </p:nvSpPr>
        <p:spPr>
          <a:xfrm>
            <a:off x="8950800" y="1950000"/>
            <a:ext cx="2555000" cy="2050000"/>
          </a:xfrm>
          <a:prstGeom prst="roundRect">
            <a:avLst>
              <a:gd name="adj" fmla="val 6000"/>
            </a:avLst>
          </a:prstGeom>
          <a:solidFill>
            <a:srgbClr val="1C2340"/>
          </a:solidFill>
          <a:ln w="9525">
            <a:solidFill>
              <a:srgbClr val="3A4670"/>
            </a:solidFill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29" name="TextBox 529"/>
          <p:cNvSpPr txBox="1"/>
          <p:nvPr/>
        </p:nvSpPr>
        <p:spPr>
          <a:xfrm>
            <a:off x="9100800" y="2080000"/>
            <a:ext cx="2255000" cy="6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STARRINGの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400" b="1" i="0" dirty="0">
                <a:solidFill>
                  <a:srgbClr val="EBEEF7"/>
                </a:solidFill>
                <a:latin typeface="Noto Sans CJK JP"/>
              </a:rPr>
              <a:t>教室画面とつなぐ</a:t>
            </a:r>
          </a:p>
        </p:txBody>
      </p:sp>
      <p:sp>
        <p:nvSpPr>
          <p:cNvPr id="530" name="Shape 530"/>
          <p:cNvSpPr/>
          <p:nvPr/>
        </p:nvSpPr>
        <p:spPr>
          <a:xfrm>
            <a:off x="9100800" y="2810000"/>
            <a:ext cx="2255000" cy="380000"/>
          </a:xfrm>
          <a:prstGeom prst="roundRect">
            <a:avLst>
              <a:gd name="adj" fmla="val 30000"/>
            </a:avLst>
          </a:prstGeom>
          <a:solidFill>
            <a:srgbClr val="263052"/>
          </a:solidFill>
          <a:ln>
            <a:noFill/>
          </a:ln>
        </p:spPr>
        <p:txBody>
          <a:bodyPr anchor="ctr"/>
          <a:lstStyle/>
          <a:p>
            <a:endParaRPr lang="ja-JP"/>
          </a:p>
        </p:txBody>
      </p:sp>
      <p:sp>
        <p:nvSpPr>
          <p:cNvPr id="531" name="TextBox 531"/>
          <p:cNvSpPr txBox="1"/>
          <p:nvPr/>
        </p:nvSpPr>
        <p:spPr>
          <a:xfrm>
            <a:off x="9100800" y="2810000"/>
            <a:ext cx="2255000" cy="3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250" b="1" i="0" dirty="0">
                <a:solidFill>
                  <a:srgbClr val="8EEBCF"/>
                </a:solidFill>
                <a:latin typeface="Noto Sans CJK JP"/>
              </a:rPr>
              <a:t>Minds Connect SDK</a:t>
            </a:r>
          </a:p>
        </p:txBody>
      </p:sp>
      <p:sp>
        <p:nvSpPr>
          <p:cNvPr id="532" name="TextBox 532"/>
          <p:cNvSpPr txBox="1"/>
          <p:nvPr/>
        </p:nvSpPr>
        <p:spPr>
          <a:xfrm>
            <a:off x="9100800" y="3290000"/>
            <a:ext cx="2255000" cy="6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本人の同意で、外部アプリから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50" b="0" i="0" dirty="0">
                <a:solidFill>
                  <a:srgbClr val="A9B0C8"/>
                </a:solidFill>
                <a:latin typeface="Noto Sans CJK JP"/>
              </a:rPr>
              <a:t>会話やスキル装着ができる</a:t>
            </a:r>
          </a:p>
        </p:txBody>
      </p:sp>
      <p:sp>
        <p:nvSpPr>
          <p:cNvPr id="540" name="TextBox 540"/>
          <p:cNvSpPr txBox="1"/>
          <p:nvPr/>
        </p:nvSpPr>
        <p:spPr>
          <a:xfrm>
            <a:off x="685800" y="4100000"/>
            <a:ext cx="10820400" cy="3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F6AF65"/>
                </a:solidFill>
                <a:latin typeface="Noto Sans CJK JP"/>
              </a:rPr>
              <a:t>将来：</a:t>
            </a:r>
            <a:r>
              <a:rPr lang="ja-JP" sz="1300" b="1" i="0" dirty="0">
                <a:solidFill>
                  <a:srgbClr val="EBEEF7"/>
                </a:solidFill>
                <a:latin typeface="Noto Sans CJK JP"/>
              </a:rPr>
              <a:t>ワールドモデルで、教室を「入り込める世界」へ</a:t>
            </a:r>
          </a:p>
        </p:txBody>
      </p:sp>
      <p:sp>
        <p:nvSpPr>
          <p:cNvPr id="541" name="TextBox 541"/>
          <p:cNvSpPr txBox="1"/>
          <p:nvPr/>
        </p:nvSpPr>
        <p:spPr>
          <a:xfrm>
            <a:off x="685800" y="4480000"/>
            <a:ext cx="2700000" cy="1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300" b="1" i="0" dirty="0">
                <a:solidFill>
                  <a:srgbClr val="EBEEF7"/>
                </a:solidFill>
                <a:latin typeface="Noto Sans CJK JP"/>
              </a:rPr>
              <a:t>Genie 4 × Gemini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lang="ja-JP" sz="1150" b="0" i="0" dirty="0">
                <a:solidFill>
                  <a:srgbClr val="EBEEF7"/>
                </a:solidFill>
                <a:latin typeface="Noto Sans CJK JP"/>
              </a:rPr>
              <a:t>文章だけで、動いて探索できる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150" b="0" i="0" dirty="0">
                <a:solidFill>
                  <a:srgbClr val="EBEEF7"/>
                </a:solidFill>
                <a:latin typeface="Noto Sans CJK JP"/>
              </a:rPr>
              <a:t>世界を生成する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lang="ja-JP" sz="950" b="0" i="0" dirty="0">
                <a:solidFill>
                  <a:srgbClr val="A9B0C8"/>
                </a:solidFill>
                <a:latin typeface="Noto Sans CJK JP"/>
              </a:rPr>
              <a:t>Google DeepMind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950" b="0" i="0" dirty="0">
                <a:solidFill>
                  <a:srgbClr val="A9B0C8"/>
                </a:solidFill>
                <a:latin typeface="Noto Sans CJK JP"/>
              </a:rPr>
              <a:t>2026.10.27 発表・研究プレビュー</a:t>
            </a:r>
          </a:p>
        </p:txBody>
      </p:sp>
      <p:sp>
        <p:nvSpPr>
          <p:cNvPr id="545" name="TextBox 545"/>
          <p:cNvSpPr txBox="1"/>
          <p:nvPr/>
        </p:nvSpPr>
        <p:spPr>
          <a:xfrm>
            <a:off x="3550000" y="5925500"/>
            <a:ext cx="2552000" cy="2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00" b="0" i="0" dirty="0">
                <a:solidFill>
                  <a:srgbClr val="A9B0C8"/>
                </a:solidFill>
                <a:latin typeface="Noto Sans CJK JP"/>
              </a:rPr>
              <a:t>ロボット実験の世界</a:t>
            </a:r>
          </a:p>
        </p:txBody>
      </p:sp>
      <p:sp>
        <p:nvSpPr>
          <p:cNvPr id="546" name="TextBox 546"/>
          <p:cNvSpPr txBox="1"/>
          <p:nvPr/>
        </p:nvSpPr>
        <p:spPr>
          <a:xfrm>
            <a:off x="6252000" y="5925500"/>
            <a:ext cx="2552000" cy="2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00" b="0" i="0" dirty="0">
                <a:solidFill>
                  <a:srgbClr val="A9B0C8"/>
                </a:solidFill>
                <a:latin typeface="Noto Sans CJK JP"/>
              </a:rPr>
              <a:t>一人称で歩ける世界</a:t>
            </a:r>
          </a:p>
        </p:txBody>
      </p:sp>
      <p:sp>
        <p:nvSpPr>
          <p:cNvPr id="547" name="TextBox 547"/>
          <p:cNvSpPr txBox="1"/>
          <p:nvPr/>
        </p:nvSpPr>
        <p:spPr>
          <a:xfrm>
            <a:off x="8954000" y="5925500"/>
            <a:ext cx="2552000" cy="2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000" b="0" i="0" dirty="0">
                <a:solidFill>
                  <a:srgbClr val="A9B0C8"/>
                </a:solidFill>
                <a:latin typeface="Noto Sans CJK JP"/>
              </a:rPr>
              <a:t>雪原を歩くカンムリヅル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000" fill="hold"/>
                                        <p:tgtEl>
                                          <p:spTgt spid="10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24000" fill="hold"/>
                                        <p:tgtEl>
                                          <p:spTgt spid="10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5667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103"/>
                </p:tgtEl>
              </p:cMediaNode>
            </p:video>
            <p:video>
              <p:cMediaNode vol="0"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109"/>
                </p:tgtEl>
              </p:cMediaNode>
            </p:video>
            <p:video>
              <p:cMediaNode vol="0" mute="1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-1051560"/>
            <a:ext cx="3931920" cy="3931920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217152" y="-886968"/>
            <a:ext cx="3584448" cy="3584448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64624" y="-722375"/>
            <a:ext cx="3236976" cy="3236976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912096" y="-557783"/>
            <a:ext cx="2889503" cy="2889503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59567" y="-393191"/>
            <a:ext cx="2542032" cy="2542032"/>
          </a:xfrm>
          <a:prstGeom prst="ellipse">
            <a:avLst/>
          </a:prstGeom>
          <a:solidFill>
            <a:srgbClr val="5279BA">
              <a:alpha val="8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8096" y="530352"/>
            <a:ext cx="59436" cy="237744"/>
          </a:xfrm>
          <a:prstGeom prst="rect">
            <a:avLst/>
          </a:prstGeom>
          <a:solidFill>
            <a:srgbClr val="FFA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507491"/>
            <a:ext cx="10332720" cy="27432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FFAA7C"/>
                </a:solidFill>
                <a:latin typeface="Noto Sans CJK JP"/>
              </a:rPr>
              <a:t>STARRING  /  OUR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170432"/>
            <a:ext cx="10671048" cy="130759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" b="1" i="0" dirty="0" err="1">
                <a:solidFill>
                  <a:srgbClr val="FFFFFF"/>
                </a:solidFill>
                <a:latin typeface="Noto Sans CJK JP"/>
              </a:rPr>
              <a:t>集合写真の中から</a:t>
            </a:r>
            <a:r>
              <a:rPr sz="3900" b="1" i="0" dirty="0">
                <a:solidFill>
                  <a:srgbClr val="FFFFFF"/>
                </a:solidFill>
                <a:latin typeface="Noto Sans CJK JP"/>
              </a:rPr>
              <a:t>、
</a:t>
            </a:r>
            <a:r>
              <a:rPr sz="3900" b="1" i="0" dirty="0" err="1">
                <a:solidFill>
                  <a:srgbClr val="FFFFFF"/>
                </a:solidFill>
                <a:latin typeface="Noto Sans CJK JP"/>
              </a:rPr>
              <a:t>自分を探すように</a:t>
            </a:r>
            <a:r>
              <a:rPr sz="3900" b="1" i="0" dirty="0">
                <a:solidFill>
                  <a:srgbClr val="FFFFFF"/>
                </a:solidFill>
                <a:latin typeface="Noto Sans CJK JP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62072"/>
            <a:ext cx="10643616" cy="124358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D47C"/>
                </a:solidFill>
                <a:latin typeface="Noto Sans CJK JP"/>
              </a:rPr>
              <a:t>教材の中にも、
自分自身を見つけられる世界を。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" y="4818888"/>
            <a:ext cx="10469880" cy="758952"/>
          </a:xfrm>
          <a:prstGeom prst="roundRect">
            <a:avLst>
              <a:gd name="adj" fmla="val 8433"/>
            </a:avLst>
          </a:prstGeom>
          <a:solidFill>
            <a:srgbClr val="25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5032343"/>
            <a:ext cx="10149840" cy="295466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r>
              <a:rPr sz="1800" dirty="0" err="1">
                <a:solidFill>
                  <a:schemeClr val="bg1"/>
                </a:solidFill>
                <a:latin typeface="Noto Sans CJK JP"/>
              </a:rPr>
              <a:t>学ぶ。答える。認められる。そして、また自分から挑戦したくなる</a:t>
            </a:r>
            <a:r>
              <a:rPr sz="1800" dirty="0">
                <a:solidFill>
                  <a:schemeClr val="bg1"/>
                </a:solidFill>
                <a:latin typeface="Noto Sans CJK JP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515600" cy="46634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AA7C"/>
                </a:solidFill>
                <a:latin typeface="Noto Sans CJK JP"/>
              </a:rPr>
              <a:t>STARRING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01384"/>
            <a:ext cx="9875520" cy="182880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9A1C0"/>
                </a:solidFill>
                <a:latin typeface="Noto Sans CJK JP"/>
              </a:rPr>
              <a:t>STARRING  /  AIエージェント アイデアソン by Animoca Brands Japan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64808"/>
            <a:ext cx="393192" cy="210312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r"/>
            <a:r>
              <a:rPr sz="900" b="1">
                <a:solidFill>
                  <a:srgbClr val="848D9C"/>
                </a:solidFill>
                <a:latin typeface="Noto Sans CJK JP"/>
              </a:rPr>
              <a:t>11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822960" y="5824728"/>
            <a:ext cx="7400000" cy="4663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sz="1600" b="1" i="0" dirty="0">
                <a:solidFill>
                  <a:srgbClr val="8EEBCF"/>
                </a:solidFill>
                <a:latin typeface="Noto Sans CJK JP"/>
              </a:rPr>
              <a:t>私はこれから、AIと「自分が主役の学び」を続けていく。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1276</Words>
  <Application>Microsoft Macintosh PowerPoint</Application>
  <PresentationFormat>ワイド画面</PresentationFormat>
  <Paragraphs>178</Paragraphs>
  <Slides>13</Slides>
  <Notes>13</Notes>
  <HiddenSlides>0</HiddenSlides>
  <MMClips>3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Noto Sans CJK JP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STARRING｜教材の主語を、「自分」に。</dc:title>
  <dc:subject>Minds Japan Student AI Agent Ideathon 提案資料</dc:subject>
  <dc:creator>渡邉 直也</dc:creator>
  <cp:keywords/>
  <dc:description/>
  <cp:lastModifiedBy>渡邉 直也</cp:lastModifiedBy>
  <cp:revision>7</cp:revision>
  <dcterms:created xsi:type="dcterms:W3CDTF">2013-01-27T09:14:16Z</dcterms:created>
  <dcterms:modified xsi:type="dcterms:W3CDTF">2026-10-30T13:20:55Z</dcterms:modified>
  <cp:category/>
</cp:coreProperties>
</file>