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5" r:id="rId10"/>
    <p:sldId id="266" r:id="rId11"/>
    <p:sldId id="267" r:id="rId12"/>
    <p:sldId id="275" r:id="rId13"/>
    <p:sldId id="270" r:id="rId14"/>
    <p:sldId id="27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snapToObjects="1">
      <p:cViewPr varScale="1">
        <p:scale>
          <a:sx n="119" d="100"/>
          <a:sy n="119" d="100"/>
        </p:scale>
        <p:origin x="50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694642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RINGです。私はTECH.C.でAIを学び、LITALICOワンダーで学習のサポートをしています。学びたい気持ちはあるのに続けるのが苦手な大人に向けて、自分が登場する教材で学び、仮想学校で実際に答え、得意を生かして周囲から認められる学習体験を提案します。</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学びたい気持ちはある。英語や資格の学習が将来役に立つことも分かっている。でも机に長く向かうことや、毎日の習慣化は簡単ではありません。自分自身もそうです。そこで私は、学ぶ意志をさらに強く求めるのではなく、学びに入る体験そのものを変えたいと考えました。</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ここでひとつ質問です。皆さん、集合写真を撮ったとき、まずどこを見ますか。〔2秒ほど間を空ける〕</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そう、自分ですよね。多くの人は集合写真で、まず自分がどこにいるのかを探す。この素朴な行動に、教材の作り方を変えるヒントがあると思いました。</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の問いを約90年前に書いたのがデール・カーネギーです。1936年の『人を動かす』で、集合写真の中で最初に誰を探すかと問いかけています。この問いは厳密な学習効果の実験ではありません。私はここから「自分に自然と向く注意を、学びの入口に変えられないか」という着想を得ました。</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一方、一般的な教材の例文には、自分と関係のない人物や場面が多く登場します。ここを変えます。名前、興味、得意なことを教材に組み込み、自分の物語として眺められるようにする。心理学では関連して自己参照効果が研究されていますが、この企画自体の効果は今後の検証対象です。</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勉強って、自分ごとにならないと、なかなか興味が湧かない部分がありますよね。将来役に立つとは分かっていても、知らない誰かが出てくる例文をただ読むだけでは、自分もやってみたいという気持ちにつながりにくい。だったら、教材の中に自分が登場したらどうでしょう。自分の興味や得意が、学びの場面とつながったら。そこで私が提案するのが、こちらです。</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ちらがSTARRINGです。学びを二つの体験につなぎます。最初は自分の興味や得意を取り込んだ物語で学ぶインプット。次に仮想学校に入り、自分の知識を使って答えたり、ほかの人の理解に貢献したり、ときにはライバルと競ったりするアウトプットです。答える機会をAIが整えても、答えそのものは本人が考えます。</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TPUTです。本人が選んで入った仮想学校の英語の授業。先生が「orbitとはどういう意味？」と問いかけます。少し考え込む同級生もいる。先ほど自分の好きな宇宙を通して学んだ本人は、自力で例を挙げて答えられる。同級生から「宇宙の例で分かった、ありがとう」と返ってくる。先生役は本人が実際に学び、説明できる内容をもとに出番を作ります。ただし全員がいつも答えられないような不自然な演出はしません。ほかの仲間にも異なる得意分野があり、役割が交代します。</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RINGが作りたい承認は、何でも褒めてもらえる仕組みではありません。学んだ内容を自分の言葉で説明できたこと、仲間の理解につながったことに対して、理由のある反応を受け取る。次は別の人が活躍するかもしれない。いつも本人だけが優秀な教室ではなく、強みが違う仲間が互いに認め合う関係を作ります。自信が過大にならないよう、正誤確認や新しい課題での応用も別に確かめます。</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競争は全員に必要なわけではありません。競争が好きな人は、ライバルが少しずつ成長することが挑戦の刺激になるかもしれません。希望者だけがライバルを有効にし、強さも調整できるようにします。相手も具体的な課題を解いて進みますが、休養した日に罰則を与えることはしません。研究でも競争やランキングの効果は設計次第です。だから協力だけ、マイペース、競争ありを選べること自体が重要です。 ライバルは本人と近い到達水準に設定し、無理なく競える範囲で少しずつ成長する。休養日ペナルティと強制通知は設けない。</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科学的根拠です。スポーツなどで知られる相対年齢効果は、周囲との相対的な位置が経験に影響するかもしれないという着想を与えます。ただしそれだけで仮想学校の効果は証明できません。より直接的には、教育心理学の大魚小池効果があります。2018年の33研究・約128万人のメタ分析では、周囲の学業水準と本人の学業的自己概念に負の関連がありました。そして2023年の381人のVR教室実験では、仮想同級生の挙手率を変えただけで、15分後の状況的自己概念に差が生じました。これは長期の自己効力感を証明したものではありません。STARRINGでは能力に見合う出番と具体的な承認が有効か、成人を対象に検証します。出典：Page, Sarkar &amp; Silva-Goncalves (2019), Journal of Economic Behavior &amp; Organization, DOI 10.1016/j.jebo.2019.10.005; Fang et al. (2018), Front Psychol 9:1569, DOI 10.3389/fpsyg.2018.01569; Hasenbein et al. (2023 online / 2024 volume), Instructional Science, DOI 10.1007/s11251-023-09646-4。</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実現可能性の根拠として、2026年10月27日にGoogle DeepMindが発表したGenie 4に注目しています。世界を生成するGenie 4と、映像を観察して手順を計画・検証するGemini 3.8 Flashが循環する構成です。さらにGemini 4 Argonとの組み合わせで、ヒューマノイドがチェッカーをするシミュレーションも公開されています。ただし現在は限定研究プレビューで、STARRINGで自由に利用できる段階ではありません。</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集合写真を見ると自分を探してしまう。その自然な関心を教材に持ち込みたい。自分が登場する物語で学んだあと、仮想学校で得意を使って答え、周囲に認められる。周囲も独自の強みを持ち、協力や競争を選べる。自分から次に挑みたくなる学習環境。それがSTARRINGです。ありがとうございました。</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V0" Type="http://schemas.openxmlformats.org/officeDocument/2006/relationships/video" Target="../media/genie4_r.mp4"/><Relationship Id="rIdM0" Type="http://schemas.microsoft.com/office/2007/relationships/media" Target="../media/genie4_r.mp4"/><Relationship Id="rIdP0" Type="http://schemas.openxmlformats.org/officeDocument/2006/relationships/image" Target="../media/genie4_r_poster.jpg"/><Relationship Id="rIdV1" Type="http://schemas.openxmlformats.org/officeDocument/2006/relationships/video" Target="../media/genie4_m.mp4"/><Relationship Id="rIdM1" Type="http://schemas.microsoft.com/office/2007/relationships/media" Target="../media/genie4_m.mp4"/><Relationship Id="rIdP1" Type="http://schemas.openxmlformats.org/officeDocument/2006/relationships/image" Target="../media/genie4_m_poster.jpg"/><Relationship Id="rIdV2" Type="http://schemas.openxmlformats.org/officeDocument/2006/relationships/video" Target="../media/genie4_c.mp4"/><Relationship Id="rIdM2" Type="http://schemas.microsoft.com/office/2007/relationships/media" Target="../media/genie4_c.mp4"/><Relationship Id="rIdP2" Type="http://schemas.openxmlformats.org/officeDocument/2006/relationships/image" Target="../media/genie4_c_poster.jpg"/><Relationship Id="rIdBlog" Type="http://schemas.openxmlformats.org/officeDocument/2006/relationships/hyperlink" Target="https://deepmind.google/blog/genie-4-a-new-generation-of-world-simulation/"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869680" y="-1051560"/>
            <a:ext cx="3931920" cy="3931920"/>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217152" y="-886968"/>
            <a:ext cx="3584448" cy="3584448"/>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564624" y="-722375"/>
            <a:ext cx="3236976" cy="3236976"/>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912096" y="-557783"/>
            <a:ext cx="2889503" cy="2889503"/>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259567" y="-393191"/>
            <a:ext cx="2542032" cy="2542032"/>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94944" y="475488"/>
            <a:ext cx="59436" cy="237744"/>
          </a:xfrm>
          <a:prstGeom prst="rect">
            <a:avLst/>
          </a:prstGeom>
          <a:solidFill>
            <a:srgbClr val="FFA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452628"/>
            <a:ext cx="10332720" cy="274320"/>
          </a:xfrm>
          <a:prstGeom prst="rect">
            <a:avLst/>
          </a:prstGeom>
          <a:noFill/>
        </p:spPr>
        <p:txBody>
          <a:bodyPr wrap="square" lIns="0" tIns="9144" rIns="0" bIns="9144" anchor="ctr">
            <a:spAutoFit/>
          </a:bodyPr>
          <a:lstStyle/>
          <a:p>
            <a:pPr algn="l">
              <a:spcBef>
                <a:spcPts val="0"/>
              </a:spcBef>
              <a:spcAft>
                <a:spcPts val="0"/>
              </a:spcAft>
            </a:pPr>
            <a:r>
              <a:rPr sz="1100" b="1" i="0">
                <a:solidFill>
                  <a:srgbClr val="FFAA7C"/>
                </a:solidFill>
                <a:latin typeface="Noto Sans CJK JP"/>
              </a:rPr>
              <a:t>[学生限定 / 文系も大歓迎] AIエージェント アイデアソン by Animoca Brands Japan</a:t>
            </a:r>
          </a:p>
        </p:txBody>
      </p:sp>
      <p:sp>
        <p:nvSpPr>
          <p:cNvPr id="10" name="TextBox 9"/>
          <p:cNvSpPr txBox="1"/>
          <p:nvPr/>
        </p:nvSpPr>
        <p:spPr>
          <a:xfrm>
            <a:off x="612648" y="1307592"/>
            <a:ext cx="6629400" cy="960120"/>
          </a:xfrm>
          <a:prstGeom prst="rect">
            <a:avLst/>
          </a:prstGeom>
          <a:noFill/>
        </p:spPr>
        <p:txBody>
          <a:bodyPr wrap="square" lIns="0" tIns="9144" rIns="0" bIns="9144" anchor="ctr">
            <a:spAutoFit/>
          </a:bodyPr>
          <a:lstStyle/>
          <a:p>
            <a:pPr algn="l">
              <a:spcBef>
                <a:spcPts val="0"/>
              </a:spcBef>
              <a:spcAft>
                <a:spcPts val="0"/>
              </a:spcAft>
            </a:pPr>
            <a:r>
              <a:rPr sz="6400" b="1" i="0">
                <a:solidFill>
                  <a:srgbClr val="FFFFFF"/>
                </a:solidFill>
                <a:latin typeface="Noto Sans CJK JP"/>
              </a:rPr>
              <a:t>STARRING</a:t>
            </a:r>
          </a:p>
        </p:txBody>
      </p:sp>
      <p:sp>
        <p:nvSpPr>
          <p:cNvPr id="11" name="TextBox 10"/>
          <p:cNvSpPr txBox="1"/>
          <p:nvPr/>
        </p:nvSpPr>
        <p:spPr>
          <a:xfrm>
            <a:off x="704088" y="2514600"/>
            <a:ext cx="8183879" cy="640080"/>
          </a:xfrm>
          <a:prstGeom prst="rect">
            <a:avLst/>
          </a:prstGeom>
          <a:noFill/>
        </p:spPr>
        <p:txBody>
          <a:bodyPr wrap="square" lIns="0" tIns="9144" rIns="0" bIns="9144" anchor="ctr">
            <a:spAutoFit/>
          </a:bodyPr>
          <a:lstStyle/>
          <a:p>
            <a:pPr algn="l">
              <a:spcBef>
                <a:spcPts val="0"/>
              </a:spcBef>
              <a:spcAft>
                <a:spcPts val="0"/>
              </a:spcAft>
            </a:pPr>
            <a:r>
              <a:rPr sz="3500" b="1" i="0">
                <a:solidFill>
                  <a:srgbClr val="FFD47C"/>
                </a:solidFill>
                <a:latin typeface="Noto Sans CJK JP"/>
              </a:rPr>
              <a:t>教材の主語を、「あなた」に。</a:t>
            </a:r>
          </a:p>
        </p:txBody>
      </p:sp>
      <p:sp>
        <p:nvSpPr>
          <p:cNvPr id="12" name="TextBox 11"/>
          <p:cNvSpPr txBox="1"/>
          <p:nvPr/>
        </p:nvSpPr>
        <p:spPr>
          <a:xfrm>
            <a:off x="722376" y="3393448"/>
            <a:ext cx="7790688" cy="418576"/>
          </a:xfrm>
          <a:prstGeom prst="rect">
            <a:avLst/>
          </a:prstGeom>
          <a:noFill/>
        </p:spPr>
        <p:txBody>
          <a:bodyPr wrap="square" lIns="0" tIns="9144" rIns="0" bIns="9144" anchor="ctr">
            <a:spAutoFit/>
          </a:bodyPr>
          <a:lstStyle/>
          <a:p>
            <a:r>
              <a:rPr sz="2600" dirty="0" err="1">
                <a:solidFill>
                  <a:schemeClr val="bg1"/>
                </a:solidFill>
                <a:latin typeface="Noto Sans CJK JP"/>
              </a:rPr>
              <a:t>物語で学び、仮想学校で自分の出番を見つける</a:t>
            </a:r>
            <a:r>
              <a:rPr sz="2600" dirty="0">
                <a:solidFill>
                  <a:schemeClr val="bg1"/>
                </a:solidFill>
                <a:latin typeface="Noto Sans CJK JP"/>
              </a:rPr>
              <a:t>。</a:t>
            </a:r>
          </a:p>
        </p:txBody>
      </p:sp>
      <p:sp>
        <p:nvSpPr>
          <p:cNvPr id="13" name="Oval 12"/>
          <p:cNvSpPr/>
          <p:nvPr/>
        </p:nvSpPr>
        <p:spPr>
          <a:xfrm>
            <a:off x="8458200" y="1225296"/>
            <a:ext cx="3657600" cy="3657600"/>
          </a:xfrm>
          <a:prstGeom prst="ellipse">
            <a:avLst/>
          </a:prstGeom>
          <a:solidFill>
            <a:srgbClr val="25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755380" y="1522476"/>
            <a:ext cx="3063240" cy="3063240"/>
          </a:xfrm>
          <a:prstGeom prst="ellipse">
            <a:avLst/>
          </a:prstGeom>
          <a:solidFill>
            <a:srgbClr val="383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9006840" y="1773936"/>
            <a:ext cx="2560320" cy="2560320"/>
          </a:xfrm>
          <a:prstGeom prst="ellipse">
            <a:avLst/>
          </a:prstGeom>
          <a:solidFill>
            <a:srgbClr val="535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317736" y="2084832"/>
            <a:ext cx="1938528" cy="1938528"/>
          </a:xfrm>
          <a:prstGeom prst="ellipse">
            <a:avLst/>
          </a:prstGeom>
          <a:solidFill>
            <a:srgbClr val="747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614916" y="2382012"/>
            <a:ext cx="1344168" cy="1344168"/>
          </a:xfrm>
          <a:prstGeom prst="ellipse">
            <a:avLst/>
          </a:prstGeom>
          <a:solidFill>
            <a:srgbClr val="A5A1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665208" y="3035808"/>
            <a:ext cx="493776" cy="493776"/>
          </a:xfrm>
          <a:prstGeom prst="ellipse">
            <a:avLst/>
          </a:prstGeom>
          <a:solidFill>
            <a:srgbClr val="FFA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610344" y="3520440"/>
            <a:ext cx="667512" cy="685800"/>
          </a:xfrm>
          <a:prstGeom prst="roundRect">
            <a:avLst>
              <a:gd name="adj" fmla="val 10273"/>
            </a:avLst>
          </a:prstGeom>
          <a:solidFill>
            <a:srgbClr val="FFA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1793012" y="4011011"/>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1269980" y="4340168"/>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628385" y="4515309"/>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945614" y="4515309"/>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304020" y="4340168"/>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780987" y="4011011"/>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439601" y="3567538"/>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321040" y="3063240"/>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439601" y="2558941"/>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780987" y="2115468"/>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9304019" y="1786311"/>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9945614" y="1611170"/>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628385" y="1611170"/>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1269980" y="1786311"/>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1793012" y="2115468"/>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94944" y="4965192"/>
            <a:ext cx="6565392" cy="713232"/>
          </a:xfrm>
          <a:prstGeom prst="roundRect">
            <a:avLst>
              <a:gd name="adj" fmla="val 10897"/>
            </a:avLst>
          </a:prstGeom>
          <a:solidFill>
            <a:srgbClr val="25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50976" y="5184648"/>
            <a:ext cx="6300216" cy="256032"/>
          </a:xfrm>
          <a:prstGeom prst="rect">
            <a:avLst/>
          </a:prstGeom>
          <a:noFill/>
        </p:spPr>
        <p:txBody>
          <a:bodyPr wrap="square" lIns="0" tIns="9144" rIns="0" bIns="9144" anchor="ctr">
            <a:spAutoFit/>
          </a:bodyPr>
          <a:lstStyle/>
          <a:p>
            <a:pPr algn="l">
              <a:spcBef>
                <a:spcPts val="0"/>
              </a:spcBef>
              <a:spcAft>
                <a:spcPts val="0"/>
              </a:spcAft>
            </a:pPr>
            <a:r>
              <a:rPr sz="1500" b="0" i="0">
                <a:solidFill>
                  <a:srgbClr val="FFFFFF"/>
                </a:solidFill>
                <a:latin typeface="Noto Sans CJK JP"/>
              </a:rPr>
              <a:t>渡邉 直也  |  TECH.C. AI専攻 / LITALICOワンダー 学習サポート</a:t>
            </a:r>
          </a:p>
        </p:txBody>
      </p:sp>
      <p:sp>
        <p:nvSpPr>
          <p:cNvPr id="37" name="TextBox 36"/>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99A1C0"/>
                </a:solidFill>
                <a:latin typeface="Noto Sans CJK JP"/>
              </a:rPr>
              <a:t>STARRING  /  AIエージェント アイデアソン by Animoca Brands Japan</a:t>
            </a:r>
          </a:p>
        </p:txBody>
      </p:sp>
      <p:sp>
        <p:nvSpPr>
          <p:cNvPr id="38" name="TextBox 37"/>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85800" y="475488"/>
            <a:ext cx="59436" cy="237744"/>
          </a:xfrm>
          <a:prstGeom prst="rect">
            <a:avLst/>
          </a:prstGeom>
          <a:solidFill>
            <a:srgbClr val="E97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50392" y="452628"/>
            <a:ext cx="10332720" cy="274320"/>
          </a:xfrm>
          <a:prstGeom prst="rect">
            <a:avLst/>
          </a:prstGeom>
          <a:noFill/>
        </p:spPr>
        <p:txBody>
          <a:bodyPr wrap="square" lIns="0" tIns="9144" rIns="0" bIns="9144" anchor="ctr">
            <a:spAutoFit/>
          </a:bodyPr>
          <a:lstStyle/>
          <a:p>
            <a:pPr algn="l">
              <a:spcBef>
                <a:spcPts val="0"/>
              </a:spcBef>
              <a:spcAft>
                <a:spcPts val="0"/>
              </a:spcAft>
            </a:pPr>
            <a:r>
              <a:rPr sz="1200" b="1" i="0">
                <a:solidFill>
                  <a:srgbClr val="E97749"/>
                </a:solidFill>
                <a:latin typeface="Noto Sans CJK JP"/>
              </a:rPr>
              <a:t>THE PROBLEM</a:t>
            </a:r>
          </a:p>
        </p:txBody>
      </p:sp>
      <p:sp>
        <p:nvSpPr>
          <p:cNvPr id="5" name="TextBox 4"/>
          <p:cNvSpPr txBox="1"/>
          <p:nvPr/>
        </p:nvSpPr>
        <p:spPr>
          <a:xfrm>
            <a:off x="713232" y="1170432"/>
            <a:ext cx="9509760" cy="1572768"/>
          </a:xfrm>
          <a:prstGeom prst="rect">
            <a:avLst/>
          </a:prstGeom>
          <a:noFill/>
        </p:spPr>
        <p:txBody>
          <a:bodyPr wrap="square" lIns="0" tIns="9144" rIns="0" bIns="9144" anchor="ctr">
            <a:spAutoFit/>
          </a:bodyPr>
          <a:lstStyle/>
          <a:p>
            <a:pPr algn="l">
              <a:spcBef>
                <a:spcPts val="0"/>
              </a:spcBef>
              <a:spcAft>
                <a:spcPts val="0"/>
              </a:spcAft>
            </a:pPr>
            <a:r>
              <a:rPr sz="4200" b="1" i="0">
                <a:solidFill>
                  <a:srgbClr val="20243B"/>
                </a:solidFill>
                <a:latin typeface="Noto Sans CJK JP"/>
              </a:rPr>
              <a:t>学びたい。
でも、続けるのは難しい。</a:t>
            </a:r>
          </a:p>
        </p:txBody>
      </p:sp>
      <p:sp>
        <p:nvSpPr>
          <p:cNvPr id="6" name="TextBox 5"/>
          <p:cNvSpPr txBox="1"/>
          <p:nvPr/>
        </p:nvSpPr>
        <p:spPr>
          <a:xfrm>
            <a:off x="758952" y="3063240"/>
            <a:ext cx="10698480" cy="1033271"/>
          </a:xfrm>
          <a:prstGeom prst="rect">
            <a:avLst/>
          </a:prstGeom>
          <a:noFill/>
        </p:spPr>
        <p:txBody>
          <a:bodyPr wrap="square" lIns="0" tIns="9144" rIns="0" bIns="9144" anchor="ctr">
            <a:spAutoFit/>
          </a:bodyPr>
          <a:lstStyle/>
          <a:p>
            <a:pPr algn="l">
              <a:spcBef>
                <a:spcPts val="0"/>
              </a:spcBef>
              <a:spcAft>
                <a:spcPts val="0"/>
              </a:spcAft>
            </a:pPr>
            <a:r>
              <a:rPr sz="2200" b="0" i="0">
                <a:solidFill>
                  <a:srgbClr val="696D81"/>
                </a:solidFill>
                <a:latin typeface="Noto Sans CJK JP"/>
              </a:rPr>
              <a:t>学ぶ価値を理解している大人でも、机に長時間向かうことや、
学習を習慣にすることが苦手な人はいる。私自身も、その一人です。</a:t>
            </a:r>
          </a:p>
        </p:txBody>
      </p:sp>
      <p:sp>
        <p:nvSpPr>
          <p:cNvPr id="7" name="Rounded Rectangle 6"/>
          <p:cNvSpPr/>
          <p:nvPr/>
        </p:nvSpPr>
        <p:spPr>
          <a:xfrm>
            <a:off x="768096" y="4745736"/>
            <a:ext cx="3410712" cy="777240"/>
          </a:xfrm>
          <a:prstGeom prst="roundRect">
            <a:avLst>
              <a:gd name="adj" fmla="val 11764"/>
            </a:avLst>
          </a:prstGeom>
          <a:solidFill>
            <a:srgbClr val="25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9264" y="4937760"/>
            <a:ext cx="2990088" cy="365760"/>
          </a:xfrm>
          <a:prstGeom prst="rect">
            <a:avLst/>
          </a:prstGeom>
          <a:noFill/>
        </p:spPr>
        <p:txBody>
          <a:bodyPr wrap="square" lIns="0" tIns="9144" rIns="0" bIns="9144" anchor="ctr">
            <a:spAutoFit/>
          </a:bodyPr>
          <a:lstStyle/>
          <a:p>
            <a:pPr algn="ctr">
              <a:spcBef>
                <a:spcPts val="0"/>
              </a:spcBef>
              <a:spcAft>
                <a:spcPts val="0"/>
              </a:spcAft>
            </a:pPr>
            <a:r>
              <a:rPr sz="2000" b="1" i="0">
                <a:solidFill>
                  <a:srgbClr val="FFFFFF"/>
                </a:solidFill>
                <a:latin typeface="Noto Sans CJK JP"/>
              </a:rPr>
              <a:t>目標はある</a:t>
            </a:r>
          </a:p>
        </p:txBody>
      </p:sp>
      <p:sp>
        <p:nvSpPr>
          <p:cNvPr id="9" name="TextBox 8"/>
          <p:cNvSpPr txBox="1"/>
          <p:nvPr/>
        </p:nvSpPr>
        <p:spPr>
          <a:xfrm>
            <a:off x="4215384" y="4910328"/>
            <a:ext cx="365760" cy="365760"/>
          </a:xfrm>
          <a:prstGeom prst="rect">
            <a:avLst/>
          </a:prstGeom>
          <a:noFill/>
        </p:spPr>
        <p:txBody>
          <a:bodyPr wrap="square" lIns="0" tIns="9144" rIns="0" bIns="9144" anchor="ctr">
            <a:spAutoFit/>
          </a:bodyPr>
          <a:lstStyle/>
          <a:p>
            <a:pPr algn="ctr">
              <a:spcBef>
                <a:spcPts val="0"/>
              </a:spcBef>
              <a:spcAft>
                <a:spcPts val="0"/>
              </a:spcAft>
            </a:pPr>
            <a:r>
              <a:rPr sz="2300" b="1" i="0">
                <a:solidFill>
                  <a:srgbClr val="E97749"/>
                </a:solidFill>
                <a:latin typeface="Noto Sans CJK JP"/>
              </a:rPr>
              <a:t>→</a:t>
            </a:r>
          </a:p>
        </p:txBody>
      </p:sp>
      <p:sp>
        <p:nvSpPr>
          <p:cNvPr id="10" name="Rounded Rectangle 9"/>
          <p:cNvSpPr/>
          <p:nvPr/>
        </p:nvSpPr>
        <p:spPr>
          <a:xfrm>
            <a:off x="4608576" y="4745736"/>
            <a:ext cx="3410712" cy="777240"/>
          </a:xfrm>
          <a:prstGeom prst="roundRect">
            <a:avLst>
              <a:gd name="adj" fmla="val 11764"/>
            </a:avLst>
          </a:prstGeom>
          <a:solidFill>
            <a:srgbClr val="25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09744" y="4937760"/>
            <a:ext cx="2990088" cy="365760"/>
          </a:xfrm>
          <a:prstGeom prst="rect">
            <a:avLst/>
          </a:prstGeom>
          <a:noFill/>
        </p:spPr>
        <p:txBody>
          <a:bodyPr wrap="square" lIns="0" tIns="9144" rIns="0" bIns="9144" anchor="ctr">
            <a:spAutoFit/>
          </a:bodyPr>
          <a:lstStyle/>
          <a:p>
            <a:pPr algn="ctr">
              <a:spcBef>
                <a:spcPts val="0"/>
              </a:spcBef>
              <a:spcAft>
                <a:spcPts val="0"/>
              </a:spcAft>
            </a:pPr>
            <a:r>
              <a:rPr sz="2000" b="1" i="0">
                <a:solidFill>
                  <a:srgbClr val="FFFFFF"/>
                </a:solidFill>
                <a:latin typeface="Noto Sans CJK JP"/>
              </a:rPr>
              <a:t>入口が重い</a:t>
            </a:r>
          </a:p>
        </p:txBody>
      </p:sp>
      <p:sp>
        <p:nvSpPr>
          <p:cNvPr id="12" name="TextBox 11"/>
          <p:cNvSpPr txBox="1"/>
          <p:nvPr/>
        </p:nvSpPr>
        <p:spPr>
          <a:xfrm>
            <a:off x="8055864" y="4910328"/>
            <a:ext cx="365760" cy="365760"/>
          </a:xfrm>
          <a:prstGeom prst="rect">
            <a:avLst/>
          </a:prstGeom>
          <a:noFill/>
        </p:spPr>
        <p:txBody>
          <a:bodyPr wrap="square" lIns="0" tIns="9144" rIns="0" bIns="9144" anchor="ctr">
            <a:spAutoFit/>
          </a:bodyPr>
          <a:lstStyle/>
          <a:p>
            <a:pPr algn="ctr">
              <a:spcBef>
                <a:spcPts val="0"/>
              </a:spcBef>
              <a:spcAft>
                <a:spcPts val="0"/>
              </a:spcAft>
            </a:pPr>
            <a:r>
              <a:rPr sz="2300" b="1" i="0">
                <a:solidFill>
                  <a:srgbClr val="E97749"/>
                </a:solidFill>
                <a:latin typeface="Noto Sans CJK JP"/>
              </a:rPr>
              <a:t>→</a:t>
            </a:r>
          </a:p>
        </p:txBody>
      </p:sp>
      <p:sp>
        <p:nvSpPr>
          <p:cNvPr id="13" name="Rounded Rectangle 12"/>
          <p:cNvSpPr/>
          <p:nvPr/>
        </p:nvSpPr>
        <p:spPr>
          <a:xfrm>
            <a:off x="8449056" y="4745736"/>
            <a:ext cx="3410712" cy="777240"/>
          </a:xfrm>
          <a:prstGeom prst="roundRect">
            <a:avLst>
              <a:gd name="adj" fmla="val 11764"/>
            </a:avLst>
          </a:prstGeom>
          <a:solidFill>
            <a:srgbClr val="E97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50224" y="4937760"/>
            <a:ext cx="2990088" cy="365760"/>
          </a:xfrm>
          <a:prstGeom prst="rect">
            <a:avLst/>
          </a:prstGeom>
          <a:noFill/>
        </p:spPr>
        <p:txBody>
          <a:bodyPr wrap="square" lIns="0" tIns="9144" rIns="0" bIns="9144" anchor="ctr">
            <a:spAutoFit/>
          </a:bodyPr>
          <a:lstStyle/>
          <a:p>
            <a:pPr algn="ctr">
              <a:spcBef>
                <a:spcPts val="0"/>
              </a:spcBef>
              <a:spcAft>
                <a:spcPts val="0"/>
              </a:spcAft>
            </a:pPr>
            <a:r>
              <a:rPr sz="2000" b="1" i="0">
                <a:solidFill>
                  <a:srgbClr val="FFFFFF"/>
                </a:solidFill>
                <a:latin typeface="Noto Sans CJK JP"/>
              </a:rPr>
              <a:t>だから続かない</a:t>
            </a:r>
          </a:p>
        </p:txBody>
      </p:sp>
      <p:sp>
        <p:nvSpPr>
          <p:cNvPr id="15" name="TextBox 14"/>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888B9B"/>
                </a:solidFill>
                <a:latin typeface="Noto Sans CJK JP"/>
              </a:rPr>
              <a:t>STARRING  /  AIエージェント アイデアソン by Animoca Brands Japan</a:t>
            </a:r>
          </a:p>
        </p:txBody>
      </p:sp>
      <p:sp>
        <p:nvSpPr>
          <p:cNvPr id="16" name="TextBox 15"/>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77240" y="566928"/>
            <a:ext cx="59436" cy="237744"/>
          </a:xfrm>
          <a:prstGeom prst="rect">
            <a:avLst/>
          </a:prstGeom>
          <a:solidFill>
            <a:srgbClr val="FFA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41832" y="544068"/>
            <a:ext cx="10332720" cy="274320"/>
          </a:xfrm>
          <a:prstGeom prst="rect">
            <a:avLst/>
          </a:prstGeom>
          <a:noFill/>
        </p:spPr>
        <p:txBody>
          <a:bodyPr wrap="square" lIns="0" tIns="9144" rIns="0" bIns="9144" anchor="ctr">
            <a:spAutoFit/>
          </a:bodyPr>
          <a:lstStyle/>
          <a:p>
            <a:pPr algn="l">
              <a:spcBef>
                <a:spcPts val="0"/>
              </a:spcBef>
              <a:spcAft>
                <a:spcPts val="0"/>
              </a:spcAft>
            </a:pPr>
            <a:r>
              <a:rPr sz="1200" b="1" i="0">
                <a:solidFill>
                  <a:srgbClr val="FFAA7C"/>
                </a:solidFill>
                <a:latin typeface="Noto Sans CJK JP"/>
              </a:rPr>
              <a:t>ひとつ、質問です</a:t>
            </a:r>
          </a:p>
        </p:txBody>
      </p:sp>
      <p:sp>
        <p:nvSpPr>
          <p:cNvPr id="5" name="TextBox 4"/>
          <p:cNvSpPr txBox="1"/>
          <p:nvPr/>
        </p:nvSpPr>
        <p:spPr>
          <a:xfrm>
            <a:off x="722376" y="1115568"/>
            <a:ext cx="10698480" cy="1536192"/>
          </a:xfrm>
          <a:prstGeom prst="rect">
            <a:avLst/>
          </a:prstGeom>
          <a:noFill/>
        </p:spPr>
        <p:txBody>
          <a:bodyPr wrap="square" lIns="0" tIns="9144" rIns="0" bIns="9144" anchor="ctr">
            <a:spAutoFit/>
          </a:bodyPr>
          <a:lstStyle/>
          <a:p>
            <a:pPr algn="ctr">
              <a:spcBef>
                <a:spcPts val="0"/>
              </a:spcBef>
              <a:spcAft>
                <a:spcPts val="0"/>
              </a:spcAft>
            </a:pPr>
            <a:r>
              <a:rPr sz="3900" b="1" i="0">
                <a:solidFill>
                  <a:srgbClr val="FFFFFF"/>
                </a:solidFill>
                <a:latin typeface="Noto Sans CJK JP"/>
              </a:rPr>
              <a:t>みなさん、集合写真を撮ったとき、
まずどこを見ますか？</a:t>
            </a:r>
          </a:p>
        </p:txBody>
      </p:sp>
      <p:pic>
        <p:nvPicPr>
          <p:cNvPr id="6" name="Picture 5" descr="asset_original_slide2_2.png"/>
          <p:cNvPicPr>
            <a:picLocks noChangeAspect="1"/>
          </p:cNvPicPr>
          <p:nvPr/>
        </p:nvPicPr>
        <p:blipFill>
          <a:blip r:embed="rId3"/>
          <a:stretch>
            <a:fillRect/>
          </a:stretch>
        </p:blipFill>
        <p:spPr>
          <a:xfrm>
            <a:off x="1883664" y="3154680"/>
            <a:ext cx="8458200" cy="2395728"/>
          </a:xfrm>
          <a:prstGeom prst="rect">
            <a:avLst/>
          </a:prstGeom>
        </p:spPr>
      </p:pic>
      <p:sp>
        <p:nvSpPr>
          <p:cNvPr id="7" name="TextBox 6"/>
          <p:cNvSpPr txBox="1"/>
          <p:nvPr/>
        </p:nvSpPr>
        <p:spPr>
          <a:xfrm>
            <a:off x="4023360" y="5806440"/>
            <a:ext cx="4151376" cy="283464"/>
          </a:xfrm>
          <a:prstGeom prst="rect">
            <a:avLst/>
          </a:prstGeom>
          <a:noFill/>
        </p:spPr>
        <p:txBody>
          <a:bodyPr wrap="square" lIns="0" tIns="9144" rIns="0" bIns="9144" anchor="ctr">
            <a:spAutoFit/>
          </a:bodyPr>
          <a:lstStyle/>
          <a:p>
            <a:pPr algn="ctr">
              <a:spcBef>
                <a:spcPts val="0"/>
              </a:spcBef>
              <a:spcAft>
                <a:spcPts val="0"/>
              </a:spcAft>
            </a:pPr>
            <a:r>
              <a:rPr sz="1600" b="0" i="0">
                <a:solidFill>
                  <a:srgbClr val="A6B0CB"/>
                </a:solidFill>
                <a:latin typeface="Noto Sans CJK JP"/>
              </a:rPr>
              <a:t>（2秒、考えてください）</a:t>
            </a:r>
          </a:p>
        </p:txBody>
      </p:sp>
      <p:sp>
        <p:nvSpPr>
          <p:cNvPr id="8" name="TextBox 7"/>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99A1C0"/>
                </a:solidFill>
                <a:latin typeface="Noto Sans CJK JP"/>
              </a:rPr>
              <a:t>STARRING  /  AIエージェント アイデアソン by Animoca Brands Japan</a:t>
            </a:r>
          </a:p>
        </p:txBody>
      </p:sp>
      <p:sp>
        <p:nvSpPr>
          <p:cNvPr id="9" name="TextBox 8"/>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03</a:t>
            </a:r>
          </a:p>
        </p:txBody>
      </p:sp>
      <p:pic>
        <p:nvPicPr>
          <p:cNvPr id="10" name="図 9">
            <a:extLst>
              <a:ext uri="{FF2B5EF4-FFF2-40B4-BE49-F238E27FC236}">
                <a16:creationId xmlns:a16="http://schemas.microsoft.com/office/drawing/2014/main" id="{5C70A95A-A715-EE76-6C65-CF64CF6F07FA}"/>
              </a:ext>
            </a:extLst>
          </p:cNvPr>
          <p:cNvPicPr>
            <a:picLocks noChangeAspect="1"/>
          </p:cNvPicPr>
          <p:nvPr/>
        </p:nvPicPr>
        <p:blipFill>
          <a:blip r:embed="rId4"/>
          <a:stretch>
            <a:fillRect/>
          </a:stretch>
        </p:blipFill>
        <p:spPr>
          <a:xfrm>
            <a:off x="33833" y="20844"/>
            <a:ext cx="12161410" cy="68371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58952" y="566928"/>
            <a:ext cx="59436" cy="237744"/>
          </a:xfrm>
          <a:prstGeom prst="rect">
            <a:avLst/>
          </a:prstGeom>
          <a:solidFill>
            <a:srgbClr val="FFA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23544" y="544068"/>
            <a:ext cx="10332720" cy="274320"/>
          </a:xfrm>
          <a:prstGeom prst="rect">
            <a:avLst/>
          </a:prstGeom>
          <a:noFill/>
        </p:spPr>
        <p:txBody>
          <a:bodyPr wrap="square" lIns="0" tIns="9144" rIns="0" bIns="9144" anchor="ctr">
            <a:spAutoFit/>
          </a:bodyPr>
          <a:lstStyle/>
          <a:p>
            <a:pPr algn="l">
              <a:spcBef>
                <a:spcPts val="0"/>
              </a:spcBef>
              <a:spcAft>
                <a:spcPts val="0"/>
              </a:spcAft>
            </a:pPr>
            <a:r>
              <a:rPr sz="1200" b="1" i="0">
                <a:solidFill>
                  <a:srgbClr val="FFAA7C"/>
                </a:solidFill>
                <a:latin typeface="Noto Sans CJK JP"/>
              </a:rPr>
              <a:t>THE ANSWER</a:t>
            </a:r>
          </a:p>
        </p:txBody>
      </p:sp>
      <p:sp>
        <p:nvSpPr>
          <p:cNvPr id="5" name="TextBox 4"/>
          <p:cNvSpPr txBox="1"/>
          <p:nvPr/>
        </p:nvSpPr>
        <p:spPr>
          <a:xfrm>
            <a:off x="914400" y="1161288"/>
            <a:ext cx="10424160" cy="960120"/>
          </a:xfrm>
          <a:prstGeom prst="rect">
            <a:avLst/>
          </a:prstGeom>
          <a:noFill/>
        </p:spPr>
        <p:txBody>
          <a:bodyPr wrap="square" lIns="0" tIns="9144" rIns="0" bIns="9144" anchor="ctr">
            <a:spAutoFit/>
          </a:bodyPr>
          <a:lstStyle/>
          <a:p>
            <a:pPr algn="ctr">
              <a:spcBef>
                <a:spcPts val="0"/>
              </a:spcBef>
              <a:spcAft>
                <a:spcPts val="0"/>
              </a:spcAft>
            </a:pPr>
            <a:r>
              <a:rPr sz="5200" b="1" i="0">
                <a:solidFill>
                  <a:srgbClr val="FFD47C"/>
                </a:solidFill>
                <a:latin typeface="Noto Sans CJK JP"/>
              </a:rPr>
              <a:t>「自分」ですよね。</a:t>
            </a:r>
          </a:p>
        </p:txBody>
      </p:sp>
      <p:pic>
        <p:nvPicPr>
          <p:cNvPr id="6" name="Picture 5" descr="asset_original_slide2_2.png"/>
          <p:cNvPicPr>
            <a:picLocks noChangeAspect="1"/>
          </p:cNvPicPr>
          <p:nvPr/>
        </p:nvPicPr>
        <p:blipFill>
          <a:blip r:embed="rId3"/>
          <a:stretch>
            <a:fillRect/>
          </a:stretch>
        </p:blipFill>
        <p:spPr>
          <a:xfrm>
            <a:off x="1874519" y="2843784"/>
            <a:ext cx="8458200" cy="2395728"/>
          </a:xfrm>
          <a:prstGeom prst="rect">
            <a:avLst/>
          </a:prstGeom>
        </p:spPr>
      </p:pic>
      <p:sp>
        <p:nvSpPr>
          <p:cNvPr id="7" name="TextBox 6"/>
          <p:cNvSpPr txBox="1"/>
          <p:nvPr/>
        </p:nvSpPr>
        <p:spPr>
          <a:xfrm>
            <a:off x="2103120" y="5724144"/>
            <a:ext cx="7946136" cy="420624"/>
          </a:xfrm>
          <a:prstGeom prst="rect">
            <a:avLst/>
          </a:prstGeom>
          <a:noFill/>
        </p:spPr>
        <p:txBody>
          <a:bodyPr wrap="square" lIns="0" tIns="9144" rIns="0" bIns="9144" anchor="ctr">
            <a:spAutoFit/>
          </a:bodyPr>
          <a:lstStyle/>
          <a:p>
            <a:pPr algn="ctr">
              <a:spcBef>
                <a:spcPts val="0"/>
              </a:spcBef>
              <a:spcAft>
                <a:spcPts val="0"/>
              </a:spcAft>
            </a:pPr>
            <a:r>
              <a:rPr sz="2200" b="0" i="0">
                <a:solidFill>
                  <a:srgbClr val="FFFFFF"/>
                </a:solidFill>
                <a:latin typeface="Noto Sans CJK JP"/>
              </a:rPr>
              <a:t>探そうとする前に、自分が気になる。</a:t>
            </a:r>
          </a:p>
        </p:txBody>
      </p:sp>
      <p:sp>
        <p:nvSpPr>
          <p:cNvPr id="8" name="TextBox 7"/>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99A1C0"/>
                </a:solidFill>
                <a:latin typeface="Noto Sans CJK JP"/>
              </a:rPr>
              <a:t>STARRING  /  AIエージェント アイデアソン by Animoca Brands Japan</a:t>
            </a:r>
          </a:p>
        </p:txBody>
      </p:sp>
      <p:sp>
        <p:nvSpPr>
          <p:cNvPr id="9" name="TextBox 8"/>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85800" y="475488"/>
            <a:ext cx="59436" cy="237744"/>
          </a:xfrm>
          <a:prstGeom prst="rect">
            <a:avLst/>
          </a:prstGeom>
          <a:solidFill>
            <a:srgbClr val="E97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50392" y="452628"/>
            <a:ext cx="10332720" cy="274320"/>
          </a:xfrm>
          <a:prstGeom prst="rect">
            <a:avLst/>
          </a:prstGeom>
          <a:noFill/>
        </p:spPr>
        <p:txBody>
          <a:bodyPr wrap="square" lIns="0" tIns="9144" rIns="0" bIns="9144" anchor="ctr">
            <a:spAutoFit/>
          </a:bodyPr>
          <a:lstStyle/>
          <a:p>
            <a:pPr algn="l">
              <a:spcBef>
                <a:spcPts val="0"/>
              </a:spcBef>
              <a:spcAft>
                <a:spcPts val="0"/>
              </a:spcAft>
            </a:pPr>
            <a:r>
              <a:rPr sz="1200" b="1" i="0">
                <a:solidFill>
                  <a:srgbClr val="E97749"/>
                </a:solidFill>
                <a:latin typeface="Noto Sans CJK JP"/>
              </a:rPr>
              <a:t>DALE CARNEGIE  /  1936</a:t>
            </a:r>
          </a:p>
        </p:txBody>
      </p:sp>
      <p:sp>
        <p:nvSpPr>
          <p:cNvPr id="5" name="TextBox 4"/>
          <p:cNvSpPr txBox="1"/>
          <p:nvPr/>
        </p:nvSpPr>
        <p:spPr>
          <a:xfrm>
            <a:off x="731520" y="896112"/>
            <a:ext cx="10744200" cy="658368"/>
          </a:xfrm>
          <a:prstGeom prst="rect">
            <a:avLst/>
          </a:prstGeom>
          <a:noFill/>
        </p:spPr>
        <p:txBody>
          <a:bodyPr wrap="square" lIns="0" tIns="9144" rIns="0" bIns="9144" anchor="ctr">
            <a:spAutoFit/>
          </a:bodyPr>
          <a:lstStyle/>
          <a:p>
            <a:pPr algn="l">
              <a:spcBef>
                <a:spcPts val="0"/>
              </a:spcBef>
              <a:spcAft>
                <a:spcPts val="0"/>
              </a:spcAft>
            </a:pPr>
            <a:r>
              <a:rPr sz="3100" b="1" i="0">
                <a:solidFill>
                  <a:srgbClr val="20243B"/>
                </a:solidFill>
                <a:latin typeface="Noto Sans CJK JP"/>
              </a:rPr>
              <a:t>この問いは、約90年前に書かれていた。</a:t>
            </a:r>
          </a:p>
        </p:txBody>
      </p:sp>
      <p:pic>
        <p:nvPicPr>
          <p:cNvPr id="6" name="Picture 5" descr="image.jpg"/>
          <p:cNvPicPr>
            <a:picLocks noChangeAspect="1"/>
          </p:cNvPicPr>
          <p:nvPr/>
        </p:nvPicPr>
        <p:blipFill>
          <a:blip r:embed="rId3"/>
          <a:stretch>
            <a:fillRect/>
          </a:stretch>
        </p:blipFill>
        <p:spPr>
          <a:xfrm>
            <a:off x="777240" y="1938528"/>
            <a:ext cx="2084831" cy="2889504"/>
          </a:xfrm>
          <a:prstGeom prst="rect">
            <a:avLst/>
          </a:prstGeom>
        </p:spPr>
      </p:pic>
      <p:pic>
        <p:nvPicPr>
          <p:cNvPr id="7" name="Picture 6" descr="image.jpg"/>
          <p:cNvPicPr>
            <a:picLocks noChangeAspect="1"/>
          </p:cNvPicPr>
          <p:nvPr/>
        </p:nvPicPr>
        <p:blipFill>
          <a:blip r:embed="rId4"/>
          <a:stretch>
            <a:fillRect/>
          </a:stretch>
        </p:blipFill>
        <p:spPr>
          <a:xfrm>
            <a:off x="3090672" y="1938528"/>
            <a:ext cx="2670048" cy="2889504"/>
          </a:xfrm>
          <a:prstGeom prst="rect">
            <a:avLst/>
          </a:prstGeom>
        </p:spPr>
      </p:pic>
      <p:sp>
        <p:nvSpPr>
          <p:cNvPr id="8" name="Rounded Rectangle 7"/>
          <p:cNvSpPr/>
          <p:nvPr/>
        </p:nvSpPr>
        <p:spPr>
          <a:xfrm>
            <a:off x="6099048" y="1938528"/>
            <a:ext cx="5294376" cy="2889504"/>
          </a:xfrm>
          <a:prstGeom prst="roundRect">
            <a:avLst>
              <a:gd name="adj" fmla="val 3164"/>
            </a:avLst>
          </a:prstGeom>
          <a:solidFill>
            <a:srgbClr val="FFFFFF"/>
          </a:solidFill>
          <a:ln w="12700">
            <a:solidFill>
              <a:srgbClr val="E7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19088" y="2212848"/>
            <a:ext cx="4590288" cy="1143000"/>
          </a:xfrm>
          <a:prstGeom prst="rect">
            <a:avLst/>
          </a:prstGeom>
          <a:noFill/>
        </p:spPr>
        <p:txBody>
          <a:bodyPr wrap="square" lIns="0" tIns="9144" rIns="0" bIns="9144" anchor="ctr">
            <a:spAutoFit/>
          </a:bodyPr>
          <a:lstStyle/>
          <a:p>
            <a:pPr algn="l">
              <a:spcBef>
                <a:spcPts val="0"/>
              </a:spcBef>
              <a:spcAft>
                <a:spcPts val="0"/>
              </a:spcAft>
            </a:pPr>
            <a:r>
              <a:rPr sz="2000" b="1" i="0">
                <a:solidFill>
                  <a:srgbClr val="20243B"/>
                </a:solidFill>
                <a:latin typeface="Noto Sans CJK JP"/>
              </a:rPr>
              <a:t>“When you see a group photograph that you are in,
whose picture do you look for first?”</a:t>
            </a:r>
          </a:p>
        </p:txBody>
      </p:sp>
      <p:sp>
        <p:nvSpPr>
          <p:cNvPr id="10" name="Rectangle 9"/>
          <p:cNvSpPr/>
          <p:nvPr/>
        </p:nvSpPr>
        <p:spPr>
          <a:xfrm>
            <a:off x="6428232" y="3575304"/>
            <a:ext cx="4535424" cy="18288"/>
          </a:xfrm>
          <a:prstGeom prst="rect">
            <a:avLst/>
          </a:prstGeom>
          <a:solidFill>
            <a:srgbClr val="E97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28232" y="3767328"/>
            <a:ext cx="4544568" cy="905256"/>
          </a:xfrm>
          <a:prstGeom prst="rect">
            <a:avLst/>
          </a:prstGeom>
          <a:noFill/>
        </p:spPr>
        <p:txBody>
          <a:bodyPr wrap="square" lIns="0" tIns="9144" rIns="0" bIns="9144" anchor="ctr">
            <a:spAutoFit/>
          </a:bodyPr>
          <a:lstStyle/>
          <a:p>
            <a:pPr algn="l">
              <a:spcBef>
                <a:spcPts val="0"/>
              </a:spcBef>
              <a:spcAft>
                <a:spcPts val="0"/>
              </a:spcAft>
            </a:pPr>
            <a:r>
              <a:rPr sz="1800" b="0" i="0">
                <a:solidFill>
                  <a:srgbClr val="20243B"/>
                </a:solidFill>
                <a:latin typeface="Noto Sans CJK JP"/>
              </a:rPr>
              <a:t>「自分も写っている集合写真を見るとき、
あなたは、まず誰の写真を見るだろう？」</a:t>
            </a:r>
          </a:p>
        </p:txBody>
      </p:sp>
      <p:sp>
        <p:nvSpPr>
          <p:cNvPr id="12" name="TextBox 11"/>
          <p:cNvSpPr txBox="1"/>
          <p:nvPr/>
        </p:nvSpPr>
        <p:spPr>
          <a:xfrm>
            <a:off x="850392" y="5184648"/>
            <a:ext cx="10222992" cy="310896"/>
          </a:xfrm>
          <a:prstGeom prst="rect">
            <a:avLst/>
          </a:prstGeom>
          <a:noFill/>
        </p:spPr>
        <p:txBody>
          <a:bodyPr wrap="square" lIns="0" tIns="9144" rIns="0" bIns="9144" anchor="ctr">
            <a:spAutoFit/>
          </a:bodyPr>
          <a:lstStyle/>
          <a:p>
            <a:pPr algn="l">
              <a:spcBef>
                <a:spcPts val="0"/>
              </a:spcBef>
              <a:spcAft>
                <a:spcPts val="0"/>
              </a:spcAft>
            </a:pPr>
            <a:r>
              <a:rPr sz="1400" b="0" i="0">
                <a:solidFill>
                  <a:srgbClr val="696D81"/>
                </a:solidFill>
                <a:latin typeface="Noto Sans CJK JP"/>
              </a:rPr>
              <a:t>デール・カーネギー『人を動かす』 (1936)  /  日本語は意訳</a:t>
            </a:r>
          </a:p>
        </p:txBody>
      </p:sp>
      <p:sp>
        <p:nvSpPr>
          <p:cNvPr id="13" name="TextBox 12"/>
          <p:cNvSpPr txBox="1"/>
          <p:nvPr/>
        </p:nvSpPr>
        <p:spPr>
          <a:xfrm>
            <a:off x="822960" y="5660136"/>
            <a:ext cx="10698480" cy="402336"/>
          </a:xfrm>
          <a:prstGeom prst="rect">
            <a:avLst/>
          </a:prstGeom>
          <a:noFill/>
        </p:spPr>
        <p:txBody>
          <a:bodyPr wrap="square" lIns="0" tIns="9144" rIns="0" bIns="9144" anchor="ctr">
            <a:spAutoFit/>
          </a:bodyPr>
          <a:lstStyle/>
          <a:p>
            <a:pPr algn="l">
              <a:spcBef>
                <a:spcPts val="0"/>
              </a:spcBef>
              <a:spcAft>
                <a:spcPts val="0"/>
              </a:spcAft>
            </a:pPr>
            <a:r>
              <a:rPr sz="2100" b="1" i="0">
                <a:solidFill>
                  <a:srgbClr val="E97749"/>
                </a:solidFill>
                <a:latin typeface="Noto Sans CJK JP"/>
              </a:rPr>
              <a:t>だから私は、この「自分への関心」を学びの入口にできないかと考えました。</a:t>
            </a:r>
          </a:p>
        </p:txBody>
      </p:sp>
      <p:sp>
        <p:nvSpPr>
          <p:cNvPr id="14" name="TextBox 13"/>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888B9B"/>
                </a:solidFill>
                <a:latin typeface="Noto Sans CJK JP"/>
              </a:rPr>
              <a:t>STARRING  /  AIエージェント アイデアソン by Animoca Brands Japan</a:t>
            </a:r>
          </a:p>
        </p:txBody>
      </p:sp>
      <p:sp>
        <p:nvSpPr>
          <p:cNvPr id="15" name="TextBox 14"/>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05</a:t>
            </a:r>
          </a:p>
        </p:txBody>
      </p:sp>
      <p:sp>
        <p:nvSpPr>
          <p:cNvPr id="16" name="TextBox 15"/>
          <p:cNvSpPr txBox="1"/>
          <p:nvPr/>
        </p:nvSpPr>
        <p:spPr>
          <a:xfrm>
            <a:off x="658368" y="6245352"/>
            <a:ext cx="10789920" cy="164592"/>
          </a:xfrm>
          <a:prstGeom prst="rect">
            <a:avLst/>
          </a:prstGeom>
          <a:noFill/>
        </p:spPr>
        <p:txBody>
          <a:bodyPr wrap="square" lIns="0" tIns="9144" rIns="0" bIns="9144" anchor="ctr">
            <a:spAutoFit/>
          </a:bodyPr>
          <a:lstStyle/>
          <a:p>
            <a:pPr algn="l">
              <a:spcBef>
                <a:spcPts val="0"/>
              </a:spcBef>
              <a:spcAft>
                <a:spcPts val="0"/>
              </a:spcAft>
            </a:pPr>
            <a:r>
              <a:rPr sz="800" b="0" i="0">
                <a:solidFill>
                  <a:srgbClr val="888B9B"/>
                </a:solidFill>
                <a:latin typeface="Noto Sans CJK JP"/>
              </a:rPr>
              <a:t>写真・書影：以前の発表資料に収録された画像。原文：How to Win Friends and Influence People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49808" y="548640"/>
            <a:ext cx="59436" cy="237744"/>
          </a:xfrm>
          <a:prstGeom prst="rect">
            <a:avLst/>
          </a:prstGeom>
          <a:solidFill>
            <a:srgbClr val="FFA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525780"/>
            <a:ext cx="10332720" cy="274320"/>
          </a:xfrm>
          <a:prstGeom prst="rect">
            <a:avLst/>
          </a:prstGeom>
          <a:noFill/>
        </p:spPr>
        <p:txBody>
          <a:bodyPr wrap="square" lIns="0" tIns="9144" rIns="0" bIns="9144" anchor="ctr">
            <a:spAutoFit/>
          </a:bodyPr>
          <a:lstStyle/>
          <a:p>
            <a:pPr algn="l">
              <a:spcBef>
                <a:spcPts val="0"/>
              </a:spcBef>
              <a:spcAft>
                <a:spcPts val="0"/>
              </a:spcAft>
            </a:pPr>
            <a:r>
              <a:rPr sz="1200" b="1" i="0">
                <a:solidFill>
                  <a:srgbClr val="FFAA7C"/>
                </a:solidFill>
                <a:latin typeface="Noto Sans CJK JP"/>
              </a:rPr>
              <a:t>THE SHIFT</a:t>
            </a:r>
          </a:p>
        </p:txBody>
      </p:sp>
      <p:sp>
        <p:nvSpPr>
          <p:cNvPr id="5" name="TextBox 4"/>
          <p:cNvSpPr txBox="1"/>
          <p:nvPr/>
        </p:nvSpPr>
        <p:spPr>
          <a:xfrm>
            <a:off x="804672" y="1152144"/>
            <a:ext cx="10570464" cy="1545336"/>
          </a:xfrm>
          <a:prstGeom prst="rect">
            <a:avLst/>
          </a:prstGeom>
          <a:noFill/>
        </p:spPr>
        <p:txBody>
          <a:bodyPr wrap="square" lIns="0" tIns="9144" rIns="0" bIns="9144" anchor="ctr">
            <a:spAutoFit/>
          </a:bodyPr>
          <a:lstStyle/>
          <a:p>
            <a:pPr algn="l">
              <a:spcBef>
                <a:spcPts val="0"/>
              </a:spcBef>
              <a:spcAft>
                <a:spcPts val="0"/>
              </a:spcAft>
            </a:pPr>
            <a:r>
              <a:rPr sz="4300" b="1" i="0">
                <a:solidFill>
                  <a:srgbClr val="FFFFFF"/>
                </a:solidFill>
                <a:latin typeface="Noto Sans CJK JP"/>
              </a:rPr>
              <a:t>なのに、教材の世界には
「自分」がいない。</a:t>
            </a:r>
          </a:p>
        </p:txBody>
      </p:sp>
      <p:sp>
        <p:nvSpPr>
          <p:cNvPr id="6" name="Rounded Rectangle 5"/>
          <p:cNvSpPr/>
          <p:nvPr/>
        </p:nvSpPr>
        <p:spPr>
          <a:xfrm>
            <a:off x="859536" y="3191256"/>
            <a:ext cx="4745736" cy="1627632"/>
          </a:xfrm>
          <a:prstGeom prst="roundRect">
            <a:avLst>
              <a:gd name="adj" fmla="val 5617"/>
            </a:avLst>
          </a:prstGeom>
          <a:solidFill>
            <a:srgbClr val="25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79576" y="3511296"/>
            <a:ext cx="4160520" cy="429768"/>
          </a:xfrm>
          <a:prstGeom prst="rect">
            <a:avLst/>
          </a:prstGeom>
          <a:noFill/>
        </p:spPr>
        <p:txBody>
          <a:bodyPr wrap="square" lIns="0" tIns="9144" rIns="0" bIns="9144" anchor="ctr">
            <a:spAutoFit/>
          </a:bodyPr>
          <a:lstStyle/>
          <a:p>
            <a:pPr algn="l">
              <a:spcBef>
                <a:spcPts val="0"/>
              </a:spcBef>
              <a:spcAft>
                <a:spcPts val="0"/>
              </a:spcAft>
            </a:pPr>
            <a:r>
              <a:rPr sz="2400" b="1" i="0">
                <a:solidFill>
                  <a:srgbClr val="BBC0D0"/>
                </a:solidFill>
                <a:latin typeface="Noto Sans CJK JP"/>
              </a:rPr>
              <a:t>他人の例を「眺める」</a:t>
            </a:r>
          </a:p>
        </p:txBody>
      </p:sp>
      <p:sp>
        <p:nvSpPr>
          <p:cNvPr id="8" name="TextBox 7"/>
          <p:cNvSpPr txBox="1"/>
          <p:nvPr/>
        </p:nvSpPr>
        <p:spPr>
          <a:xfrm>
            <a:off x="1197864" y="4123944"/>
            <a:ext cx="3995928" cy="310896"/>
          </a:xfrm>
          <a:prstGeom prst="rect">
            <a:avLst/>
          </a:prstGeom>
          <a:noFill/>
        </p:spPr>
        <p:txBody>
          <a:bodyPr wrap="square" lIns="0" tIns="9144" rIns="0" bIns="9144" anchor="ctr">
            <a:spAutoFit/>
          </a:bodyPr>
          <a:lstStyle/>
          <a:p>
            <a:pPr algn="l">
              <a:spcBef>
                <a:spcPts val="0"/>
              </a:spcBef>
              <a:spcAft>
                <a:spcPts val="0"/>
              </a:spcAft>
            </a:pPr>
            <a:r>
              <a:rPr sz="1600" b="0" i="0">
                <a:solidFill>
                  <a:srgbClr val="B8BCD6"/>
                </a:solidFill>
                <a:latin typeface="Noto Sans CJK JP"/>
              </a:rPr>
              <a:t>知らない人物の、知らない場面</a:t>
            </a:r>
          </a:p>
        </p:txBody>
      </p:sp>
      <p:sp>
        <p:nvSpPr>
          <p:cNvPr id="9" name="TextBox 8"/>
          <p:cNvSpPr txBox="1"/>
          <p:nvPr/>
        </p:nvSpPr>
        <p:spPr>
          <a:xfrm>
            <a:off x="5724144" y="3621024"/>
            <a:ext cx="630936" cy="557784"/>
          </a:xfrm>
          <a:prstGeom prst="rect">
            <a:avLst/>
          </a:prstGeom>
          <a:noFill/>
        </p:spPr>
        <p:txBody>
          <a:bodyPr wrap="square" lIns="0" tIns="9144" rIns="0" bIns="9144" anchor="ctr">
            <a:spAutoFit/>
          </a:bodyPr>
          <a:lstStyle/>
          <a:p>
            <a:pPr algn="ctr">
              <a:spcBef>
                <a:spcPts val="0"/>
              </a:spcBef>
              <a:spcAft>
                <a:spcPts val="0"/>
              </a:spcAft>
            </a:pPr>
            <a:r>
              <a:rPr sz="3700" b="1" i="0">
                <a:solidFill>
                  <a:srgbClr val="FFAA7C"/>
                </a:solidFill>
                <a:latin typeface="Noto Sans CJK JP"/>
              </a:rPr>
              <a:t>→</a:t>
            </a:r>
          </a:p>
        </p:txBody>
      </p:sp>
      <p:sp>
        <p:nvSpPr>
          <p:cNvPr id="10" name="Rounded Rectangle 9"/>
          <p:cNvSpPr/>
          <p:nvPr/>
        </p:nvSpPr>
        <p:spPr>
          <a:xfrm>
            <a:off x="6492240" y="3191256"/>
            <a:ext cx="4745736" cy="1627632"/>
          </a:xfrm>
          <a:prstGeom prst="roundRect">
            <a:avLst>
              <a:gd name="adj" fmla="val 5617"/>
            </a:avLst>
          </a:prstGeom>
          <a:solidFill>
            <a:srgbClr val="373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93992" y="3511296"/>
            <a:ext cx="4187952" cy="457200"/>
          </a:xfrm>
          <a:prstGeom prst="rect">
            <a:avLst/>
          </a:prstGeom>
          <a:noFill/>
        </p:spPr>
        <p:txBody>
          <a:bodyPr wrap="square" lIns="0" tIns="9144" rIns="0" bIns="9144" anchor="ctr">
            <a:spAutoFit/>
          </a:bodyPr>
          <a:lstStyle/>
          <a:p>
            <a:pPr algn="l">
              <a:spcBef>
                <a:spcPts val="0"/>
              </a:spcBef>
              <a:spcAft>
                <a:spcPts val="0"/>
              </a:spcAft>
            </a:pPr>
            <a:r>
              <a:rPr sz="2400" b="1" i="0">
                <a:solidFill>
                  <a:srgbClr val="FFD47C"/>
                </a:solidFill>
                <a:latin typeface="Noto Sans CJK JP"/>
              </a:rPr>
              <a:t>自分の物語として「感じる」</a:t>
            </a:r>
          </a:p>
        </p:txBody>
      </p:sp>
      <p:sp>
        <p:nvSpPr>
          <p:cNvPr id="12" name="TextBox 11"/>
          <p:cNvSpPr txBox="1"/>
          <p:nvPr/>
        </p:nvSpPr>
        <p:spPr>
          <a:xfrm>
            <a:off x="6803136" y="4123944"/>
            <a:ext cx="3995928" cy="310896"/>
          </a:xfrm>
          <a:prstGeom prst="rect">
            <a:avLst/>
          </a:prstGeom>
          <a:noFill/>
        </p:spPr>
        <p:txBody>
          <a:bodyPr wrap="square" lIns="0" tIns="9144" rIns="0" bIns="9144" anchor="ctr">
            <a:spAutoFit/>
          </a:bodyPr>
          <a:lstStyle/>
          <a:p>
            <a:pPr algn="l">
              <a:spcBef>
                <a:spcPts val="0"/>
              </a:spcBef>
              <a:spcAft>
                <a:spcPts val="0"/>
              </a:spcAft>
            </a:pPr>
            <a:r>
              <a:rPr sz="1600" b="0" i="0">
                <a:solidFill>
                  <a:srgbClr val="FFFFFF"/>
                </a:solidFill>
                <a:latin typeface="Noto Sans CJK JP"/>
              </a:rPr>
              <a:t>好き・得意・目標が教材に登場する</a:t>
            </a:r>
          </a:p>
        </p:txBody>
      </p:sp>
      <p:sp>
        <p:nvSpPr>
          <p:cNvPr id="13" name="TextBox 12"/>
          <p:cNvSpPr txBox="1"/>
          <p:nvPr/>
        </p:nvSpPr>
        <p:spPr>
          <a:xfrm>
            <a:off x="932688" y="5404104"/>
            <a:ext cx="10405872" cy="548640"/>
          </a:xfrm>
          <a:prstGeom prst="rect">
            <a:avLst/>
          </a:prstGeom>
          <a:noFill/>
        </p:spPr>
        <p:txBody>
          <a:bodyPr wrap="square" lIns="0" tIns="9144" rIns="0" bIns="9144" anchor="ctr">
            <a:spAutoFit/>
          </a:bodyPr>
          <a:lstStyle/>
          <a:p>
            <a:pPr algn="ctr">
              <a:spcBef>
                <a:spcPts val="0"/>
              </a:spcBef>
              <a:spcAft>
                <a:spcPts val="0"/>
              </a:spcAft>
            </a:pPr>
            <a:r>
              <a:rPr sz="2800" b="1" i="0">
                <a:solidFill>
                  <a:srgbClr val="FFAA7C"/>
                </a:solidFill>
                <a:latin typeface="Noto Sans CJK JP"/>
              </a:rPr>
              <a:t>「自分事」にすることから、学びを始める。</a:t>
            </a:r>
          </a:p>
        </p:txBody>
      </p:sp>
      <p:sp>
        <p:nvSpPr>
          <p:cNvPr id="14" name="TextBox 13"/>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99A1C0"/>
                </a:solidFill>
                <a:latin typeface="Noto Sans CJK JP"/>
              </a:rPr>
              <a:t>STARRING  /  AIエージェント アイデアソン by Animoca Brands Japan</a:t>
            </a:r>
          </a:p>
        </p:txBody>
      </p:sp>
      <p:sp>
        <p:nvSpPr>
          <p:cNvPr id="15" name="TextBox 14"/>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06</a:t>
            </a:r>
          </a:p>
        </p:txBody>
      </p:sp>
      <p:sp>
        <p:nvSpPr>
          <p:cNvPr id="16" name="TextBox 15"/>
          <p:cNvSpPr txBox="1"/>
          <p:nvPr/>
        </p:nvSpPr>
        <p:spPr>
          <a:xfrm>
            <a:off x="658368" y="6245352"/>
            <a:ext cx="10789920" cy="164592"/>
          </a:xfrm>
          <a:prstGeom prst="rect">
            <a:avLst/>
          </a:prstGeom>
          <a:noFill/>
        </p:spPr>
        <p:txBody>
          <a:bodyPr wrap="square" lIns="0" tIns="9144" rIns="0" bIns="9144" anchor="ctr">
            <a:spAutoFit/>
          </a:bodyPr>
          <a:lstStyle/>
          <a:p>
            <a:pPr algn="l">
              <a:spcBef>
                <a:spcPts val="0"/>
              </a:spcBef>
              <a:spcAft>
                <a:spcPts val="0"/>
              </a:spcAft>
            </a:pPr>
            <a:r>
              <a:rPr sz="800" b="0" i="0">
                <a:solidFill>
                  <a:srgbClr val="99A1C0"/>
                </a:solidFill>
                <a:latin typeface="Noto Sans CJK JP"/>
              </a:rPr>
              <a:t>関連研究：Rogers, Kuiper &amp; Kirker (1977), self-reference effect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85800" y="475488"/>
            <a:ext cx="59436" cy="237744"/>
          </a:xfrm>
          <a:prstGeom prst="rect">
            <a:avLst/>
          </a:prstGeom>
          <a:solidFill>
            <a:srgbClr val="E97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50392" y="452628"/>
            <a:ext cx="10332720" cy="274320"/>
          </a:xfrm>
          <a:prstGeom prst="rect">
            <a:avLst/>
          </a:prstGeom>
          <a:noFill/>
        </p:spPr>
        <p:txBody>
          <a:bodyPr wrap="square" lIns="0" tIns="9144" rIns="0" bIns="9144" anchor="ctr">
            <a:spAutoFit/>
          </a:bodyPr>
          <a:lstStyle/>
          <a:p>
            <a:pPr algn="l">
              <a:spcBef>
                <a:spcPts val="0"/>
              </a:spcBef>
              <a:spcAft>
                <a:spcPts val="0"/>
              </a:spcAft>
            </a:pPr>
            <a:r>
              <a:rPr sz="1200" b="1" i="0">
                <a:solidFill>
                  <a:srgbClr val="E97749"/>
                </a:solidFill>
                <a:latin typeface="Noto Sans CJK JP"/>
              </a:rPr>
              <a:t>THE QUESTION  /  学びの入口</a:t>
            </a:r>
          </a:p>
        </p:txBody>
      </p:sp>
      <p:sp>
        <p:nvSpPr>
          <p:cNvPr id="5" name="TextBox 4"/>
          <p:cNvSpPr txBox="1"/>
          <p:nvPr/>
        </p:nvSpPr>
        <p:spPr>
          <a:xfrm>
            <a:off x="786384" y="987552"/>
            <a:ext cx="10744200" cy="1993392"/>
          </a:xfrm>
          <a:prstGeom prst="rect">
            <a:avLst/>
          </a:prstGeom>
          <a:noFill/>
        </p:spPr>
        <p:txBody>
          <a:bodyPr wrap="square" lIns="0" tIns="9144" rIns="0" bIns="9144" anchor="ctr">
            <a:spAutoFit/>
          </a:bodyPr>
          <a:lstStyle/>
          <a:p>
            <a:pPr algn="l">
              <a:spcBef>
                <a:spcPts val="0"/>
              </a:spcBef>
              <a:spcAft>
                <a:spcPts val="0"/>
              </a:spcAft>
            </a:pPr>
            <a:r>
              <a:rPr sz="3800" b="1" i="0">
                <a:solidFill>
                  <a:srgbClr val="20243B"/>
                </a:solidFill>
                <a:latin typeface="Noto Sans CJK JP"/>
              </a:rPr>
              <a:t>勉強って、
「自分ごと」じゃないと
興味が湧きにくいですよね。</a:t>
            </a:r>
          </a:p>
        </p:txBody>
      </p:sp>
      <p:sp>
        <p:nvSpPr>
          <p:cNvPr id="6" name="Rounded Rectangle 5"/>
          <p:cNvSpPr/>
          <p:nvPr/>
        </p:nvSpPr>
        <p:spPr>
          <a:xfrm>
            <a:off x="795528" y="3328416"/>
            <a:ext cx="10579608" cy="914400"/>
          </a:xfrm>
          <a:prstGeom prst="roundRect">
            <a:avLst>
              <a:gd name="adj" fmla="val 10000"/>
            </a:avLst>
          </a:prstGeom>
          <a:solidFill>
            <a:srgbClr val="FFFFFF"/>
          </a:solidFill>
          <a:ln w="12700">
            <a:solidFill>
              <a:srgbClr val="E6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8992" y="3465576"/>
            <a:ext cx="9966960" cy="649224"/>
          </a:xfrm>
          <a:prstGeom prst="rect">
            <a:avLst/>
          </a:prstGeom>
          <a:noFill/>
        </p:spPr>
        <p:txBody>
          <a:bodyPr wrap="square" lIns="0" tIns="9144" rIns="0" bIns="9144" anchor="ctr">
            <a:spAutoFit/>
          </a:bodyPr>
          <a:lstStyle/>
          <a:p>
            <a:pPr algn="l">
              <a:spcBef>
                <a:spcPts val="0"/>
              </a:spcBef>
              <a:spcAft>
                <a:spcPts val="0"/>
              </a:spcAft>
            </a:pPr>
            <a:r>
              <a:rPr sz="2100" b="0" i="0">
                <a:solidFill>
                  <a:srgbClr val="696D81"/>
                </a:solidFill>
                <a:latin typeface="Noto Sans CJK JP"/>
              </a:rPr>
              <a:t>役に立つと分かっていても、知らない誰かの例文を眺めるだけでは、
「自分もやってみたい」には、なかなかつながらない。</a:t>
            </a:r>
          </a:p>
        </p:txBody>
      </p:sp>
      <p:sp>
        <p:nvSpPr>
          <p:cNvPr id="8" name="Rounded Rectangle 7"/>
          <p:cNvSpPr/>
          <p:nvPr/>
        </p:nvSpPr>
        <p:spPr>
          <a:xfrm>
            <a:off x="795528" y="4553712"/>
            <a:ext cx="10579608" cy="1042415"/>
          </a:xfrm>
          <a:prstGeom prst="roundRect">
            <a:avLst>
              <a:gd name="adj" fmla="val 8771"/>
            </a:avLst>
          </a:prstGeom>
          <a:solidFill>
            <a:srgbClr val="FCE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95528" y="4553712"/>
            <a:ext cx="77724" cy="1042415"/>
          </a:xfrm>
          <a:prstGeom prst="rect">
            <a:avLst/>
          </a:prstGeom>
          <a:solidFill>
            <a:srgbClr val="E97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4736592"/>
            <a:ext cx="10003536" cy="448056"/>
          </a:xfrm>
          <a:prstGeom prst="rect">
            <a:avLst/>
          </a:prstGeom>
          <a:noFill/>
        </p:spPr>
        <p:txBody>
          <a:bodyPr wrap="square" lIns="0" tIns="9144" rIns="0" bIns="9144" anchor="ctr">
            <a:spAutoFit/>
          </a:bodyPr>
          <a:lstStyle/>
          <a:p>
            <a:pPr algn="ctr">
              <a:spcBef>
                <a:spcPts val="0"/>
              </a:spcBef>
              <a:spcAft>
                <a:spcPts val="0"/>
              </a:spcAft>
            </a:pPr>
            <a:r>
              <a:rPr sz="2700" b="1" i="0">
                <a:solidFill>
                  <a:srgbClr val="20243B"/>
                </a:solidFill>
                <a:latin typeface="Noto Sans CJK JP"/>
              </a:rPr>
              <a:t>だったら、教材の中に「自分」が登場したら？</a:t>
            </a:r>
          </a:p>
        </p:txBody>
      </p:sp>
      <p:sp>
        <p:nvSpPr>
          <p:cNvPr id="11" name="TextBox 10"/>
          <p:cNvSpPr txBox="1"/>
          <p:nvPr/>
        </p:nvSpPr>
        <p:spPr>
          <a:xfrm>
            <a:off x="3282696" y="5815584"/>
            <a:ext cx="5632704" cy="310896"/>
          </a:xfrm>
          <a:prstGeom prst="rect">
            <a:avLst/>
          </a:prstGeom>
          <a:noFill/>
        </p:spPr>
        <p:txBody>
          <a:bodyPr wrap="square" lIns="0" tIns="9144" rIns="0" bIns="9144" anchor="ctr">
            <a:spAutoFit/>
          </a:bodyPr>
          <a:lstStyle/>
          <a:p>
            <a:pPr algn="ctr">
              <a:spcBef>
                <a:spcPts val="0"/>
              </a:spcBef>
              <a:spcAft>
                <a:spcPts val="0"/>
              </a:spcAft>
            </a:pPr>
            <a:r>
              <a:rPr sz="1900" b="1" i="0">
                <a:solidFill>
                  <a:srgbClr val="E97749"/>
                </a:solidFill>
                <a:latin typeface="Noto Sans CJK JP"/>
              </a:rPr>
              <a:t>その発想から生まれたのが——</a:t>
            </a:r>
          </a:p>
        </p:txBody>
      </p:sp>
      <p:sp>
        <p:nvSpPr>
          <p:cNvPr id="12" name="TextBox 11"/>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888B9B"/>
                </a:solidFill>
                <a:latin typeface="Noto Sans CJK JP"/>
              </a:rPr>
              <a:t>STARRING  /  AIエージェント アイデアソン by Animoca Brands Japan</a:t>
            </a:r>
          </a:p>
        </p:txBody>
      </p:sp>
      <p:sp>
        <p:nvSpPr>
          <p:cNvPr id="13" name="TextBox 12"/>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85800" y="475488"/>
            <a:ext cx="59436" cy="237744"/>
          </a:xfrm>
          <a:prstGeom prst="rect">
            <a:avLst/>
          </a:prstGeom>
          <a:solidFill>
            <a:srgbClr val="E97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50392" y="452628"/>
            <a:ext cx="10332720" cy="274320"/>
          </a:xfrm>
          <a:prstGeom prst="rect">
            <a:avLst/>
          </a:prstGeom>
          <a:noFill/>
        </p:spPr>
        <p:txBody>
          <a:bodyPr wrap="square" lIns="0" tIns="9144" rIns="0" bIns="9144" anchor="ctr">
            <a:spAutoFit/>
          </a:bodyPr>
          <a:lstStyle/>
          <a:p>
            <a:pPr algn="l">
              <a:spcBef>
                <a:spcPts val="0"/>
              </a:spcBef>
              <a:spcAft>
                <a:spcPts val="0"/>
              </a:spcAft>
            </a:pPr>
            <a:r>
              <a:rPr sz="1200" b="1" i="0">
                <a:solidFill>
                  <a:srgbClr val="E97749"/>
                </a:solidFill>
                <a:latin typeface="Noto Sans CJK JP"/>
              </a:rPr>
              <a:t>THE SOLUTION  /  STARRING</a:t>
            </a:r>
          </a:p>
        </p:txBody>
      </p:sp>
      <p:sp>
        <p:nvSpPr>
          <p:cNvPr id="5" name="TextBox 4"/>
          <p:cNvSpPr txBox="1"/>
          <p:nvPr/>
        </p:nvSpPr>
        <p:spPr>
          <a:xfrm>
            <a:off x="731520" y="877824"/>
            <a:ext cx="10744200" cy="667512"/>
          </a:xfrm>
          <a:prstGeom prst="rect">
            <a:avLst/>
          </a:prstGeom>
          <a:noFill/>
        </p:spPr>
        <p:txBody>
          <a:bodyPr wrap="square" lIns="0" tIns="9144" rIns="0" bIns="9144" anchor="ctr">
            <a:spAutoFit/>
          </a:bodyPr>
          <a:lstStyle/>
          <a:p>
            <a:pPr algn="l">
              <a:spcBef>
                <a:spcPts val="0"/>
              </a:spcBef>
              <a:spcAft>
                <a:spcPts val="0"/>
              </a:spcAft>
            </a:pPr>
            <a:r>
              <a:rPr sz="3700" b="1" i="0">
                <a:solidFill>
                  <a:srgbClr val="20243B"/>
                </a:solidFill>
                <a:latin typeface="Noto Sans CJK JP"/>
              </a:rPr>
              <a:t>こちらが、STARRINGです。</a:t>
            </a:r>
          </a:p>
        </p:txBody>
      </p:sp>
      <p:sp>
        <p:nvSpPr>
          <p:cNvPr id="6" name="TextBox 5"/>
          <p:cNvSpPr txBox="1"/>
          <p:nvPr/>
        </p:nvSpPr>
        <p:spPr>
          <a:xfrm>
            <a:off x="777240" y="1618488"/>
            <a:ext cx="10652760" cy="274320"/>
          </a:xfrm>
          <a:prstGeom prst="rect">
            <a:avLst/>
          </a:prstGeom>
          <a:noFill/>
        </p:spPr>
        <p:txBody>
          <a:bodyPr wrap="square" lIns="0" tIns="9144" rIns="0" bIns="9144" anchor="ctr">
            <a:spAutoFit/>
          </a:bodyPr>
          <a:lstStyle/>
          <a:p>
            <a:r>
              <a:rPr sz="1200">
                <a:latin typeface="Noto Sans CJK JP"/>
              </a:rPr>
              <a:t>自分が登場する教材 × 自分が活躍する仮想学校</a:t>
            </a:r>
          </a:p>
        </p:txBody>
      </p:sp>
      <p:sp>
        <p:nvSpPr>
          <p:cNvPr id="7" name="Rounded Rectangle 6"/>
          <p:cNvSpPr/>
          <p:nvPr/>
        </p:nvSpPr>
        <p:spPr>
          <a:xfrm>
            <a:off x="786384" y="1984248"/>
            <a:ext cx="4983480" cy="3182112"/>
          </a:xfrm>
          <a:prstGeom prst="roundRect">
            <a:avLst>
              <a:gd name="adj" fmla="val 2873"/>
            </a:avLst>
          </a:prstGeom>
          <a:solidFill>
            <a:srgbClr val="FCE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33271" y="2276856"/>
            <a:ext cx="59436" cy="237744"/>
          </a:xfrm>
          <a:prstGeom prst="rect">
            <a:avLst/>
          </a:prstGeom>
          <a:solidFill>
            <a:srgbClr val="E97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97863" y="2253996"/>
            <a:ext cx="10332720" cy="274320"/>
          </a:xfrm>
          <a:prstGeom prst="rect">
            <a:avLst/>
          </a:prstGeom>
          <a:noFill/>
        </p:spPr>
        <p:txBody>
          <a:bodyPr wrap="square" lIns="0" tIns="9144" rIns="0" bIns="9144" anchor="ctr">
            <a:spAutoFit/>
          </a:bodyPr>
          <a:lstStyle/>
          <a:p>
            <a:pPr algn="l">
              <a:spcBef>
                <a:spcPts val="0"/>
              </a:spcBef>
              <a:spcAft>
                <a:spcPts val="0"/>
              </a:spcAft>
            </a:pPr>
            <a:r>
              <a:rPr sz="1400" b="1" i="0">
                <a:solidFill>
                  <a:srgbClr val="E97749"/>
                </a:solidFill>
                <a:latin typeface="Noto Sans CJK JP"/>
              </a:rPr>
              <a:t>INPUT  /  観る・読む</a:t>
            </a:r>
          </a:p>
        </p:txBody>
      </p:sp>
      <p:sp>
        <p:nvSpPr>
          <p:cNvPr id="10" name="TextBox 9"/>
          <p:cNvSpPr txBox="1"/>
          <p:nvPr/>
        </p:nvSpPr>
        <p:spPr>
          <a:xfrm>
            <a:off x="1069848" y="2852928"/>
            <a:ext cx="4480560" cy="630936"/>
          </a:xfrm>
          <a:prstGeom prst="rect">
            <a:avLst/>
          </a:prstGeom>
          <a:noFill/>
        </p:spPr>
        <p:txBody>
          <a:bodyPr wrap="square" lIns="0" tIns="9144" rIns="0" bIns="9144" anchor="ctr">
            <a:spAutoFit/>
          </a:bodyPr>
          <a:lstStyle/>
          <a:p>
            <a:pPr algn="l">
              <a:spcBef>
                <a:spcPts val="0"/>
              </a:spcBef>
              <a:spcAft>
                <a:spcPts val="0"/>
              </a:spcAft>
            </a:pPr>
            <a:r>
              <a:rPr sz="2700" b="1" i="0">
                <a:solidFill>
                  <a:srgbClr val="20243B"/>
                </a:solidFill>
                <a:latin typeface="Noto Sans CJK JP"/>
              </a:rPr>
              <a:t>自分が登場する教材</a:t>
            </a:r>
          </a:p>
        </p:txBody>
      </p:sp>
      <p:sp>
        <p:nvSpPr>
          <p:cNvPr id="11" name="TextBox 10"/>
          <p:cNvSpPr txBox="1"/>
          <p:nvPr/>
        </p:nvSpPr>
        <p:spPr>
          <a:xfrm>
            <a:off x="1069848" y="3703320"/>
            <a:ext cx="4489704" cy="804672"/>
          </a:xfrm>
          <a:prstGeom prst="rect">
            <a:avLst/>
          </a:prstGeom>
          <a:noFill/>
        </p:spPr>
        <p:txBody>
          <a:bodyPr wrap="square" lIns="0" tIns="9144" rIns="0" bIns="9144" anchor="ctr">
            <a:spAutoFit/>
          </a:bodyPr>
          <a:lstStyle/>
          <a:p>
            <a:pPr algn="l">
              <a:spcBef>
                <a:spcPts val="0"/>
              </a:spcBef>
              <a:spcAft>
                <a:spcPts val="0"/>
              </a:spcAft>
            </a:pPr>
            <a:r>
              <a:rPr sz="1900" b="0" i="0">
                <a:solidFill>
                  <a:srgbClr val="20243B"/>
                </a:solidFill>
                <a:latin typeface="Noto Sans CJK JP"/>
              </a:rPr>
              <a:t>好きなことや得意なことを取り入れ、
自分が登場する物語で学ぶ。</a:t>
            </a:r>
          </a:p>
        </p:txBody>
      </p:sp>
      <p:sp>
        <p:nvSpPr>
          <p:cNvPr id="12" name="Rounded Rectangle 11"/>
          <p:cNvSpPr/>
          <p:nvPr/>
        </p:nvSpPr>
        <p:spPr>
          <a:xfrm>
            <a:off x="6428232" y="1984248"/>
            <a:ext cx="4983480" cy="3182112"/>
          </a:xfrm>
          <a:prstGeom prst="roundRect">
            <a:avLst>
              <a:gd name="adj" fmla="val 2873"/>
            </a:avLst>
          </a:prstGeom>
          <a:solidFill>
            <a:srgbClr val="DF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665976" y="2276856"/>
            <a:ext cx="59436" cy="237744"/>
          </a:xfrm>
          <a:prstGeom prst="rect">
            <a:avLst/>
          </a:prstGeom>
          <a:solidFill>
            <a:srgbClr val="268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30568" y="2253996"/>
            <a:ext cx="5102352" cy="274320"/>
          </a:xfrm>
          <a:prstGeom prst="rect">
            <a:avLst/>
          </a:prstGeom>
          <a:noFill/>
        </p:spPr>
        <p:txBody>
          <a:bodyPr wrap="square" lIns="0" tIns="9144" rIns="0" bIns="9144" anchor="ctr">
            <a:spAutoFit/>
          </a:bodyPr>
          <a:lstStyle/>
          <a:p>
            <a:pPr algn="l">
              <a:spcBef>
                <a:spcPts val="0"/>
              </a:spcBef>
              <a:spcAft>
                <a:spcPts val="0"/>
              </a:spcAft>
            </a:pPr>
            <a:r>
              <a:rPr sz="1400" b="1" i="0">
                <a:solidFill>
                  <a:srgbClr val="268B75"/>
                </a:solidFill>
                <a:latin typeface="Noto Sans CJK JP"/>
              </a:rPr>
              <a:t>OUTPUT  /  動く・試す</a:t>
            </a:r>
          </a:p>
        </p:txBody>
      </p:sp>
      <p:sp>
        <p:nvSpPr>
          <p:cNvPr id="15" name="TextBox 14"/>
          <p:cNvSpPr txBox="1"/>
          <p:nvPr/>
        </p:nvSpPr>
        <p:spPr>
          <a:xfrm>
            <a:off x="6693408" y="2852928"/>
            <a:ext cx="4517136" cy="630936"/>
          </a:xfrm>
          <a:prstGeom prst="rect">
            <a:avLst/>
          </a:prstGeom>
          <a:noFill/>
        </p:spPr>
        <p:txBody>
          <a:bodyPr wrap="square" lIns="0" tIns="9144" rIns="0" bIns="9144" anchor="ctr">
            <a:spAutoFit/>
          </a:bodyPr>
          <a:lstStyle/>
          <a:p>
            <a:pPr algn="l">
              <a:spcBef>
                <a:spcPts val="0"/>
              </a:spcBef>
              <a:spcAft>
                <a:spcPts val="0"/>
              </a:spcAft>
            </a:pPr>
            <a:r>
              <a:rPr sz="2700" b="1" i="0">
                <a:solidFill>
                  <a:srgbClr val="20243B"/>
                </a:solidFill>
                <a:latin typeface="Noto Sans CJK JP"/>
              </a:rPr>
              <a:t>自分が行動する世界</a:t>
            </a:r>
          </a:p>
        </p:txBody>
      </p:sp>
      <p:sp>
        <p:nvSpPr>
          <p:cNvPr id="16" name="TextBox 15"/>
          <p:cNvSpPr txBox="1"/>
          <p:nvPr/>
        </p:nvSpPr>
        <p:spPr>
          <a:xfrm>
            <a:off x="6693408" y="3703320"/>
            <a:ext cx="4517136" cy="804672"/>
          </a:xfrm>
          <a:prstGeom prst="rect">
            <a:avLst/>
          </a:prstGeom>
          <a:noFill/>
        </p:spPr>
        <p:txBody>
          <a:bodyPr wrap="square" lIns="0" tIns="9144" rIns="0" bIns="9144" anchor="ctr">
            <a:spAutoFit/>
          </a:bodyPr>
          <a:lstStyle/>
          <a:p>
            <a:r>
              <a:rPr sz="1700">
                <a:latin typeface="Noto Sans CJK JP"/>
              </a:rPr>
              <a:t>仮想学校で答え、貢献し、ときには競う。</a:t>
            </a:r>
          </a:p>
          <a:p>
            <a:r>
              <a:rPr sz="1700">
                <a:latin typeface="Noto Sans CJK JP"/>
              </a:rPr>
              <a:t>仲間から具体的な反応が返ってくる。</a:t>
            </a:r>
          </a:p>
        </p:txBody>
      </p:sp>
      <p:sp>
        <p:nvSpPr>
          <p:cNvPr id="17" name="TextBox 16"/>
          <p:cNvSpPr txBox="1"/>
          <p:nvPr/>
        </p:nvSpPr>
        <p:spPr>
          <a:xfrm>
            <a:off x="1042415" y="5559552"/>
            <a:ext cx="10094976" cy="530352"/>
          </a:xfrm>
          <a:prstGeom prst="rect">
            <a:avLst/>
          </a:prstGeom>
          <a:noFill/>
        </p:spPr>
        <p:txBody>
          <a:bodyPr wrap="square" lIns="0" tIns="9144" rIns="0" bIns="9144" anchor="ctr">
            <a:spAutoFit/>
          </a:bodyPr>
          <a:lstStyle/>
          <a:p>
            <a:pPr algn="ctr">
              <a:spcBef>
                <a:spcPts val="0"/>
              </a:spcBef>
              <a:spcAft>
                <a:spcPts val="0"/>
              </a:spcAft>
            </a:pPr>
            <a:r>
              <a:rPr sz="2500" b="1" i="0">
                <a:solidFill>
                  <a:srgbClr val="E97749"/>
                </a:solidFill>
                <a:latin typeface="Noto Sans CJK JP"/>
              </a:rPr>
              <a:t>理解したことを、世界で使ってみたくなる。</a:t>
            </a:r>
          </a:p>
        </p:txBody>
      </p:sp>
      <p:sp>
        <p:nvSpPr>
          <p:cNvPr id="18" name="TextBox 17"/>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888B9B"/>
                </a:solidFill>
                <a:latin typeface="Noto Sans CJK JP"/>
              </a:rPr>
              <a:t>STARRING  /  AIエージェント アイデアソン by Animoca Brands Japan</a:t>
            </a:r>
          </a:p>
        </p:txBody>
      </p:sp>
      <p:sp>
        <p:nvSpPr>
          <p:cNvPr id="19" name="TextBox 18"/>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288"/>
            <a:ext cx="12191695" cy="6858000"/>
          </a:xfrm>
          <a:prstGeom prst="rect">
            <a:avLst/>
          </a:prstGeom>
          <a:solidFill>
            <a:srgbClr val="F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04088" y="429768"/>
            <a:ext cx="68580" cy="219456"/>
          </a:xfrm>
          <a:prstGeom prst="rect">
            <a:avLst/>
          </a:prstGeom>
          <a:solidFill>
            <a:srgbClr val="F47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411480"/>
            <a:ext cx="10607040" cy="320040"/>
          </a:xfrm>
          <a:prstGeom prst="rect">
            <a:avLst/>
          </a:prstGeom>
          <a:noFill/>
        </p:spPr>
        <p:txBody>
          <a:bodyPr wrap="square" lIns="18288" tIns="0" rIns="18288" bIns="0" anchor="ctr">
            <a:spAutoFit/>
          </a:bodyPr>
          <a:lstStyle/>
          <a:p>
            <a:pPr algn="l">
              <a:lnSpc>
                <a:spcPct val="104000"/>
              </a:lnSpc>
              <a:spcBef>
                <a:spcPts val="0"/>
              </a:spcBef>
              <a:spcAft>
                <a:spcPts val="0"/>
              </a:spcAft>
            </a:pPr>
            <a:r>
              <a:rPr sz="1300" b="1" i="0">
                <a:solidFill>
                  <a:srgbClr val="F4774E"/>
                </a:solidFill>
                <a:latin typeface="Noto Sans CJK JP"/>
              </a:rPr>
              <a:t>OUTPUT  /  VIRTUAL CLASSROOM</a:t>
            </a:r>
          </a:p>
        </p:txBody>
      </p:sp>
      <p:sp>
        <p:nvSpPr>
          <p:cNvPr id="5" name="TextBox 4"/>
          <p:cNvSpPr txBox="1"/>
          <p:nvPr/>
        </p:nvSpPr>
        <p:spPr>
          <a:xfrm>
            <a:off x="731520" y="960120"/>
            <a:ext cx="10789920" cy="658368"/>
          </a:xfrm>
          <a:prstGeom prst="rect">
            <a:avLst/>
          </a:prstGeom>
          <a:noFill/>
        </p:spPr>
        <p:txBody>
          <a:bodyPr wrap="square" lIns="18288" tIns="0" rIns="18288" bIns="0" anchor="ctr">
            <a:spAutoFit/>
          </a:bodyPr>
          <a:lstStyle/>
          <a:p>
            <a:pPr algn="l">
              <a:lnSpc>
                <a:spcPct val="104000"/>
              </a:lnSpc>
              <a:spcBef>
                <a:spcPts val="0"/>
              </a:spcBef>
              <a:spcAft>
                <a:spcPts val="0"/>
              </a:spcAft>
            </a:pPr>
            <a:r>
              <a:rPr sz="3100" b="1" i="0">
                <a:solidFill>
                  <a:srgbClr val="19243D"/>
                </a:solidFill>
                <a:latin typeface="Noto Sans CJK JP"/>
              </a:rPr>
              <a:t>学んだことが、教室で「自分の出番」になる。</a:t>
            </a:r>
          </a:p>
        </p:txBody>
      </p:sp>
      <p:sp>
        <p:nvSpPr>
          <p:cNvPr id="6" name="TextBox 5"/>
          <p:cNvSpPr txBox="1"/>
          <p:nvPr/>
        </p:nvSpPr>
        <p:spPr>
          <a:xfrm>
            <a:off x="612648" y="6446520"/>
            <a:ext cx="10515600" cy="164592"/>
          </a:xfrm>
          <a:prstGeom prst="rect">
            <a:avLst/>
          </a:prstGeom>
          <a:noFill/>
        </p:spPr>
        <p:txBody>
          <a:bodyPr wrap="square" lIns="18288" tIns="0" rIns="18288" bIns="0" anchor="ctr">
            <a:spAutoFit/>
          </a:bodyPr>
          <a:lstStyle/>
          <a:p>
            <a:pPr algn="l">
              <a:lnSpc>
                <a:spcPct val="104000"/>
              </a:lnSpc>
              <a:spcBef>
                <a:spcPts val="0"/>
              </a:spcBef>
              <a:spcAft>
                <a:spcPts val="0"/>
              </a:spcAft>
            </a:pPr>
            <a:r>
              <a:rPr sz="810" b="0" i="0">
                <a:solidFill>
                  <a:srgbClr val="858D9C"/>
                </a:solidFill>
                <a:latin typeface="Noto Sans CJK JP"/>
              </a:rPr>
              <a:t>STARRING  /  AIエージェント アイデアソン by Animoca Brands Japan</a:t>
            </a:r>
          </a:p>
        </p:txBody>
      </p:sp>
      <p:sp>
        <p:nvSpPr>
          <p:cNvPr id="7" name="TextBox 6"/>
          <p:cNvSpPr txBox="1"/>
          <p:nvPr/>
        </p:nvSpPr>
        <p:spPr>
          <a:xfrm>
            <a:off x="11201400" y="6437376"/>
            <a:ext cx="320040" cy="182880"/>
          </a:xfrm>
          <a:prstGeom prst="rect">
            <a:avLst/>
          </a:prstGeom>
          <a:noFill/>
        </p:spPr>
        <p:txBody>
          <a:bodyPr wrap="square" lIns="18288" tIns="0" rIns="18288" bIns="0" anchor="ctr">
            <a:spAutoFit/>
          </a:bodyPr>
          <a:lstStyle/>
          <a:p>
            <a:pPr algn="r"/>
            <a:r>
              <a:rPr sz="900" b="1">
                <a:solidFill>
                  <a:srgbClr val="848D9C"/>
                </a:solidFill>
                <a:latin typeface="Noto Sans CJK JP"/>
              </a:rPr>
              <a:t>09</a:t>
            </a:r>
          </a:p>
        </p:txBody>
      </p:sp>
      <p:sp>
        <p:nvSpPr>
          <p:cNvPr id="8" name="Rounded Rectangle 7"/>
          <p:cNvSpPr/>
          <p:nvPr/>
        </p:nvSpPr>
        <p:spPr>
          <a:xfrm>
            <a:off x="731520" y="1874519"/>
            <a:ext cx="7424927" cy="4343400"/>
          </a:xfrm>
          <a:prstGeom prst="roundRect">
            <a:avLst>
              <a:gd name="adj" fmla="val 10000"/>
            </a:avLst>
          </a:prstGeom>
          <a:solidFill>
            <a:srgbClr val="E1E9E8"/>
          </a:solidFill>
          <a:ln w="12700">
            <a:solidFill>
              <a:srgbClr val="CAD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60120" y="2103120"/>
            <a:ext cx="6967728" cy="3621024"/>
          </a:xfrm>
          <a:prstGeom prst="roundRect">
            <a:avLst>
              <a:gd name="adj" fmla="val 10000"/>
            </a:avLst>
          </a:prstGeom>
          <a:solidFill>
            <a:srgbClr val="EA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161288" y="2322576"/>
            <a:ext cx="6547104" cy="1234440"/>
          </a:xfrm>
          <a:prstGeom prst="roundRect">
            <a:avLst>
              <a:gd name="adj" fmla="val 10000"/>
            </a:avLst>
          </a:prstGeom>
          <a:solidFill>
            <a:srgbClr val="203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44752" y="2450592"/>
            <a:ext cx="3383280" cy="228600"/>
          </a:xfrm>
          <a:prstGeom prst="rect">
            <a:avLst/>
          </a:prstGeom>
          <a:noFill/>
        </p:spPr>
        <p:txBody>
          <a:bodyPr wrap="square" lIns="18288" tIns="0" rIns="18288" bIns="0" anchor="ctr">
            <a:spAutoFit/>
          </a:bodyPr>
          <a:lstStyle/>
          <a:p>
            <a:pPr algn="l">
              <a:lnSpc>
                <a:spcPct val="104000"/>
              </a:lnSpc>
              <a:spcBef>
                <a:spcPts val="0"/>
              </a:spcBef>
              <a:spcAft>
                <a:spcPts val="0"/>
              </a:spcAft>
            </a:pPr>
            <a:r>
              <a:rPr sz="1200" b="1" i="0">
                <a:solidFill>
                  <a:srgbClr val="8CE9BD"/>
                </a:solidFill>
                <a:latin typeface="Noto Sans CJK JP"/>
              </a:rPr>
              <a:t>STARRING  /  CLASSROOM</a:t>
            </a:r>
          </a:p>
        </p:txBody>
      </p:sp>
      <p:sp>
        <p:nvSpPr>
          <p:cNvPr id="12" name="TextBox 11"/>
          <p:cNvSpPr txBox="1"/>
          <p:nvPr/>
        </p:nvSpPr>
        <p:spPr>
          <a:xfrm>
            <a:off x="1444752" y="2807208"/>
            <a:ext cx="5980176" cy="539496"/>
          </a:xfrm>
          <a:prstGeom prst="rect">
            <a:avLst/>
          </a:prstGeom>
          <a:noFill/>
        </p:spPr>
        <p:txBody>
          <a:bodyPr wrap="square" lIns="18288" tIns="0" rIns="18288" bIns="0" anchor="ctr">
            <a:spAutoFit/>
          </a:bodyPr>
          <a:lstStyle/>
          <a:p>
            <a:pPr algn="l">
              <a:lnSpc>
                <a:spcPct val="104000"/>
              </a:lnSpc>
              <a:spcBef>
                <a:spcPts val="0"/>
              </a:spcBef>
              <a:spcAft>
                <a:spcPts val="0"/>
              </a:spcAft>
            </a:pPr>
            <a:r>
              <a:rPr sz="1900" b="1" i="0">
                <a:solidFill>
                  <a:srgbClr val="FFFFFF"/>
                </a:solidFill>
                <a:latin typeface="Noto Sans CJK JP"/>
              </a:rPr>
              <a:t>先生「orbitって、どういう意味？」</a:t>
            </a:r>
          </a:p>
        </p:txBody>
      </p:sp>
      <p:sp>
        <p:nvSpPr>
          <p:cNvPr id="13" name="Oval 12"/>
          <p:cNvSpPr/>
          <p:nvPr/>
        </p:nvSpPr>
        <p:spPr>
          <a:xfrm>
            <a:off x="7104888" y="2560320"/>
            <a:ext cx="356616" cy="356616"/>
          </a:xfrm>
          <a:prstGeom prst="ellipse">
            <a:avLst/>
          </a:prstGeom>
          <a:solidFill>
            <a:srgbClr val="F1C6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086600" y="2871216"/>
            <a:ext cx="438912" cy="466344"/>
          </a:xfrm>
          <a:prstGeom prst="roundRect">
            <a:avLst>
              <a:gd name="adj" fmla="val 10000"/>
            </a:avLst>
          </a:prstGeom>
          <a:solidFill>
            <a:srgbClr val="3BA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143000" y="3822191"/>
            <a:ext cx="6537960" cy="1618488"/>
          </a:xfrm>
          <a:prstGeom prst="roundRect">
            <a:avLst>
              <a:gd name="adj" fmla="val 10000"/>
            </a:avLst>
          </a:prstGeom>
          <a:solidFill>
            <a:srgbClr val="C8D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609344" y="4087368"/>
            <a:ext cx="457200" cy="457200"/>
          </a:xfrm>
          <a:prstGeom prst="ellipse">
            <a:avLst/>
          </a:prstGeom>
          <a:solidFill>
            <a:srgbClr val="FFE2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581912" y="4558283"/>
            <a:ext cx="521208" cy="245790"/>
          </a:xfrm>
          <a:prstGeom prst="roundRect">
            <a:avLst>
              <a:gd name="adj" fmla="val 10000"/>
            </a:avLst>
          </a:prstGeom>
          <a:solidFill>
            <a:srgbClr val="7F9B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80744" y="4727448"/>
            <a:ext cx="969264" cy="182880"/>
          </a:xfrm>
          <a:prstGeom prst="rect">
            <a:avLst/>
          </a:prstGeom>
          <a:noFill/>
        </p:spPr>
        <p:txBody>
          <a:bodyPr wrap="square" lIns="18288" tIns="0" rIns="18288" bIns="0" anchor="ctr">
            <a:spAutoFit/>
          </a:bodyPr>
          <a:lstStyle/>
          <a:p>
            <a:pPr algn="ctr">
              <a:lnSpc>
                <a:spcPct val="104000"/>
              </a:lnSpc>
              <a:spcBef>
                <a:spcPts val="0"/>
              </a:spcBef>
              <a:spcAft>
                <a:spcPts val="0"/>
              </a:spcAft>
            </a:pPr>
            <a:r>
              <a:rPr sz="1000" b="1" i="0">
                <a:solidFill>
                  <a:srgbClr val="2D3E53"/>
                </a:solidFill>
                <a:latin typeface="Noto Sans CJK JP"/>
              </a:rPr>
              <a:t>同級生</a:t>
            </a:r>
          </a:p>
        </p:txBody>
      </p:sp>
      <p:sp>
        <p:nvSpPr>
          <p:cNvPr id="19" name="Oval 18"/>
          <p:cNvSpPr/>
          <p:nvPr/>
        </p:nvSpPr>
        <p:spPr>
          <a:xfrm>
            <a:off x="3364991" y="4087368"/>
            <a:ext cx="457200" cy="457200"/>
          </a:xfrm>
          <a:prstGeom prst="ellipse">
            <a:avLst/>
          </a:prstGeom>
          <a:solidFill>
            <a:srgbClr val="FFE2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3337560" y="4558283"/>
            <a:ext cx="521208" cy="245790"/>
          </a:xfrm>
          <a:prstGeom prst="roundRect">
            <a:avLst>
              <a:gd name="adj" fmla="val 10000"/>
            </a:avLst>
          </a:prstGeom>
          <a:solidFill>
            <a:srgbClr val="E1B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136391" y="4727448"/>
            <a:ext cx="969264" cy="182880"/>
          </a:xfrm>
          <a:prstGeom prst="rect">
            <a:avLst/>
          </a:prstGeom>
          <a:noFill/>
        </p:spPr>
        <p:txBody>
          <a:bodyPr wrap="square" lIns="18288" tIns="0" rIns="18288" bIns="0" anchor="ctr">
            <a:spAutoFit/>
          </a:bodyPr>
          <a:lstStyle/>
          <a:p>
            <a:pPr algn="ctr">
              <a:lnSpc>
                <a:spcPct val="104000"/>
              </a:lnSpc>
              <a:spcBef>
                <a:spcPts val="0"/>
              </a:spcBef>
              <a:spcAft>
                <a:spcPts val="0"/>
              </a:spcAft>
            </a:pPr>
            <a:r>
              <a:rPr sz="1000" b="1" i="0">
                <a:solidFill>
                  <a:srgbClr val="2D3E53"/>
                </a:solidFill>
                <a:latin typeface="Noto Sans CJK JP"/>
              </a:rPr>
              <a:t>同級生</a:t>
            </a:r>
          </a:p>
        </p:txBody>
      </p:sp>
      <p:sp>
        <p:nvSpPr>
          <p:cNvPr id="22" name="Oval 21"/>
          <p:cNvSpPr/>
          <p:nvPr/>
        </p:nvSpPr>
        <p:spPr>
          <a:xfrm>
            <a:off x="6144768" y="4087368"/>
            <a:ext cx="457200" cy="457200"/>
          </a:xfrm>
          <a:prstGeom prst="ellipse">
            <a:avLst/>
          </a:prstGeom>
          <a:solidFill>
            <a:srgbClr val="FFE2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117336" y="4558283"/>
            <a:ext cx="521208" cy="245790"/>
          </a:xfrm>
          <a:prstGeom prst="roundRect">
            <a:avLst>
              <a:gd name="adj" fmla="val 10000"/>
            </a:avLst>
          </a:prstGeom>
          <a:solidFill>
            <a:srgbClr val="928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16168" y="4727448"/>
            <a:ext cx="969264" cy="182880"/>
          </a:xfrm>
          <a:prstGeom prst="rect">
            <a:avLst/>
          </a:prstGeom>
          <a:noFill/>
        </p:spPr>
        <p:txBody>
          <a:bodyPr wrap="square" lIns="18288" tIns="0" rIns="18288" bIns="0" anchor="ctr">
            <a:spAutoFit/>
          </a:bodyPr>
          <a:lstStyle/>
          <a:p>
            <a:pPr algn="ctr">
              <a:lnSpc>
                <a:spcPct val="104000"/>
              </a:lnSpc>
              <a:spcBef>
                <a:spcPts val="0"/>
              </a:spcBef>
              <a:spcAft>
                <a:spcPts val="0"/>
              </a:spcAft>
            </a:pPr>
            <a:r>
              <a:rPr sz="1000" b="1" i="0">
                <a:solidFill>
                  <a:srgbClr val="2D3E53"/>
                </a:solidFill>
                <a:latin typeface="Noto Sans CJK JP"/>
              </a:rPr>
              <a:t>ライバル</a:t>
            </a:r>
          </a:p>
        </p:txBody>
      </p:sp>
      <p:sp>
        <p:nvSpPr>
          <p:cNvPr id="25" name="Oval 24"/>
          <p:cNvSpPr/>
          <p:nvPr/>
        </p:nvSpPr>
        <p:spPr>
          <a:xfrm>
            <a:off x="4818888" y="3904487"/>
            <a:ext cx="923544" cy="923544"/>
          </a:xfrm>
          <a:prstGeom prst="ellipse">
            <a:avLst/>
          </a:prstGeom>
          <a:solidFill>
            <a:srgbClr val="FFFFFF"/>
          </a:solidFill>
          <a:ln w="25400">
            <a:solidFill>
              <a:srgbClr val="F477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5029200" y="3995928"/>
            <a:ext cx="493776" cy="493776"/>
          </a:xfrm>
          <a:prstGeom prst="ellipse">
            <a:avLst/>
          </a:prstGeom>
          <a:solidFill>
            <a:srgbClr val="FFD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965192" y="4434840"/>
            <a:ext cx="658368" cy="384048"/>
          </a:xfrm>
          <a:prstGeom prst="roundRect">
            <a:avLst>
              <a:gd name="adj" fmla="val 10000"/>
            </a:avLst>
          </a:prstGeom>
          <a:solidFill>
            <a:srgbClr val="F47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965192" y="4892040"/>
            <a:ext cx="685800" cy="265176"/>
          </a:xfrm>
          <a:prstGeom prst="rect">
            <a:avLst/>
          </a:prstGeom>
          <a:noFill/>
        </p:spPr>
        <p:txBody>
          <a:bodyPr wrap="square" lIns="18288" tIns="0" rIns="18288" bIns="0" anchor="ctr">
            <a:spAutoFit/>
          </a:bodyPr>
          <a:lstStyle/>
          <a:p>
            <a:pPr algn="ctr">
              <a:lnSpc>
                <a:spcPct val="104000"/>
              </a:lnSpc>
              <a:spcBef>
                <a:spcPts val="0"/>
              </a:spcBef>
              <a:spcAft>
                <a:spcPts val="0"/>
              </a:spcAft>
            </a:pPr>
            <a:r>
              <a:rPr sz="1400" b="1" i="0">
                <a:solidFill>
                  <a:srgbClr val="19243D"/>
                </a:solidFill>
                <a:latin typeface="Noto Sans CJK JP"/>
              </a:rPr>
              <a:t>YOU</a:t>
            </a:r>
          </a:p>
        </p:txBody>
      </p:sp>
      <p:sp>
        <p:nvSpPr>
          <p:cNvPr id="29" name="Rounded Rectangle 28"/>
          <p:cNvSpPr/>
          <p:nvPr/>
        </p:nvSpPr>
        <p:spPr>
          <a:xfrm>
            <a:off x="1408176" y="5074920"/>
            <a:ext cx="2377440" cy="429768"/>
          </a:xfrm>
          <a:prstGeom prst="roundRect">
            <a:avLst>
              <a:gd name="adj" fmla="val 10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490472" y="5148072"/>
            <a:ext cx="2194560" cy="210312"/>
          </a:xfrm>
          <a:prstGeom prst="rect">
            <a:avLst/>
          </a:prstGeom>
          <a:noFill/>
        </p:spPr>
        <p:txBody>
          <a:bodyPr wrap="square" lIns="18288" tIns="0" rIns="18288" bIns="0" anchor="ctr">
            <a:spAutoFit/>
          </a:bodyPr>
          <a:lstStyle/>
          <a:p>
            <a:pPr algn="l">
              <a:lnSpc>
                <a:spcPct val="104000"/>
              </a:lnSpc>
              <a:spcBef>
                <a:spcPts val="0"/>
              </a:spcBef>
              <a:spcAft>
                <a:spcPts val="0"/>
              </a:spcAft>
            </a:pPr>
            <a:r>
              <a:rPr sz="1000" b="0" i="0">
                <a:solidFill>
                  <a:srgbClr val="53667A"/>
                </a:solidFill>
                <a:latin typeface="Noto Sans CJK JP"/>
              </a:rPr>
              <a:t>「うーん、何だっけ？」</a:t>
            </a:r>
          </a:p>
        </p:txBody>
      </p:sp>
      <p:sp>
        <p:nvSpPr>
          <p:cNvPr id="31" name="Rounded Rectangle 30"/>
          <p:cNvSpPr/>
          <p:nvPr/>
        </p:nvSpPr>
        <p:spPr>
          <a:xfrm>
            <a:off x="4032504" y="5614416"/>
            <a:ext cx="3675887" cy="356616"/>
          </a:xfrm>
          <a:prstGeom prst="roundRect">
            <a:avLst>
              <a:gd name="adj" fmla="val 10000"/>
            </a:avLst>
          </a:prstGeom>
          <a:solidFill>
            <a:srgbClr val="FFF4E9"/>
          </a:solidFill>
          <a:ln w="12700">
            <a:solidFill>
              <a:srgbClr val="F6C7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51376" y="5669280"/>
            <a:ext cx="3438144" cy="219456"/>
          </a:xfrm>
          <a:prstGeom prst="rect">
            <a:avLst/>
          </a:prstGeom>
          <a:noFill/>
        </p:spPr>
        <p:txBody>
          <a:bodyPr wrap="square" lIns="18288" tIns="0" rIns="18288" bIns="0" anchor="ctr">
            <a:spAutoFit/>
          </a:bodyPr>
          <a:lstStyle/>
          <a:p>
            <a:pPr algn="ctr">
              <a:lnSpc>
                <a:spcPct val="104000"/>
              </a:lnSpc>
              <a:spcBef>
                <a:spcPts val="0"/>
              </a:spcBef>
              <a:spcAft>
                <a:spcPts val="0"/>
              </a:spcAft>
            </a:pPr>
            <a:r>
              <a:rPr sz="1100" b="1" i="0">
                <a:solidFill>
                  <a:srgbClr val="19243D"/>
                </a:solidFill>
                <a:latin typeface="Noto Sans CJK JP"/>
              </a:rPr>
              <a:t>他の仲間にも、別の得意分野がある</a:t>
            </a:r>
          </a:p>
        </p:txBody>
      </p:sp>
      <p:sp>
        <p:nvSpPr>
          <p:cNvPr id="33" name="Rounded Rectangle 32"/>
          <p:cNvSpPr/>
          <p:nvPr/>
        </p:nvSpPr>
        <p:spPr>
          <a:xfrm>
            <a:off x="8412480" y="1874519"/>
            <a:ext cx="3054096" cy="4343400"/>
          </a:xfrm>
          <a:prstGeom prst="roundRect">
            <a:avLst>
              <a:gd name="adj" fmla="val 10000"/>
            </a:avLst>
          </a:prstGeom>
          <a:solidFill>
            <a:srgbClr val="FFFFFF"/>
          </a:solidFill>
          <a:ln w="12700">
            <a:solidFill>
              <a:srgbClr val="E7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705088" y="2185416"/>
            <a:ext cx="2532888" cy="274320"/>
          </a:xfrm>
          <a:prstGeom prst="rect">
            <a:avLst/>
          </a:prstGeom>
          <a:noFill/>
        </p:spPr>
        <p:txBody>
          <a:bodyPr wrap="square" lIns="18288" tIns="0" rIns="18288" bIns="0" anchor="ctr">
            <a:spAutoFit/>
          </a:bodyPr>
          <a:lstStyle/>
          <a:p>
            <a:pPr algn="l">
              <a:lnSpc>
                <a:spcPct val="104000"/>
              </a:lnSpc>
              <a:spcBef>
                <a:spcPts val="0"/>
              </a:spcBef>
              <a:spcAft>
                <a:spcPts val="0"/>
              </a:spcAft>
            </a:pPr>
            <a:r>
              <a:rPr sz="1400" b="1" i="0">
                <a:solidFill>
                  <a:srgbClr val="F4774E"/>
                </a:solidFill>
                <a:latin typeface="Noto Sans CJK JP"/>
              </a:rPr>
              <a:t>先生が問いを選ぶ</a:t>
            </a:r>
          </a:p>
        </p:txBody>
      </p:sp>
      <p:sp>
        <p:nvSpPr>
          <p:cNvPr id="35" name="TextBox 34"/>
          <p:cNvSpPr txBox="1"/>
          <p:nvPr/>
        </p:nvSpPr>
        <p:spPr>
          <a:xfrm>
            <a:off x="8705088" y="2532888"/>
            <a:ext cx="2542032" cy="612648"/>
          </a:xfrm>
          <a:prstGeom prst="rect">
            <a:avLst/>
          </a:prstGeom>
          <a:noFill/>
        </p:spPr>
        <p:txBody>
          <a:bodyPr wrap="square" lIns="18288" tIns="0" rIns="18288" bIns="0" anchor="ctr">
            <a:spAutoFit/>
          </a:bodyPr>
          <a:lstStyle/>
          <a:p>
            <a:pPr algn="l">
              <a:lnSpc>
                <a:spcPct val="104000"/>
              </a:lnSpc>
              <a:spcBef>
                <a:spcPts val="0"/>
              </a:spcBef>
              <a:spcAft>
                <a:spcPts val="0"/>
              </a:spcAft>
            </a:pPr>
            <a:r>
              <a:rPr sz="1600" b="1" i="0">
                <a:solidFill>
                  <a:srgbClr val="19243D"/>
                </a:solidFill>
                <a:latin typeface="Noto Sans CJK JP"/>
              </a:rPr>
              <a:t>「この単語を</a:t>
            </a:r>
          </a:p>
          <a:p>
            <a:pPr algn="l">
              <a:lnSpc>
                <a:spcPct val="104000"/>
              </a:lnSpc>
              <a:spcBef>
                <a:spcPts val="0"/>
              </a:spcBef>
              <a:spcAft>
                <a:spcPts val="0"/>
              </a:spcAft>
            </a:pPr>
            <a:r>
              <a:rPr sz="1600" b="1" i="0">
                <a:solidFill>
                  <a:srgbClr val="19243D"/>
                </a:solidFill>
                <a:latin typeface="Noto Sans CJK JP"/>
              </a:rPr>
              <a:t>説明できる人？」</a:t>
            </a:r>
          </a:p>
        </p:txBody>
      </p:sp>
      <p:cxnSp>
        <p:nvCxnSpPr>
          <p:cNvPr id="36" name="Connector 35"/>
          <p:cNvCxnSpPr/>
          <p:nvPr/>
        </p:nvCxnSpPr>
        <p:spPr>
          <a:xfrm>
            <a:off x="8705088" y="3291840"/>
            <a:ext cx="2414016" cy="0"/>
          </a:xfrm>
          <a:prstGeom prst="line">
            <a:avLst/>
          </a:prstGeom>
          <a:ln w="17780">
            <a:solidFill>
              <a:srgbClr val="E4E0DD"/>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705088" y="3447288"/>
            <a:ext cx="2532888" cy="237744"/>
          </a:xfrm>
          <a:prstGeom prst="rect">
            <a:avLst/>
          </a:prstGeom>
          <a:noFill/>
        </p:spPr>
        <p:txBody>
          <a:bodyPr wrap="square" lIns="18288" tIns="0" rIns="18288" bIns="0" anchor="ctr">
            <a:spAutoFit/>
          </a:bodyPr>
          <a:lstStyle/>
          <a:p>
            <a:pPr algn="l">
              <a:lnSpc>
                <a:spcPct val="104000"/>
              </a:lnSpc>
              <a:spcBef>
                <a:spcPts val="0"/>
              </a:spcBef>
              <a:spcAft>
                <a:spcPts val="0"/>
              </a:spcAft>
            </a:pPr>
            <a:r>
              <a:rPr sz="1400" b="1" i="0">
                <a:solidFill>
                  <a:srgbClr val="267A73"/>
                </a:solidFill>
                <a:latin typeface="Noto Sans CJK JP"/>
              </a:rPr>
              <a:t>あなたが自力で答える</a:t>
            </a:r>
          </a:p>
        </p:txBody>
      </p:sp>
      <p:sp>
        <p:nvSpPr>
          <p:cNvPr id="38" name="TextBox 37"/>
          <p:cNvSpPr txBox="1"/>
          <p:nvPr/>
        </p:nvSpPr>
        <p:spPr>
          <a:xfrm>
            <a:off x="8705088" y="3730752"/>
            <a:ext cx="2532888" cy="667512"/>
          </a:xfrm>
          <a:prstGeom prst="rect">
            <a:avLst/>
          </a:prstGeom>
          <a:noFill/>
        </p:spPr>
        <p:txBody>
          <a:bodyPr wrap="square" lIns="18288" tIns="0" rIns="18288" bIns="0" anchor="ctr">
            <a:spAutoFit/>
          </a:bodyPr>
          <a:lstStyle/>
          <a:p>
            <a:r>
              <a:rPr sz="1600" b="1">
                <a:solidFill>
                  <a:srgbClr val="19243D"/>
                </a:solidFill>
                <a:latin typeface="Noto Sans CJK JP"/>
              </a:rPr>
              <a:t>「天体が回る道筋、</a:t>
            </a:r>
          </a:p>
          <a:p>
            <a:r>
              <a:rPr sz="1600" b="1">
                <a:solidFill>
                  <a:srgbClr val="19243D"/>
                </a:solidFill>
                <a:latin typeface="Noto Sans CJK JP"/>
              </a:rPr>
              <a:t>軌道のことです」</a:t>
            </a:r>
          </a:p>
        </p:txBody>
      </p:sp>
      <p:cxnSp>
        <p:nvCxnSpPr>
          <p:cNvPr id="39" name="Connector 38"/>
          <p:cNvCxnSpPr/>
          <p:nvPr/>
        </p:nvCxnSpPr>
        <p:spPr>
          <a:xfrm>
            <a:off x="8705088" y="4581144"/>
            <a:ext cx="2414016" cy="0"/>
          </a:xfrm>
          <a:prstGeom prst="line">
            <a:avLst/>
          </a:prstGeom>
          <a:ln w="17780">
            <a:solidFill>
              <a:srgbClr val="E4E0DD"/>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705088" y="4745736"/>
            <a:ext cx="2532888" cy="274320"/>
          </a:xfrm>
          <a:prstGeom prst="rect">
            <a:avLst/>
          </a:prstGeom>
          <a:noFill/>
        </p:spPr>
        <p:txBody>
          <a:bodyPr wrap="square" lIns="18288" tIns="0" rIns="18288" bIns="0" anchor="ctr">
            <a:spAutoFit/>
          </a:bodyPr>
          <a:lstStyle/>
          <a:p>
            <a:pPr algn="l">
              <a:lnSpc>
                <a:spcPct val="104000"/>
              </a:lnSpc>
              <a:spcBef>
                <a:spcPts val="0"/>
              </a:spcBef>
              <a:spcAft>
                <a:spcPts val="0"/>
              </a:spcAft>
            </a:pPr>
            <a:r>
              <a:rPr sz="1400" b="1" i="0">
                <a:solidFill>
                  <a:srgbClr val="F4774E"/>
                </a:solidFill>
                <a:latin typeface="Noto Sans CJK JP"/>
              </a:rPr>
              <a:t>同級生からの反応</a:t>
            </a:r>
          </a:p>
        </p:txBody>
      </p:sp>
      <p:sp>
        <p:nvSpPr>
          <p:cNvPr id="41" name="TextBox 40"/>
          <p:cNvSpPr txBox="1"/>
          <p:nvPr/>
        </p:nvSpPr>
        <p:spPr>
          <a:xfrm>
            <a:off x="8705088" y="5074920"/>
            <a:ext cx="2542032" cy="640080"/>
          </a:xfrm>
          <a:prstGeom prst="rect">
            <a:avLst/>
          </a:prstGeom>
          <a:noFill/>
        </p:spPr>
        <p:txBody>
          <a:bodyPr wrap="square" lIns="18288" tIns="0" rIns="18288" bIns="0" anchor="ctr">
            <a:spAutoFit/>
          </a:bodyPr>
          <a:lstStyle/>
          <a:p>
            <a:pPr algn="l">
              <a:lnSpc>
                <a:spcPct val="104000"/>
              </a:lnSpc>
              <a:spcBef>
                <a:spcPts val="0"/>
              </a:spcBef>
              <a:spcAft>
                <a:spcPts val="0"/>
              </a:spcAft>
            </a:pPr>
            <a:r>
              <a:rPr sz="1700" b="1" i="0" dirty="0">
                <a:solidFill>
                  <a:srgbClr val="19243D"/>
                </a:solidFill>
                <a:latin typeface="Noto Sans CJK JP"/>
              </a:rPr>
              <a:t>「</a:t>
            </a:r>
            <a:r>
              <a:rPr sz="1700" b="1" i="0" dirty="0" err="1">
                <a:solidFill>
                  <a:srgbClr val="19243D"/>
                </a:solidFill>
                <a:latin typeface="Noto Sans CJK JP"/>
              </a:rPr>
              <a:t>宇宙の例で</a:t>
            </a:r>
            <a:endParaRPr sz="1700" b="1" i="0" dirty="0">
              <a:solidFill>
                <a:srgbClr val="19243D"/>
              </a:solidFill>
              <a:latin typeface="Noto Sans CJK JP"/>
            </a:endParaRPr>
          </a:p>
          <a:p>
            <a:pPr algn="l">
              <a:lnSpc>
                <a:spcPct val="104000"/>
              </a:lnSpc>
              <a:spcBef>
                <a:spcPts val="0"/>
              </a:spcBef>
              <a:spcAft>
                <a:spcPts val="0"/>
              </a:spcAft>
            </a:pPr>
            <a:r>
              <a:rPr sz="1700" b="1" i="0" dirty="0" err="1">
                <a:solidFill>
                  <a:srgbClr val="19243D"/>
                </a:solidFill>
                <a:latin typeface="Noto Sans CJK JP"/>
              </a:rPr>
              <a:t>分かった、ありがとう</a:t>
            </a:r>
            <a:r>
              <a:rPr sz="1700" b="1" i="0" dirty="0">
                <a:solidFill>
                  <a:srgbClr val="19243D"/>
                </a:solidFill>
                <a:latin typeface="Noto Sans CJK JP"/>
              </a:rPr>
              <a:t>！」</a:t>
            </a:r>
          </a:p>
        </p:txBody>
      </p:sp>
      <p:sp>
        <p:nvSpPr>
          <p:cNvPr id="42" name="TextBox 41"/>
          <p:cNvSpPr txBox="1"/>
          <p:nvPr/>
        </p:nvSpPr>
        <p:spPr>
          <a:xfrm>
            <a:off x="941832" y="6208776"/>
            <a:ext cx="10561320" cy="228600"/>
          </a:xfrm>
          <a:prstGeom prst="rect">
            <a:avLst/>
          </a:prstGeom>
          <a:noFill/>
        </p:spPr>
        <p:txBody>
          <a:bodyPr wrap="square" lIns="18288" tIns="0" rIns="18288" bIns="0" anchor="ctr">
            <a:spAutoFit/>
          </a:bodyPr>
          <a:lstStyle/>
          <a:p>
            <a:pPr algn="ctr">
              <a:lnSpc>
                <a:spcPct val="104000"/>
              </a:lnSpc>
              <a:spcBef>
                <a:spcPts val="0"/>
              </a:spcBef>
              <a:spcAft>
                <a:spcPts val="0"/>
              </a:spcAft>
            </a:pPr>
            <a:r>
              <a:rPr sz="1100" b="1" i="0">
                <a:solidFill>
                  <a:srgbClr val="697286"/>
                </a:solidFill>
                <a:latin typeface="Noto Sans CJK JP"/>
              </a:rPr>
              <a:t>正解を演出するのではなく、本人が理解して答えた内容に、仲間が具体的に反応する。</a:t>
            </a:r>
          </a:p>
        </p:txBody>
      </p:sp>
      <p:pic>
        <p:nvPicPr>
          <p:cNvPr id="43" name="図 42">
            <a:extLst>
              <a:ext uri="{FF2B5EF4-FFF2-40B4-BE49-F238E27FC236}">
                <a16:creationId xmlns:a16="http://schemas.microsoft.com/office/drawing/2014/main" id="{848222D0-A0D3-2E75-3E3A-8842164B8246}"/>
              </a:ext>
            </a:extLst>
          </p:cNvPr>
          <p:cNvPicPr>
            <a:picLocks noChangeAspect="1"/>
          </p:cNvPicPr>
          <p:nvPr/>
        </p:nvPicPr>
        <p:blipFill>
          <a:blip r:embed="rId3"/>
          <a:stretch>
            <a:fillRect/>
          </a:stretch>
        </p:blipFill>
        <p:spPr>
          <a:xfrm>
            <a:off x="0" y="18288"/>
            <a:ext cx="12133428" cy="68214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04088" y="429768"/>
            <a:ext cx="68580" cy="219456"/>
          </a:xfrm>
          <a:prstGeom prst="rect">
            <a:avLst/>
          </a:prstGeom>
          <a:solidFill>
            <a:srgbClr val="F47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411480"/>
            <a:ext cx="10607040" cy="320040"/>
          </a:xfrm>
          <a:prstGeom prst="rect">
            <a:avLst/>
          </a:prstGeom>
          <a:noFill/>
        </p:spPr>
        <p:txBody>
          <a:bodyPr wrap="square" lIns="18288" tIns="0" rIns="18288" bIns="0" anchor="ctr">
            <a:spAutoFit/>
          </a:bodyPr>
          <a:lstStyle/>
          <a:p>
            <a:pPr algn="l">
              <a:lnSpc>
                <a:spcPct val="104000"/>
              </a:lnSpc>
              <a:spcBef>
                <a:spcPts val="0"/>
              </a:spcBef>
              <a:spcAft>
                <a:spcPts val="0"/>
              </a:spcAft>
            </a:pPr>
            <a:r>
              <a:rPr sz="1300" b="1" i="0">
                <a:solidFill>
                  <a:srgbClr val="F4774E"/>
                </a:solidFill>
                <a:latin typeface="Noto Sans CJK JP"/>
              </a:rPr>
              <a:t>THE REWARD / EARNED RECOGNITION</a:t>
            </a:r>
          </a:p>
        </p:txBody>
      </p:sp>
      <p:sp>
        <p:nvSpPr>
          <p:cNvPr id="5" name="TextBox 4"/>
          <p:cNvSpPr txBox="1"/>
          <p:nvPr/>
        </p:nvSpPr>
        <p:spPr>
          <a:xfrm>
            <a:off x="731520" y="960120"/>
            <a:ext cx="10789920" cy="658368"/>
          </a:xfrm>
          <a:prstGeom prst="rect">
            <a:avLst/>
          </a:prstGeom>
          <a:noFill/>
        </p:spPr>
        <p:txBody>
          <a:bodyPr wrap="square" lIns="18288" tIns="0" rIns="18288" bIns="0" anchor="ctr">
            <a:spAutoFit/>
          </a:bodyPr>
          <a:lstStyle/>
          <a:p>
            <a:pPr algn="l">
              <a:lnSpc>
                <a:spcPct val="104000"/>
              </a:lnSpc>
              <a:spcBef>
                <a:spcPts val="0"/>
              </a:spcBef>
              <a:spcAft>
                <a:spcPts val="0"/>
              </a:spcAft>
            </a:pPr>
            <a:r>
              <a:rPr sz="3100" b="1" i="0">
                <a:solidFill>
                  <a:srgbClr val="19243D"/>
                </a:solidFill>
                <a:latin typeface="Noto Sans CJK JP"/>
              </a:rPr>
              <a:t>褒められるのは、正解したからだけじゃない。</a:t>
            </a:r>
          </a:p>
        </p:txBody>
      </p:sp>
      <p:sp>
        <p:nvSpPr>
          <p:cNvPr id="6" name="TextBox 5"/>
          <p:cNvSpPr txBox="1"/>
          <p:nvPr/>
        </p:nvSpPr>
        <p:spPr>
          <a:xfrm>
            <a:off x="612648" y="6446520"/>
            <a:ext cx="10515600" cy="164592"/>
          </a:xfrm>
          <a:prstGeom prst="rect">
            <a:avLst/>
          </a:prstGeom>
          <a:noFill/>
        </p:spPr>
        <p:txBody>
          <a:bodyPr wrap="square" lIns="18288" tIns="0" rIns="18288" bIns="0" anchor="ctr">
            <a:spAutoFit/>
          </a:bodyPr>
          <a:lstStyle/>
          <a:p>
            <a:pPr algn="l">
              <a:lnSpc>
                <a:spcPct val="104000"/>
              </a:lnSpc>
              <a:spcBef>
                <a:spcPts val="0"/>
              </a:spcBef>
              <a:spcAft>
                <a:spcPts val="0"/>
              </a:spcAft>
            </a:pPr>
            <a:r>
              <a:rPr sz="810" b="0" i="0">
                <a:solidFill>
                  <a:srgbClr val="858D9C"/>
                </a:solidFill>
                <a:latin typeface="Noto Sans CJK JP"/>
              </a:rPr>
              <a:t>STARRING  /  AIエージェント アイデアソン by Animoca Brands Japan</a:t>
            </a:r>
          </a:p>
        </p:txBody>
      </p:sp>
      <p:sp>
        <p:nvSpPr>
          <p:cNvPr id="7" name="TextBox 6"/>
          <p:cNvSpPr txBox="1"/>
          <p:nvPr/>
        </p:nvSpPr>
        <p:spPr>
          <a:xfrm>
            <a:off x="11201400" y="6437376"/>
            <a:ext cx="320040" cy="182880"/>
          </a:xfrm>
          <a:prstGeom prst="rect">
            <a:avLst/>
          </a:prstGeom>
          <a:noFill/>
        </p:spPr>
        <p:txBody>
          <a:bodyPr wrap="square" lIns="18288" tIns="0" rIns="18288" bIns="0" anchor="ctr">
            <a:spAutoFit/>
          </a:bodyPr>
          <a:lstStyle/>
          <a:p>
            <a:pPr algn="r"/>
            <a:r>
              <a:rPr sz="900" b="1">
                <a:solidFill>
                  <a:srgbClr val="848D9C"/>
                </a:solidFill>
                <a:latin typeface="Noto Sans CJK JP"/>
              </a:rPr>
              <a:t>10</a:t>
            </a:r>
          </a:p>
        </p:txBody>
      </p:sp>
      <p:sp>
        <p:nvSpPr>
          <p:cNvPr id="8" name="Rounded Rectangle 7"/>
          <p:cNvSpPr/>
          <p:nvPr/>
        </p:nvSpPr>
        <p:spPr>
          <a:xfrm>
            <a:off x="795528" y="2130552"/>
            <a:ext cx="3502152" cy="3273552"/>
          </a:xfrm>
          <a:prstGeom prst="roundRect">
            <a:avLst>
              <a:gd name="adj" fmla="val 10000"/>
            </a:avLst>
          </a:prstGeom>
          <a:solidFill>
            <a:srgbClr val="FFFFFF"/>
          </a:solidFill>
          <a:ln w="12700">
            <a:solidFill>
              <a:srgbClr val="E8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005840" y="2350008"/>
            <a:ext cx="530352" cy="530352"/>
          </a:xfrm>
          <a:prstGeom prst="roundRect">
            <a:avLst>
              <a:gd name="adj" fmla="val 10000"/>
            </a:avLst>
          </a:prstGeom>
          <a:solidFill>
            <a:srgbClr val="267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450592"/>
            <a:ext cx="429768" cy="228600"/>
          </a:xfrm>
          <a:prstGeom prst="rect">
            <a:avLst/>
          </a:prstGeom>
          <a:noFill/>
        </p:spPr>
        <p:txBody>
          <a:bodyPr wrap="square" lIns="18288" tIns="0" rIns="18288" bIns="0" anchor="ctr">
            <a:spAutoFit/>
          </a:bodyPr>
          <a:lstStyle/>
          <a:p>
            <a:pPr algn="ctr">
              <a:lnSpc>
                <a:spcPct val="104000"/>
              </a:lnSpc>
              <a:spcBef>
                <a:spcPts val="0"/>
              </a:spcBef>
              <a:spcAft>
                <a:spcPts val="0"/>
              </a:spcAft>
            </a:pPr>
            <a:r>
              <a:rPr sz="1200" b="1" i="0">
                <a:solidFill>
                  <a:srgbClr val="FFFFFF"/>
                </a:solidFill>
                <a:latin typeface="Noto Sans CJK JP"/>
              </a:rPr>
              <a:t>01</a:t>
            </a:r>
          </a:p>
        </p:txBody>
      </p:sp>
      <p:sp>
        <p:nvSpPr>
          <p:cNvPr id="11" name="TextBox 10"/>
          <p:cNvSpPr txBox="1"/>
          <p:nvPr/>
        </p:nvSpPr>
        <p:spPr>
          <a:xfrm>
            <a:off x="1005840" y="3127248"/>
            <a:ext cx="3017520" cy="530352"/>
          </a:xfrm>
          <a:prstGeom prst="rect">
            <a:avLst/>
          </a:prstGeom>
          <a:noFill/>
        </p:spPr>
        <p:txBody>
          <a:bodyPr wrap="square" lIns="18288" tIns="0" rIns="18288" bIns="0" anchor="ctr">
            <a:spAutoFit/>
          </a:bodyPr>
          <a:lstStyle/>
          <a:p>
            <a:pPr algn="l">
              <a:lnSpc>
                <a:spcPct val="104000"/>
              </a:lnSpc>
              <a:spcBef>
                <a:spcPts val="0"/>
              </a:spcBef>
              <a:spcAft>
                <a:spcPts val="0"/>
              </a:spcAft>
            </a:pPr>
            <a:r>
              <a:rPr sz="2000" b="1" i="0">
                <a:solidFill>
                  <a:srgbClr val="19243D"/>
                </a:solidFill>
                <a:latin typeface="Noto Sans CJK JP"/>
              </a:rPr>
              <a:t>自分で説明できた</a:t>
            </a:r>
          </a:p>
        </p:txBody>
      </p:sp>
      <p:sp>
        <p:nvSpPr>
          <p:cNvPr id="12" name="Rounded Rectangle 11"/>
          <p:cNvSpPr/>
          <p:nvPr/>
        </p:nvSpPr>
        <p:spPr>
          <a:xfrm>
            <a:off x="1014983" y="3913632"/>
            <a:ext cx="2971800" cy="1078992"/>
          </a:xfrm>
          <a:prstGeom prst="roundRect">
            <a:avLst>
              <a:gd name="adj" fmla="val 10000"/>
            </a:avLst>
          </a:prstGeom>
          <a:solidFill>
            <a:srgbClr val="E8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52144" y="4041648"/>
            <a:ext cx="2752344" cy="804672"/>
          </a:xfrm>
          <a:prstGeom prst="rect">
            <a:avLst/>
          </a:prstGeom>
          <a:noFill/>
        </p:spPr>
        <p:txBody>
          <a:bodyPr wrap="square" lIns="18288" tIns="0" rIns="18288" bIns="0" anchor="ctr">
            <a:spAutoFit/>
          </a:bodyPr>
          <a:lstStyle/>
          <a:p>
            <a:pPr algn="l">
              <a:lnSpc>
                <a:spcPct val="104000"/>
              </a:lnSpc>
              <a:spcBef>
                <a:spcPts val="0"/>
              </a:spcBef>
              <a:spcAft>
                <a:spcPts val="0"/>
              </a:spcAft>
            </a:pPr>
            <a:r>
              <a:rPr sz="1300" b="0" i="0">
                <a:solidFill>
                  <a:srgbClr val="19243D"/>
                </a:solidFill>
                <a:latin typeface="Noto Sans CJK JP"/>
              </a:rPr>
              <a:t>以前は言えなかった単語を、</a:t>
            </a:r>
          </a:p>
          <a:p>
            <a:pPr algn="l">
              <a:lnSpc>
                <a:spcPct val="104000"/>
              </a:lnSpc>
              <a:spcBef>
                <a:spcPts val="0"/>
              </a:spcBef>
              <a:spcAft>
                <a:spcPts val="0"/>
              </a:spcAft>
            </a:pPr>
            <a:r>
              <a:rPr sz="1300" b="0" i="0">
                <a:solidFill>
                  <a:srgbClr val="19243D"/>
                </a:solidFill>
                <a:latin typeface="Noto Sans CJK JP"/>
              </a:rPr>
              <a:t>例を使って説明できた。</a:t>
            </a:r>
          </a:p>
        </p:txBody>
      </p:sp>
      <p:sp>
        <p:nvSpPr>
          <p:cNvPr id="14" name="Rounded Rectangle 13"/>
          <p:cNvSpPr/>
          <p:nvPr/>
        </p:nvSpPr>
        <p:spPr>
          <a:xfrm>
            <a:off x="4654296" y="2130552"/>
            <a:ext cx="3502152" cy="3273552"/>
          </a:xfrm>
          <a:prstGeom prst="roundRect">
            <a:avLst>
              <a:gd name="adj" fmla="val 10000"/>
            </a:avLst>
          </a:prstGeom>
          <a:solidFill>
            <a:srgbClr val="FFFFFF"/>
          </a:solidFill>
          <a:ln w="12700">
            <a:solidFill>
              <a:srgbClr val="E8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864608" y="2350008"/>
            <a:ext cx="530352" cy="530352"/>
          </a:xfrm>
          <a:prstGeom prst="roundRect">
            <a:avLst>
              <a:gd name="adj" fmla="val 10000"/>
            </a:avLst>
          </a:prstGeom>
          <a:solidFill>
            <a:srgbClr val="F47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910328" y="2450592"/>
            <a:ext cx="429768" cy="228600"/>
          </a:xfrm>
          <a:prstGeom prst="rect">
            <a:avLst/>
          </a:prstGeom>
          <a:noFill/>
        </p:spPr>
        <p:txBody>
          <a:bodyPr wrap="square" lIns="18288" tIns="0" rIns="18288" bIns="0" anchor="ctr">
            <a:spAutoFit/>
          </a:bodyPr>
          <a:lstStyle/>
          <a:p>
            <a:pPr algn="ctr">
              <a:lnSpc>
                <a:spcPct val="104000"/>
              </a:lnSpc>
              <a:spcBef>
                <a:spcPts val="0"/>
              </a:spcBef>
              <a:spcAft>
                <a:spcPts val="0"/>
              </a:spcAft>
            </a:pPr>
            <a:r>
              <a:rPr sz="1200" b="1" i="0">
                <a:solidFill>
                  <a:srgbClr val="FFFFFF"/>
                </a:solidFill>
                <a:latin typeface="Noto Sans CJK JP"/>
              </a:rPr>
              <a:t>02</a:t>
            </a:r>
          </a:p>
        </p:txBody>
      </p:sp>
      <p:sp>
        <p:nvSpPr>
          <p:cNvPr id="17" name="TextBox 16"/>
          <p:cNvSpPr txBox="1"/>
          <p:nvPr/>
        </p:nvSpPr>
        <p:spPr>
          <a:xfrm>
            <a:off x="4864608" y="3127248"/>
            <a:ext cx="3017520" cy="530352"/>
          </a:xfrm>
          <a:prstGeom prst="rect">
            <a:avLst/>
          </a:prstGeom>
          <a:noFill/>
        </p:spPr>
        <p:txBody>
          <a:bodyPr wrap="square" lIns="18288" tIns="0" rIns="18288" bIns="0" anchor="ctr">
            <a:spAutoFit/>
          </a:bodyPr>
          <a:lstStyle/>
          <a:p>
            <a:pPr algn="l">
              <a:lnSpc>
                <a:spcPct val="104000"/>
              </a:lnSpc>
              <a:spcBef>
                <a:spcPts val="0"/>
              </a:spcBef>
              <a:spcAft>
                <a:spcPts val="0"/>
              </a:spcAft>
            </a:pPr>
            <a:r>
              <a:rPr sz="2000" b="1" i="0">
                <a:solidFill>
                  <a:srgbClr val="19243D"/>
                </a:solidFill>
                <a:latin typeface="Noto Sans CJK JP"/>
              </a:rPr>
              <a:t>誰かの理解につながった</a:t>
            </a:r>
          </a:p>
        </p:txBody>
      </p:sp>
      <p:sp>
        <p:nvSpPr>
          <p:cNvPr id="18" name="Rounded Rectangle 17"/>
          <p:cNvSpPr/>
          <p:nvPr/>
        </p:nvSpPr>
        <p:spPr>
          <a:xfrm>
            <a:off x="4873752" y="3913632"/>
            <a:ext cx="2971800" cy="1078992"/>
          </a:xfrm>
          <a:prstGeom prst="roundRect">
            <a:avLst>
              <a:gd name="adj" fmla="val 10000"/>
            </a:avLst>
          </a:prstGeom>
          <a:solidFill>
            <a:srgbClr val="F8E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10912" y="4041648"/>
            <a:ext cx="2752344" cy="804672"/>
          </a:xfrm>
          <a:prstGeom prst="rect">
            <a:avLst/>
          </a:prstGeom>
          <a:noFill/>
        </p:spPr>
        <p:txBody>
          <a:bodyPr wrap="square" lIns="18288" tIns="0" rIns="18288" bIns="0" anchor="ctr">
            <a:spAutoFit/>
          </a:bodyPr>
          <a:lstStyle/>
          <a:p>
            <a:pPr algn="l">
              <a:lnSpc>
                <a:spcPct val="104000"/>
              </a:lnSpc>
              <a:spcBef>
                <a:spcPts val="0"/>
              </a:spcBef>
              <a:spcAft>
                <a:spcPts val="0"/>
              </a:spcAft>
            </a:pPr>
            <a:r>
              <a:rPr sz="1300" b="0" i="0">
                <a:solidFill>
                  <a:srgbClr val="19243D"/>
                </a:solidFill>
                <a:latin typeface="Noto Sans CJK JP"/>
              </a:rPr>
              <a:t>仲間が「ああ、そういう意味か」</a:t>
            </a:r>
          </a:p>
          <a:p>
            <a:pPr algn="l">
              <a:lnSpc>
                <a:spcPct val="104000"/>
              </a:lnSpc>
              <a:spcBef>
                <a:spcPts val="0"/>
              </a:spcBef>
              <a:spcAft>
                <a:spcPts val="0"/>
              </a:spcAft>
            </a:pPr>
            <a:r>
              <a:rPr sz="1300" b="0" i="0">
                <a:solidFill>
                  <a:srgbClr val="19243D"/>
                </a:solidFill>
                <a:latin typeface="Noto Sans CJK JP"/>
              </a:rPr>
              <a:t>と納得してくれた。</a:t>
            </a:r>
          </a:p>
        </p:txBody>
      </p:sp>
      <p:sp>
        <p:nvSpPr>
          <p:cNvPr id="20" name="Rounded Rectangle 19"/>
          <p:cNvSpPr/>
          <p:nvPr/>
        </p:nvSpPr>
        <p:spPr>
          <a:xfrm>
            <a:off x="8513063" y="2130552"/>
            <a:ext cx="3502152" cy="3273552"/>
          </a:xfrm>
          <a:prstGeom prst="roundRect">
            <a:avLst>
              <a:gd name="adj" fmla="val 10000"/>
            </a:avLst>
          </a:prstGeom>
          <a:solidFill>
            <a:srgbClr val="FFFFFF"/>
          </a:solidFill>
          <a:ln w="12700">
            <a:solidFill>
              <a:srgbClr val="E8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723376" y="2350008"/>
            <a:ext cx="530352" cy="530352"/>
          </a:xfrm>
          <a:prstGeom prst="roundRect">
            <a:avLst>
              <a:gd name="adj" fmla="val 10000"/>
            </a:avLst>
          </a:prstGeom>
          <a:solidFill>
            <a:srgbClr val="685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769095" y="2450592"/>
            <a:ext cx="429768" cy="228600"/>
          </a:xfrm>
          <a:prstGeom prst="rect">
            <a:avLst/>
          </a:prstGeom>
          <a:noFill/>
        </p:spPr>
        <p:txBody>
          <a:bodyPr wrap="square" lIns="18288" tIns="0" rIns="18288" bIns="0" anchor="ctr">
            <a:spAutoFit/>
          </a:bodyPr>
          <a:lstStyle/>
          <a:p>
            <a:pPr algn="ctr">
              <a:lnSpc>
                <a:spcPct val="104000"/>
              </a:lnSpc>
              <a:spcBef>
                <a:spcPts val="0"/>
              </a:spcBef>
              <a:spcAft>
                <a:spcPts val="0"/>
              </a:spcAft>
            </a:pPr>
            <a:r>
              <a:rPr sz="1200" b="1" i="0">
                <a:solidFill>
                  <a:srgbClr val="FFFFFF"/>
                </a:solidFill>
                <a:latin typeface="Noto Sans CJK JP"/>
              </a:rPr>
              <a:t>03</a:t>
            </a:r>
          </a:p>
        </p:txBody>
      </p:sp>
      <p:sp>
        <p:nvSpPr>
          <p:cNvPr id="23" name="TextBox 22"/>
          <p:cNvSpPr txBox="1"/>
          <p:nvPr/>
        </p:nvSpPr>
        <p:spPr>
          <a:xfrm>
            <a:off x="8723376" y="3127248"/>
            <a:ext cx="3017520" cy="530352"/>
          </a:xfrm>
          <a:prstGeom prst="rect">
            <a:avLst/>
          </a:prstGeom>
          <a:noFill/>
        </p:spPr>
        <p:txBody>
          <a:bodyPr wrap="square" lIns="18288" tIns="0" rIns="18288" bIns="0" anchor="ctr">
            <a:spAutoFit/>
          </a:bodyPr>
          <a:lstStyle/>
          <a:p>
            <a:pPr algn="l">
              <a:lnSpc>
                <a:spcPct val="104000"/>
              </a:lnSpc>
              <a:spcBef>
                <a:spcPts val="0"/>
              </a:spcBef>
              <a:spcAft>
                <a:spcPts val="0"/>
              </a:spcAft>
            </a:pPr>
            <a:r>
              <a:rPr sz="2000" b="1" i="0">
                <a:solidFill>
                  <a:srgbClr val="19243D"/>
                </a:solidFill>
                <a:latin typeface="Noto Sans CJK JP"/>
              </a:rPr>
              <a:t>互いに役割がある</a:t>
            </a:r>
          </a:p>
        </p:txBody>
      </p:sp>
      <p:sp>
        <p:nvSpPr>
          <p:cNvPr id="24" name="Rounded Rectangle 23"/>
          <p:cNvSpPr/>
          <p:nvPr/>
        </p:nvSpPr>
        <p:spPr>
          <a:xfrm>
            <a:off x="8732519" y="3913632"/>
            <a:ext cx="2971800" cy="1078992"/>
          </a:xfrm>
          <a:prstGeom prst="roundRect">
            <a:avLst>
              <a:gd name="adj" fmla="val 10000"/>
            </a:avLst>
          </a:prstGeom>
          <a:solidFill>
            <a:srgbClr val="ED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69680" y="4041648"/>
            <a:ext cx="2752344" cy="804672"/>
          </a:xfrm>
          <a:prstGeom prst="rect">
            <a:avLst/>
          </a:prstGeom>
          <a:noFill/>
        </p:spPr>
        <p:txBody>
          <a:bodyPr wrap="square" lIns="18288" tIns="0" rIns="18288" bIns="0" anchor="ctr">
            <a:spAutoFit/>
          </a:bodyPr>
          <a:lstStyle/>
          <a:p>
            <a:pPr algn="l">
              <a:lnSpc>
                <a:spcPct val="104000"/>
              </a:lnSpc>
              <a:spcBef>
                <a:spcPts val="0"/>
              </a:spcBef>
              <a:spcAft>
                <a:spcPts val="0"/>
              </a:spcAft>
            </a:pPr>
            <a:r>
              <a:rPr sz="1300" b="0" i="0">
                <a:solidFill>
                  <a:srgbClr val="19243D"/>
                </a:solidFill>
                <a:latin typeface="Noto Sans CJK JP"/>
              </a:rPr>
              <a:t>別の課題では仲間が活躍する。</a:t>
            </a:r>
          </a:p>
          <a:p>
            <a:pPr algn="l">
              <a:lnSpc>
                <a:spcPct val="104000"/>
              </a:lnSpc>
              <a:spcBef>
                <a:spcPts val="0"/>
              </a:spcBef>
              <a:spcAft>
                <a:spcPts val="0"/>
              </a:spcAft>
            </a:pPr>
            <a:r>
              <a:rPr sz="1300" b="0" i="0">
                <a:solidFill>
                  <a:srgbClr val="19243D"/>
                </a:solidFill>
                <a:latin typeface="Noto Sans CJK JP"/>
              </a:rPr>
              <a:t>その違いが、関係を作る。</a:t>
            </a:r>
          </a:p>
        </p:txBody>
      </p:sp>
      <p:sp>
        <p:nvSpPr>
          <p:cNvPr id="26" name="Rounded Rectangle 25"/>
          <p:cNvSpPr/>
          <p:nvPr/>
        </p:nvSpPr>
        <p:spPr>
          <a:xfrm>
            <a:off x="1179576" y="5650992"/>
            <a:ext cx="9811512" cy="484632"/>
          </a:xfrm>
          <a:prstGeom prst="roundRect">
            <a:avLst>
              <a:gd name="adj" fmla="val 10000"/>
            </a:avLst>
          </a:prstGeom>
          <a:solidFill>
            <a:srgbClr val="243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362456" y="5733288"/>
            <a:ext cx="9418320" cy="256032"/>
          </a:xfrm>
          <a:prstGeom prst="rect">
            <a:avLst/>
          </a:prstGeom>
          <a:noFill/>
        </p:spPr>
        <p:txBody>
          <a:bodyPr wrap="square" lIns="18288" tIns="0" rIns="18288" bIns="0" anchor="ctr">
            <a:spAutoFit/>
          </a:bodyPr>
          <a:lstStyle/>
          <a:p>
            <a:pPr algn="ctr">
              <a:lnSpc>
                <a:spcPct val="104000"/>
              </a:lnSpc>
              <a:spcBef>
                <a:spcPts val="0"/>
              </a:spcBef>
              <a:spcAft>
                <a:spcPts val="0"/>
              </a:spcAft>
            </a:pPr>
            <a:r>
              <a:rPr sz="1400" b="1" i="0">
                <a:solidFill>
                  <a:srgbClr val="FFFFFF"/>
                </a:solidFill>
                <a:latin typeface="Noto Sans CJK JP"/>
              </a:rPr>
              <a:t>根拠のない「天才！」ではなく、実際の行動に対して「あなたのおかげで伝わった」。</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04088" y="429768"/>
            <a:ext cx="68580" cy="219456"/>
          </a:xfrm>
          <a:prstGeom prst="rect">
            <a:avLst/>
          </a:prstGeom>
          <a:solidFill>
            <a:srgbClr val="F47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411480"/>
            <a:ext cx="10607040" cy="320040"/>
          </a:xfrm>
          <a:prstGeom prst="rect">
            <a:avLst/>
          </a:prstGeom>
          <a:noFill/>
        </p:spPr>
        <p:txBody>
          <a:bodyPr wrap="square" lIns="18288" tIns="0" rIns="18288" bIns="0" anchor="ctr">
            <a:spAutoFit/>
          </a:bodyPr>
          <a:lstStyle/>
          <a:p>
            <a:pPr algn="l">
              <a:lnSpc>
                <a:spcPct val="104000"/>
              </a:lnSpc>
              <a:spcBef>
                <a:spcPts val="0"/>
              </a:spcBef>
              <a:spcAft>
                <a:spcPts val="0"/>
              </a:spcAft>
            </a:pPr>
            <a:r>
              <a:rPr sz="1300" b="1" i="0">
                <a:solidFill>
                  <a:srgbClr val="F4774E"/>
                </a:solidFill>
                <a:latin typeface="Noto Sans CJK JP"/>
              </a:rPr>
              <a:t>CHOICE  /  OPTIONAL RIVAL</a:t>
            </a:r>
          </a:p>
        </p:txBody>
      </p:sp>
      <p:sp>
        <p:nvSpPr>
          <p:cNvPr id="5" name="TextBox 4"/>
          <p:cNvSpPr txBox="1"/>
          <p:nvPr/>
        </p:nvSpPr>
        <p:spPr>
          <a:xfrm>
            <a:off x="731520" y="960120"/>
            <a:ext cx="10789920" cy="658368"/>
          </a:xfrm>
          <a:prstGeom prst="rect">
            <a:avLst/>
          </a:prstGeom>
          <a:noFill/>
        </p:spPr>
        <p:txBody>
          <a:bodyPr wrap="square" lIns="18288" tIns="0" rIns="18288" bIns="0" anchor="ctr">
            <a:spAutoFit/>
          </a:bodyPr>
          <a:lstStyle/>
          <a:p>
            <a:pPr algn="l">
              <a:lnSpc>
                <a:spcPct val="104000"/>
              </a:lnSpc>
              <a:spcBef>
                <a:spcPts val="0"/>
              </a:spcBef>
              <a:spcAft>
                <a:spcPts val="0"/>
              </a:spcAft>
            </a:pPr>
            <a:r>
              <a:rPr sz="3100" b="1" i="0">
                <a:solidFill>
                  <a:srgbClr val="FFFFFF"/>
                </a:solidFill>
                <a:latin typeface="Noto Sans CJK JP"/>
              </a:rPr>
              <a:t>競争が力になる人には、ライバルも。</a:t>
            </a:r>
          </a:p>
        </p:txBody>
      </p:sp>
      <p:sp>
        <p:nvSpPr>
          <p:cNvPr id="6" name="TextBox 5"/>
          <p:cNvSpPr txBox="1"/>
          <p:nvPr/>
        </p:nvSpPr>
        <p:spPr>
          <a:xfrm>
            <a:off x="612648" y="6446520"/>
            <a:ext cx="10515600" cy="164592"/>
          </a:xfrm>
          <a:prstGeom prst="rect">
            <a:avLst/>
          </a:prstGeom>
          <a:noFill/>
        </p:spPr>
        <p:txBody>
          <a:bodyPr wrap="square" lIns="18288" tIns="0" rIns="18288" bIns="0" anchor="ctr">
            <a:spAutoFit/>
          </a:bodyPr>
          <a:lstStyle/>
          <a:p>
            <a:pPr algn="l">
              <a:lnSpc>
                <a:spcPct val="104000"/>
              </a:lnSpc>
              <a:spcBef>
                <a:spcPts val="0"/>
              </a:spcBef>
              <a:spcAft>
                <a:spcPts val="0"/>
              </a:spcAft>
            </a:pPr>
            <a:r>
              <a:rPr sz="810" b="0" i="0">
                <a:solidFill>
                  <a:srgbClr val="A7AFBE"/>
                </a:solidFill>
                <a:latin typeface="Noto Sans CJK JP"/>
              </a:rPr>
              <a:t>STARRING  /  AIエージェント アイデアソン by Animoca Brands Japan</a:t>
            </a:r>
          </a:p>
        </p:txBody>
      </p:sp>
      <p:sp>
        <p:nvSpPr>
          <p:cNvPr id="7" name="TextBox 6"/>
          <p:cNvSpPr txBox="1"/>
          <p:nvPr/>
        </p:nvSpPr>
        <p:spPr>
          <a:xfrm>
            <a:off x="11201400" y="6437376"/>
            <a:ext cx="320040" cy="182880"/>
          </a:xfrm>
          <a:prstGeom prst="rect">
            <a:avLst/>
          </a:prstGeom>
          <a:noFill/>
        </p:spPr>
        <p:txBody>
          <a:bodyPr wrap="square" lIns="18288" tIns="0" rIns="18288" bIns="0" anchor="ctr">
            <a:spAutoFit/>
          </a:bodyPr>
          <a:lstStyle/>
          <a:p>
            <a:pPr algn="r"/>
            <a:r>
              <a:rPr sz="900" b="1">
                <a:solidFill>
                  <a:srgbClr val="848D9C"/>
                </a:solidFill>
                <a:latin typeface="Noto Sans CJK JP"/>
              </a:rPr>
              <a:t>11</a:t>
            </a:r>
          </a:p>
        </p:txBody>
      </p:sp>
      <p:sp>
        <p:nvSpPr>
          <p:cNvPr id="8" name="TextBox 7"/>
          <p:cNvSpPr txBox="1"/>
          <p:nvPr/>
        </p:nvSpPr>
        <p:spPr>
          <a:xfrm>
            <a:off x="786384" y="1700784"/>
            <a:ext cx="10789920" cy="384048"/>
          </a:xfrm>
          <a:prstGeom prst="rect">
            <a:avLst/>
          </a:prstGeom>
          <a:noFill/>
        </p:spPr>
        <p:txBody>
          <a:bodyPr wrap="square" lIns="18288" tIns="0" rIns="18288" bIns="0" anchor="ctr">
            <a:spAutoFit/>
          </a:bodyPr>
          <a:lstStyle/>
          <a:p>
            <a:pPr algn="l">
              <a:lnSpc>
                <a:spcPct val="104000"/>
              </a:lnSpc>
              <a:spcBef>
                <a:spcPts val="0"/>
              </a:spcBef>
              <a:spcAft>
                <a:spcPts val="0"/>
              </a:spcAft>
            </a:pPr>
            <a:r>
              <a:rPr sz="1700" b="0" i="0">
                <a:solidFill>
                  <a:srgbClr val="C4D0DF"/>
                </a:solidFill>
                <a:latin typeface="Noto Sans CJK JP"/>
              </a:rPr>
              <a:t>圧力は全員にかけない。必要な人が、自分で選ぶ。</a:t>
            </a:r>
          </a:p>
        </p:txBody>
      </p:sp>
      <p:sp>
        <p:nvSpPr>
          <p:cNvPr id="9" name="Rounded Rectangle 8"/>
          <p:cNvSpPr/>
          <p:nvPr/>
        </p:nvSpPr>
        <p:spPr>
          <a:xfrm>
            <a:off x="813816" y="2450592"/>
            <a:ext cx="3493008" cy="2148840"/>
          </a:xfrm>
          <a:prstGeom prst="roundRect">
            <a:avLst>
              <a:gd name="adj" fmla="val 10000"/>
            </a:avLst>
          </a:prstGeom>
          <a:solidFill>
            <a:srgbClr val="2D4363"/>
          </a:solidFill>
          <a:ln w="12700">
            <a:solidFill>
              <a:srgbClr val="4D60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33271" y="2697480"/>
            <a:ext cx="3063240" cy="310896"/>
          </a:xfrm>
          <a:prstGeom prst="rect">
            <a:avLst/>
          </a:prstGeom>
          <a:noFill/>
        </p:spPr>
        <p:txBody>
          <a:bodyPr wrap="square" lIns="18288" tIns="0" rIns="18288" bIns="0" anchor="ctr">
            <a:spAutoFit/>
          </a:bodyPr>
          <a:lstStyle/>
          <a:p>
            <a:pPr algn="l">
              <a:lnSpc>
                <a:spcPct val="104000"/>
              </a:lnSpc>
              <a:spcBef>
                <a:spcPts val="0"/>
              </a:spcBef>
              <a:spcAft>
                <a:spcPts val="0"/>
              </a:spcAft>
            </a:pPr>
            <a:r>
              <a:rPr sz="1400" b="1" i="0">
                <a:solidFill>
                  <a:srgbClr val="ADD0CF"/>
                </a:solidFill>
                <a:latin typeface="Noto Sans CJK JP"/>
              </a:rPr>
              <a:t>OFF</a:t>
            </a:r>
          </a:p>
        </p:txBody>
      </p:sp>
      <p:sp>
        <p:nvSpPr>
          <p:cNvPr id="11" name="TextBox 10"/>
          <p:cNvSpPr txBox="1"/>
          <p:nvPr/>
        </p:nvSpPr>
        <p:spPr>
          <a:xfrm>
            <a:off x="1033271" y="3127248"/>
            <a:ext cx="3054096" cy="420624"/>
          </a:xfrm>
          <a:prstGeom prst="rect">
            <a:avLst/>
          </a:prstGeom>
          <a:noFill/>
        </p:spPr>
        <p:txBody>
          <a:bodyPr wrap="square" lIns="18288" tIns="0" rIns="18288" bIns="0" anchor="ctr">
            <a:spAutoFit/>
          </a:bodyPr>
          <a:lstStyle/>
          <a:p>
            <a:pPr algn="l">
              <a:lnSpc>
                <a:spcPct val="104000"/>
              </a:lnSpc>
              <a:spcBef>
                <a:spcPts val="0"/>
              </a:spcBef>
              <a:spcAft>
                <a:spcPts val="0"/>
              </a:spcAft>
            </a:pPr>
            <a:r>
              <a:rPr sz="2000" b="1" i="0">
                <a:solidFill>
                  <a:srgbClr val="FFFFFF"/>
                </a:solidFill>
                <a:latin typeface="Noto Sans CJK JP"/>
              </a:rPr>
              <a:t>マイペース</a:t>
            </a:r>
          </a:p>
        </p:txBody>
      </p:sp>
      <p:sp>
        <p:nvSpPr>
          <p:cNvPr id="12" name="TextBox 11"/>
          <p:cNvSpPr txBox="1"/>
          <p:nvPr/>
        </p:nvSpPr>
        <p:spPr>
          <a:xfrm>
            <a:off x="1033271" y="3822191"/>
            <a:ext cx="3035808" cy="557784"/>
          </a:xfrm>
          <a:prstGeom prst="rect">
            <a:avLst/>
          </a:prstGeom>
          <a:noFill/>
        </p:spPr>
        <p:txBody>
          <a:bodyPr wrap="square" lIns="18288" tIns="0" rIns="18288" bIns="0" anchor="ctr">
            <a:spAutoFit/>
          </a:bodyPr>
          <a:lstStyle/>
          <a:p>
            <a:pPr algn="l">
              <a:lnSpc>
                <a:spcPct val="104000"/>
              </a:lnSpc>
              <a:spcBef>
                <a:spcPts val="0"/>
              </a:spcBef>
              <a:spcAft>
                <a:spcPts val="0"/>
              </a:spcAft>
            </a:pPr>
            <a:r>
              <a:rPr sz="1200" b="0" i="0">
                <a:solidFill>
                  <a:srgbClr val="D7DDE7"/>
                </a:solidFill>
                <a:latin typeface="Noto Sans CJK JP"/>
              </a:rPr>
              <a:t>仲間の協力と学びに集中</a:t>
            </a:r>
          </a:p>
        </p:txBody>
      </p:sp>
      <p:sp>
        <p:nvSpPr>
          <p:cNvPr id="13" name="Rounded Rectangle 12"/>
          <p:cNvSpPr/>
          <p:nvPr/>
        </p:nvSpPr>
        <p:spPr>
          <a:xfrm>
            <a:off x="4663440" y="2450592"/>
            <a:ext cx="3493008" cy="2148840"/>
          </a:xfrm>
          <a:prstGeom prst="roundRect">
            <a:avLst>
              <a:gd name="adj" fmla="val 10000"/>
            </a:avLst>
          </a:prstGeom>
          <a:solidFill>
            <a:srgbClr val="2D4363"/>
          </a:solidFill>
          <a:ln w="12700">
            <a:solidFill>
              <a:srgbClr val="4D60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82896" y="2697480"/>
            <a:ext cx="3063240" cy="310896"/>
          </a:xfrm>
          <a:prstGeom prst="rect">
            <a:avLst/>
          </a:prstGeom>
          <a:noFill/>
        </p:spPr>
        <p:txBody>
          <a:bodyPr wrap="square" lIns="18288" tIns="0" rIns="18288" bIns="0" anchor="ctr">
            <a:spAutoFit/>
          </a:bodyPr>
          <a:lstStyle/>
          <a:p>
            <a:pPr algn="l">
              <a:lnSpc>
                <a:spcPct val="104000"/>
              </a:lnSpc>
              <a:spcBef>
                <a:spcPts val="0"/>
              </a:spcBef>
              <a:spcAft>
                <a:spcPts val="0"/>
              </a:spcAft>
            </a:pPr>
            <a:r>
              <a:rPr sz="1400" b="1" i="0">
                <a:solidFill>
                  <a:srgbClr val="ADD0CF"/>
                </a:solidFill>
                <a:latin typeface="Noto Sans CJK JP"/>
              </a:rPr>
              <a:t>CO-OP</a:t>
            </a:r>
          </a:p>
        </p:txBody>
      </p:sp>
      <p:sp>
        <p:nvSpPr>
          <p:cNvPr id="15" name="TextBox 14"/>
          <p:cNvSpPr txBox="1"/>
          <p:nvPr/>
        </p:nvSpPr>
        <p:spPr>
          <a:xfrm>
            <a:off x="4882896" y="3127248"/>
            <a:ext cx="3054096" cy="420624"/>
          </a:xfrm>
          <a:prstGeom prst="rect">
            <a:avLst/>
          </a:prstGeom>
          <a:noFill/>
        </p:spPr>
        <p:txBody>
          <a:bodyPr wrap="square" lIns="18288" tIns="0" rIns="18288" bIns="0" anchor="ctr">
            <a:spAutoFit/>
          </a:bodyPr>
          <a:lstStyle/>
          <a:p>
            <a:pPr algn="l">
              <a:lnSpc>
                <a:spcPct val="104000"/>
              </a:lnSpc>
              <a:spcBef>
                <a:spcPts val="0"/>
              </a:spcBef>
              <a:spcAft>
                <a:spcPts val="0"/>
              </a:spcAft>
            </a:pPr>
            <a:r>
              <a:rPr sz="2000" b="1" i="0">
                <a:solidFill>
                  <a:srgbClr val="FFFFFF"/>
                </a:solidFill>
                <a:latin typeface="Noto Sans CJK JP"/>
              </a:rPr>
              <a:t>協力モード</a:t>
            </a:r>
          </a:p>
        </p:txBody>
      </p:sp>
      <p:sp>
        <p:nvSpPr>
          <p:cNvPr id="16" name="TextBox 15"/>
          <p:cNvSpPr txBox="1"/>
          <p:nvPr/>
        </p:nvSpPr>
        <p:spPr>
          <a:xfrm>
            <a:off x="4882896" y="3822191"/>
            <a:ext cx="3035808" cy="557784"/>
          </a:xfrm>
          <a:prstGeom prst="rect">
            <a:avLst/>
          </a:prstGeom>
          <a:noFill/>
        </p:spPr>
        <p:txBody>
          <a:bodyPr wrap="square" lIns="18288" tIns="0" rIns="18288" bIns="0" anchor="ctr">
            <a:spAutoFit/>
          </a:bodyPr>
          <a:lstStyle/>
          <a:p>
            <a:pPr algn="l">
              <a:lnSpc>
                <a:spcPct val="104000"/>
              </a:lnSpc>
              <a:spcBef>
                <a:spcPts val="0"/>
              </a:spcBef>
              <a:spcAft>
                <a:spcPts val="0"/>
              </a:spcAft>
            </a:pPr>
            <a:r>
              <a:rPr sz="1200" b="0" i="0">
                <a:solidFill>
                  <a:srgbClr val="D7DDE7"/>
                </a:solidFill>
                <a:latin typeface="Noto Sans CJK JP"/>
              </a:rPr>
              <a:t>得意を持ち寄り課題に挑む</a:t>
            </a:r>
          </a:p>
        </p:txBody>
      </p:sp>
      <p:sp>
        <p:nvSpPr>
          <p:cNvPr id="17" name="Rounded Rectangle 16"/>
          <p:cNvSpPr/>
          <p:nvPr/>
        </p:nvSpPr>
        <p:spPr>
          <a:xfrm>
            <a:off x="8513064" y="2450592"/>
            <a:ext cx="3493008" cy="2148840"/>
          </a:xfrm>
          <a:prstGeom prst="roundRect">
            <a:avLst>
              <a:gd name="adj" fmla="val 10000"/>
            </a:avLst>
          </a:prstGeom>
          <a:solidFill>
            <a:srgbClr val="4A3D43"/>
          </a:solidFill>
          <a:ln w="25400">
            <a:solidFill>
              <a:srgbClr val="F477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732520" y="2697480"/>
            <a:ext cx="3063240" cy="310896"/>
          </a:xfrm>
          <a:prstGeom prst="rect">
            <a:avLst/>
          </a:prstGeom>
          <a:noFill/>
        </p:spPr>
        <p:txBody>
          <a:bodyPr wrap="square" lIns="18288" tIns="0" rIns="18288" bIns="0" anchor="ctr">
            <a:spAutoFit/>
          </a:bodyPr>
          <a:lstStyle/>
          <a:p>
            <a:pPr algn="l">
              <a:lnSpc>
                <a:spcPct val="104000"/>
              </a:lnSpc>
              <a:spcBef>
                <a:spcPts val="0"/>
              </a:spcBef>
              <a:spcAft>
                <a:spcPts val="0"/>
              </a:spcAft>
            </a:pPr>
            <a:r>
              <a:rPr sz="1400" b="1" i="0">
                <a:solidFill>
                  <a:srgbClr val="FBB792"/>
                </a:solidFill>
                <a:latin typeface="Noto Sans CJK JP"/>
              </a:rPr>
              <a:t>RIVAL</a:t>
            </a:r>
          </a:p>
        </p:txBody>
      </p:sp>
      <p:sp>
        <p:nvSpPr>
          <p:cNvPr id="19" name="TextBox 18"/>
          <p:cNvSpPr txBox="1"/>
          <p:nvPr/>
        </p:nvSpPr>
        <p:spPr>
          <a:xfrm>
            <a:off x="8732520" y="3127248"/>
            <a:ext cx="3054096" cy="420624"/>
          </a:xfrm>
          <a:prstGeom prst="rect">
            <a:avLst/>
          </a:prstGeom>
          <a:noFill/>
        </p:spPr>
        <p:txBody>
          <a:bodyPr wrap="square" lIns="18288" tIns="0" rIns="18288" bIns="0" anchor="ctr">
            <a:spAutoFit/>
          </a:bodyPr>
          <a:lstStyle/>
          <a:p>
            <a:pPr algn="l">
              <a:lnSpc>
                <a:spcPct val="104000"/>
              </a:lnSpc>
              <a:spcBef>
                <a:spcPts val="0"/>
              </a:spcBef>
              <a:spcAft>
                <a:spcPts val="0"/>
              </a:spcAft>
            </a:pPr>
            <a:r>
              <a:rPr sz="2000" b="1" i="0">
                <a:solidFill>
                  <a:srgbClr val="FFFFFF"/>
                </a:solidFill>
                <a:latin typeface="Noto Sans CJK JP"/>
              </a:rPr>
              <a:t>ライバルと競争</a:t>
            </a:r>
          </a:p>
        </p:txBody>
      </p:sp>
      <p:sp>
        <p:nvSpPr>
          <p:cNvPr id="20" name="TextBox 19"/>
          <p:cNvSpPr txBox="1"/>
          <p:nvPr/>
        </p:nvSpPr>
        <p:spPr>
          <a:xfrm>
            <a:off x="8732520" y="3822191"/>
            <a:ext cx="3035808" cy="557784"/>
          </a:xfrm>
          <a:prstGeom prst="rect">
            <a:avLst/>
          </a:prstGeom>
          <a:noFill/>
        </p:spPr>
        <p:txBody>
          <a:bodyPr wrap="square" lIns="18288" tIns="0" rIns="18288" bIns="0" anchor="ctr">
            <a:spAutoFit/>
          </a:bodyPr>
          <a:lstStyle/>
          <a:p>
            <a:pPr algn="l">
              <a:lnSpc>
                <a:spcPct val="104000"/>
              </a:lnSpc>
              <a:spcBef>
                <a:spcPts val="0"/>
              </a:spcBef>
              <a:spcAft>
                <a:spcPts val="0"/>
              </a:spcAft>
            </a:pPr>
            <a:r>
              <a:rPr sz="1200" b="0" i="0">
                <a:solidFill>
                  <a:srgbClr val="D7DDE7"/>
                </a:solidFill>
                <a:latin typeface="Noto Sans CJK JP"/>
              </a:rPr>
              <a:t>相手の上達を刺激にする</a:t>
            </a:r>
          </a:p>
        </p:txBody>
      </p:sp>
      <p:sp>
        <p:nvSpPr>
          <p:cNvPr id="21" name="TextBox 20"/>
          <p:cNvSpPr txBox="1"/>
          <p:nvPr/>
        </p:nvSpPr>
        <p:spPr>
          <a:xfrm>
            <a:off x="11128248" y="2734056"/>
            <a:ext cx="585216" cy="228600"/>
          </a:xfrm>
          <a:prstGeom prst="rect">
            <a:avLst/>
          </a:prstGeom>
          <a:noFill/>
        </p:spPr>
        <p:txBody>
          <a:bodyPr wrap="square" lIns="18288" tIns="0" rIns="18288" bIns="0" anchor="ctr">
            <a:spAutoFit/>
          </a:bodyPr>
          <a:lstStyle/>
          <a:p>
            <a:pPr algn="ctr">
              <a:lnSpc>
                <a:spcPct val="104000"/>
              </a:lnSpc>
              <a:spcBef>
                <a:spcPts val="0"/>
              </a:spcBef>
              <a:spcAft>
                <a:spcPts val="0"/>
              </a:spcAft>
            </a:pPr>
            <a:r>
              <a:rPr sz="1100" b="1" i="0">
                <a:solidFill>
                  <a:srgbClr val="FFF1D8"/>
                </a:solidFill>
                <a:latin typeface="Noto Sans CJK JP"/>
              </a:rPr>
              <a:t>選択中</a:t>
            </a:r>
          </a:p>
        </p:txBody>
      </p:sp>
      <p:sp>
        <p:nvSpPr>
          <p:cNvPr id="22" name="Rounded Rectangle 21"/>
          <p:cNvSpPr/>
          <p:nvPr/>
        </p:nvSpPr>
        <p:spPr>
          <a:xfrm>
            <a:off x="996696" y="5001768"/>
            <a:ext cx="10186416" cy="786384"/>
          </a:xfrm>
          <a:prstGeom prst="roundRect">
            <a:avLst>
              <a:gd name="adj" fmla="val 10000"/>
            </a:avLst>
          </a:prstGeom>
          <a:solidFill>
            <a:srgbClr val="252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16152" y="5166360"/>
            <a:ext cx="9738360" cy="393192"/>
          </a:xfrm>
          <a:prstGeom prst="rect">
            <a:avLst/>
          </a:prstGeom>
          <a:noFill/>
        </p:spPr>
        <p:txBody>
          <a:bodyPr wrap="square" lIns="18288" tIns="0" rIns="18288" bIns="0" anchor="ctr">
            <a:spAutoFit/>
          </a:bodyPr>
          <a:lstStyle/>
          <a:p>
            <a:pPr algn="ctr">
              <a:lnSpc>
                <a:spcPct val="104000"/>
              </a:lnSpc>
              <a:spcBef>
                <a:spcPts val="0"/>
              </a:spcBef>
              <a:spcAft>
                <a:spcPts val="0"/>
              </a:spcAft>
            </a:pPr>
            <a:r>
              <a:rPr sz="1900" b="1" i="0">
                <a:solidFill>
                  <a:srgbClr val="FFFFFF"/>
                </a:solidFill>
                <a:latin typeface="Noto Sans CJK JP"/>
              </a:rPr>
              <a:t>「ライバルが新しい課題をクリアした。自分も挑んでみよう」</a:t>
            </a:r>
          </a:p>
        </p:txBody>
      </p:sp>
      <p:sp>
        <p:nvSpPr>
          <p:cNvPr id="24" name="TextBox 23"/>
          <p:cNvSpPr txBox="1"/>
          <p:nvPr/>
        </p:nvSpPr>
        <p:spPr>
          <a:xfrm>
            <a:off x="1014984" y="6053328"/>
            <a:ext cx="10131552" cy="256032"/>
          </a:xfrm>
          <a:prstGeom prst="rect">
            <a:avLst/>
          </a:prstGeom>
          <a:noFill/>
        </p:spPr>
        <p:txBody>
          <a:bodyPr wrap="square" lIns="18288" tIns="0" rIns="18288" bIns="0" anchor="ctr">
            <a:spAutoFit/>
          </a:bodyPr>
          <a:lstStyle/>
          <a:p>
            <a:pPr algn="ctr">
              <a:lnSpc>
                <a:spcPct val="104000"/>
              </a:lnSpc>
              <a:spcBef>
                <a:spcPts val="0"/>
              </a:spcBef>
              <a:spcAft>
                <a:spcPts val="0"/>
              </a:spcAft>
            </a:pPr>
            <a:r>
              <a:rPr sz="1000" b="0" i="0">
                <a:solidFill>
                  <a:srgbClr val="C6D1E0"/>
                </a:solidFill>
                <a:latin typeface="Noto Sans CJK JP"/>
              </a:rPr>
              <a:t>勝敗は学習行動に基づく／いつでもOFF／休んだ日の罰則なし／仲間にも異なる得意がある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04088" y="429768"/>
            <a:ext cx="68580" cy="219456"/>
          </a:xfrm>
          <a:prstGeom prst="rect">
            <a:avLst/>
          </a:prstGeom>
          <a:solidFill>
            <a:srgbClr val="F47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411480"/>
            <a:ext cx="10607040" cy="320040"/>
          </a:xfrm>
          <a:prstGeom prst="rect">
            <a:avLst/>
          </a:prstGeom>
          <a:noFill/>
        </p:spPr>
        <p:txBody>
          <a:bodyPr wrap="square" lIns="18288" tIns="0" rIns="18288" bIns="0" anchor="ctr">
            <a:spAutoFit/>
          </a:bodyPr>
          <a:lstStyle/>
          <a:p>
            <a:pPr algn="l">
              <a:lnSpc>
                <a:spcPct val="104000"/>
              </a:lnSpc>
              <a:spcBef>
                <a:spcPts val="0"/>
              </a:spcBef>
              <a:spcAft>
                <a:spcPts val="0"/>
              </a:spcAft>
            </a:pPr>
            <a:r>
              <a:rPr sz="1300" b="1" i="0">
                <a:solidFill>
                  <a:srgbClr val="F4774E"/>
                </a:solidFill>
                <a:latin typeface="Noto Sans CJK JP"/>
              </a:rPr>
              <a:t>RESEARCH  /  SOCIAL CONTEXT</a:t>
            </a:r>
          </a:p>
        </p:txBody>
      </p:sp>
      <p:sp>
        <p:nvSpPr>
          <p:cNvPr id="5" name="TextBox 4"/>
          <p:cNvSpPr txBox="1"/>
          <p:nvPr/>
        </p:nvSpPr>
        <p:spPr>
          <a:xfrm>
            <a:off x="731520" y="960120"/>
            <a:ext cx="10789920" cy="658368"/>
          </a:xfrm>
          <a:prstGeom prst="rect">
            <a:avLst/>
          </a:prstGeom>
          <a:noFill/>
        </p:spPr>
        <p:txBody>
          <a:bodyPr wrap="square" lIns="18288" tIns="0" rIns="18288" bIns="0" anchor="ctr">
            <a:spAutoFit/>
          </a:bodyPr>
          <a:lstStyle/>
          <a:p>
            <a:pPr algn="l">
              <a:lnSpc>
                <a:spcPct val="104000"/>
              </a:lnSpc>
              <a:spcBef>
                <a:spcPts val="0"/>
              </a:spcBef>
              <a:spcAft>
                <a:spcPts val="0"/>
              </a:spcAft>
            </a:pPr>
            <a:r>
              <a:rPr sz="3100" b="1" i="0" dirty="0">
                <a:solidFill>
                  <a:srgbClr val="19243D"/>
                </a:solidFill>
                <a:latin typeface="Noto Sans CJK JP"/>
              </a:rPr>
              <a:t>「</a:t>
            </a:r>
            <a:r>
              <a:rPr sz="3100" b="1" i="0" dirty="0" err="1">
                <a:solidFill>
                  <a:srgbClr val="19243D"/>
                </a:solidFill>
                <a:latin typeface="Noto Sans CJK JP"/>
              </a:rPr>
              <a:t>周囲との関係」が、自分の能力の見え方を変える</a:t>
            </a:r>
            <a:r>
              <a:rPr sz="3100" b="1" i="0" dirty="0">
                <a:solidFill>
                  <a:srgbClr val="19243D"/>
                </a:solidFill>
                <a:latin typeface="Noto Sans CJK JP"/>
              </a:rPr>
              <a:t>。</a:t>
            </a:r>
          </a:p>
        </p:txBody>
      </p:sp>
      <p:sp>
        <p:nvSpPr>
          <p:cNvPr id="6" name="TextBox 5"/>
          <p:cNvSpPr txBox="1"/>
          <p:nvPr/>
        </p:nvSpPr>
        <p:spPr>
          <a:xfrm>
            <a:off x="612648" y="6446520"/>
            <a:ext cx="10515600" cy="164592"/>
          </a:xfrm>
          <a:prstGeom prst="rect">
            <a:avLst/>
          </a:prstGeom>
          <a:noFill/>
        </p:spPr>
        <p:txBody>
          <a:bodyPr wrap="square" lIns="18288" tIns="0" rIns="18288" bIns="0" anchor="ctr">
            <a:spAutoFit/>
          </a:bodyPr>
          <a:lstStyle/>
          <a:p>
            <a:pPr algn="l">
              <a:lnSpc>
                <a:spcPct val="104000"/>
              </a:lnSpc>
              <a:spcBef>
                <a:spcPts val="0"/>
              </a:spcBef>
              <a:spcAft>
                <a:spcPts val="0"/>
              </a:spcAft>
            </a:pPr>
            <a:r>
              <a:rPr sz="810" b="0" i="0">
                <a:solidFill>
                  <a:srgbClr val="858D9C"/>
                </a:solidFill>
                <a:latin typeface="Noto Sans CJK JP"/>
              </a:rPr>
              <a:t>STARRING  /  AIエージェント アイデアソン by Animoca Brands Japan</a:t>
            </a:r>
          </a:p>
        </p:txBody>
      </p:sp>
      <p:sp>
        <p:nvSpPr>
          <p:cNvPr id="7" name="TextBox 6"/>
          <p:cNvSpPr txBox="1"/>
          <p:nvPr/>
        </p:nvSpPr>
        <p:spPr>
          <a:xfrm>
            <a:off x="11201400" y="6437376"/>
            <a:ext cx="320040" cy="182880"/>
          </a:xfrm>
          <a:prstGeom prst="rect">
            <a:avLst/>
          </a:prstGeom>
          <a:noFill/>
        </p:spPr>
        <p:txBody>
          <a:bodyPr wrap="square" lIns="18288" tIns="0" rIns="18288" bIns="0" anchor="ctr">
            <a:spAutoFit/>
          </a:bodyPr>
          <a:lstStyle/>
          <a:p>
            <a:pPr algn="r"/>
            <a:r>
              <a:rPr sz="900" b="1">
                <a:solidFill>
                  <a:srgbClr val="848D9C"/>
                </a:solidFill>
                <a:latin typeface="Noto Sans CJK JP"/>
              </a:rPr>
              <a:t>12</a:t>
            </a:r>
          </a:p>
        </p:txBody>
      </p:sp>
      <p:sp>
        <p:nvSpPr>
          <p:cNvPr id="8" name="TextBox 7"/>
          <p:cNvSpPr txBox="1"/>
          <p:nvPr/>
        </p:nvSpPr>
        <p:spPr>
          <a:xfrm>
            <a:off x="786384" y="1691640"/>
            <a:ext cx="10789920" cy="338328"/>
          </a:xfrm>
          <a:prstGeom prst="rect">
            <a:avLst/>
          </a:prstGeom>
          <a:noFill/>
        </p:spPr>
        <p:txBody>
          <a:bodyPr wrap="square" lIns="18288" tIns="0" rIns="18288" bIns="0" anchor="ctr">
            <a:spAutoFit/>
          </a:bodyPr>
          <a:lstStyle/>
          <a:p>
            <a:pPr algn="l">
              <a:lnSpc>
                <a:spcPct val="104000"/>
              </a:lnSpc>
              <a:spcBef>
                <a:spcPts val="0"/>
              </a:spcBef>
              <a:spcAft>
                <a:spcPts val="0"/>
              </a:spcAft>
            </a:pPr>
            <a:r>
              <a:rPr sz="1500" b="0" i="0" dirty="0" err="1">
                <a:solidFill>
                  <a:srgbClr val="6B7485"/>
                </a:solidFill>
                <a:latin typeface="Noto Sans CJK JP"/>
              </a:rPr>
              <a:t>着想は相対年齢効果。より直接の根拠は、教室の社会的比較に関する研究です</a:t>
            </a:r>
            <a:r>
              <a:rPr sz="1500" b="0" i="0" dirty="0">
                <a:solidFill>
                  <a:srgbClr val="6B7485"/>
                </a:solidFill>
                <a:latin typeface="Noto Sans CJK JP"/>
              </a:rPr>
              <a:t>。</a:t>
            </a:r>
          </a:p>
        </p:txBody>
      </p:sp>
      <p:sp>
        <p:nvSpPr>
          <p:cNvPr id="9" name="Rounded Rectangle 8"/>
          <p:cNvSpPr/>
          <p:nvPr/>
        </p:nvSpPr>
        <p:spPr>
          <a:xfrm>
            <a:off x="832104" y="2331720"/>
            <a:ext cx="3465576" cy="2350008"/>
          </a:xfrm>
          <a:prstGeom prst="roundRect">
            <a:avLst>
              <a:gd name="adj" fmla="val 10000"/>
            </a:avLst>
          </a:prstGeom>
          <a:solidFill>
            <a:srgbClr val="FFFFFF"/>
          </a:solidFill>
          <a:ln w="12700">
            <a:solidFill>
              <a:srgbClr val="E6E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90000"/>
                </a:schemeClr>
              </a:solidFill>
              <a:highlight>
                <a:srgbClr val="00FF00"/>
              </a:highlight>
            </a:endParaRPr>
          </a:p>
        </p:txBody>
      </p:sp>
      <p:sp>
        <p:nvSpPr>
          <p:cNvPr id="10" name="Rounded Rectangle 9"/>
          <p:cNvSpPr/>
          <p:nvPr/>
        </p:nvSpPr>
        <p:spPr>
          <a:xfrm>
            <a:off x="987552" y="2523744"/>
            <a:ext cx="3136392" cy="283464"/>
          </a:xfrm>
          <a:prstGeom prst="roundRect">
            <a:avLst>
              <a:gd name="adj" fmla="val 10000"/>
            </a:avLst>
          </a:prstGeom>
          <a:solidFill>
            <a:srgbClr val="EA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2551176"/>
            <a:ext cx="2834640" cy="219456"/>
          </a:xfrm>
          <a:prstGeom prst="rect">
            <a:avLst/>
          </a:prstGeom>
          <a:noFill/>
        </p:spPr>
        <p:txBody>
          <a:bodyPr wrap="square" lIns="18288" tIns="0" rIns="18288" bIns="0" anchor="ctr">
            <a:spAutoFit/>
          </a:bodyPr>
          <a:lstStyle/>
          <a:p>
            <a:pPr algn="l">
              <a:lnSpc>
                <a:spcPct val="104000"/>
              </a:lnSpc>
              <a:spcBef>
                <a:spcPts val="0"/>
              </a:spcBef>
              <a:spcAft>
                <a:spcPts val="0"/>
              </a:spcAft>
            </a:pPr>
            <a:r>
              <a:rPr sz="1200" b="1" i="0">
                <a:solidFill>
                  <a:srgbClr val="267A73"/>
                </a:solidFill>
                <a:latin typeface="Noto Sans CJK JP"/>
              </a:rPr>
              <a:t>着想</a:t>
            </a:r>
          </a:p>
        </p:txBody>
      </p:sp>
      <p:sp>
        <p:nvSpPr>
          <p:cNvPr id="12" name="TextBox 11"/>
          <p:cNvSpPr txBox="1"/>
          <p:nvPr/>
        </p:nvSpPr>
        <p:spPr>
          <a:xfrm>
            <a:off x="1033272" y="2953512"/>
            <a:ext cx="3044952" cy="347472"/>
          </a:xfrm>
          <a:prstGeom prst="rect">
            <a:avLst/>
          </a:prstGeom>
          <a:noFill/>
        </p:spPr>
        <p:txBody>
          <a:bodyPr wrap="square" lIns="18288" tIns="0" rIns="18288" bIns="0" anchor="ctr">
            <a:spAutoFit/>
          </a:bodyPr>
          <a:lstStyle/>
          <a:p>
            <a:pPr algn="l">
              <a:lnSpc>
                <a:spcPct val="104000"/>
              </a:lnSpc>
              <a:spcBef>
                <a:spcPts val="0"/>
              </a:spcBef>
              <a:spcAft>
                <a:spcPts val="0"/>
              </a:spcAft>
            </a:pPr>
            <a:r>
              <a:rPr sz="1700" b="1" i="0">
                <a:solidFill>
                  <a:srgbClr val="19243D"/>
                </a:solidFill>
                <a:latin typeface="Noto Sans CJK JP"/>
              </a:rPr>
              <a:t>相対年齢効果</a:t>
            </a:r>
          </a:p>
        </p:txBody>
      </p:sp>
      <p:sp>
        <p:nvSpPr>
          <p:cNvPr id="13" name="TextBox 12"/>
          <p:cNvSpPr txBox="1"/>
          <p:nvPr/>
        </p:nvSpPr>
        <p:spPr>
          <a:xfrm>
            <a:off x="1033272" y="3374136"/>
            <a:ext cx="2990088" cy="822960"/>
          </a:xfrm>
          <a:prstGeom prst="rect">
            <a:avLst/>
          </a:prstGeom>
          <a:noFill/>
        </p:spPr>
        <p:txBody>
          <a:bodyPr wrap="square" lIns="18288" tIns="0" rIns="18288" bIns="0" anchor="ctr">
            <a:spAutoFit/>
          </a:bodyPr>
          <a:lstStyle/>
          <a:p>
            <a:pPr algn="l">
              <a:lnSpc>
                <a:spcPct val="104000"/>
              </a:lnSpc>
              <a:spcBef>
                <a:spcPts val="0"/>
              </a:spcBef>
              <a:spcAft>
                <a:spcPts val="0"/>
              </a:spcAft>
            </a:pPr>
            <a:r>
              <a:rPr sz="1100" b="0" i="0">
                <a:solidFill>
                  <a:srgbClr val="6B7485"/>
                </a:solidFill>
                <a:latin typeface="Noto Sans CJK JP"/>
              </a:rPr>
              <a:t>同学年でも生まれ月などの位置が</a:t>
            </a:r>
          </a:p>
          <a:p>
            <a:pPr algn="l">
              <a:lnSpc>
                <a:spcPct val="104000"/>
              </a:lnSpc>
              <a:spcBef>
                <a:spcPts val="0"/>
              </a:spcBef>
              <a:spcAft>
                <a:spcPts val="0"/>
              </a:spcAft>
            </a:pPr>
            <a:r>
              <a:rPr sz="1100" b="0" i="0">
                <a:solidFill>
                  <a:srgbClr val="6B7485"/>
                </a:solidFill>
                <a:latin typeface="Noto Sans CJK JP"/>
              </a:rPr>
              <a:t>競技選抜や自信に関係することがある</a:t>
            </a:r>
          </a:p>
        </p:txBody>
      </p:sp>
      <p:sp>
        <p:nvSpPr>
          <p:cNvPr id="14" name="TextBox 13"/>
          <p:cNvSpPr txBox="1"/>
          <p:nvPr/>
        </p:nvSpPr>
        <p:spPr>
          <a:xfrm>
            <a:off x="1033272" y="4352544"/>
            <a:ext cx="2990088" cy="201168"/>
          </a:xfrm>
          <a:prstGeom prst="rect">
            <a:avLst/>
          </a:prstGeom>
          <a:noFill/>
        </p:spPr>
        <p:txBody>
          <a:bodyPr wrap="square" lIns="18288" tIns="0" rIns="18288" bIns="0" anchor="ctr">
            <a:spAutoFit/>
          </a:bodyPr>
          <a:lstStyle/>
          <a:p>
            <a:pPr algn="l">
              <a:lnSpc>
                <a:spcPct val="104000"/>
              </a:lnSpc>
              <a:spcBef>
                <a:spcPts val="0"/>
              </a:spcBef>
              <a:spcAft>
                <a:spcPts val="0"/>
              </a:spcAft>
            </a:pPr>
            <a:r>
              <a:rPr sz="1000" b="1" i="0">
                <a:solidFill>
                  <a:srgbClr val="F4774E"/>
                </a:solidFill>
                <a:latin typeface="Noto Sans CJK JP"/>
              </a:rPr>
              <a:t>Page et al., 2019</a:t>
            </a:r>
          </a:p>
        </p:txBody>
      </p:sp>
      <p:sp>
        <p:nvSpPr>
          <p:cNvPr id="15" name="Rounded Rectangle 14"/>
          <p:cNvSpPr/>
          <p:nvPr/>
        </p:nvSpPr>
        <p:spPr>
          <a:xfrm>
            <a:off x="4663440" y="2331720"/>
            <a:ext cx="3465576" cy="2350008"/>
          </a:xfrm>
          <a:prstGeom prst="roundRect">
            <a:avLst>
              <a:gd name="adj" fmla="val 10000"/>
            </a:avLst>
          </a:prstGeom>
          <a:solidFill>
            <a:srgbClr val="FFFFFF"/>
          </a:solidFill>
          <a:ln w="12700">
            <a:solidFill>
              <a:srgbClr val="E6E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90000"/>
                </a:schemeClr>
              </a:solidFill>
              <a:highlight>
                <a:srgbClr val="00FF00"/>
              </a:highlight>
            </a:endParaRPr>
          </a:p>
        </p:txBody>
      </p:sp>
      <p:sp>
        <p:nvSpPr>
          <p:cNvPr id="16" name="Rounded Rectangle 15"/>
          <p:cNvSpPr/>
          <p:nvPr/>
        </p:nvSpPr>
        <p:spPr>
          <a:xfrm>
            <a:off x="4818888" y="2523744"/>
            <a:ext cx="3136392" cy="283464"/>
          </a:xfrm>
          <a:prstGeom prst="roundRect">
            <a:avLst>
              <a:gd name="adj" fmla="val 10000"/>
            </a:avLst>
          </a:prstGeom>
          <a:solidFill>
            <a:srgbClr val="EA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28616" y="2551176"/>
            <a:ext cx="2834640" cy="219456"/>
          </a:xfrm>
          <a:prstGeom prst="rect">
            <a:avLst/>
          </a:prstGeom>
          <a:noFill/>
        </p:spPr>
        <p:txBody>
          <a:bodyPr wrap="square" lIns="18288" tIns="0" rIns="18288" bIns="0" anchor="ctr">
            <a:spAutoFit/>
          </a:bodyPr>
          <a:lstStyle/>
          <a:p>
            <a:pPr algn="l">
              <a:lnSpc>
                <a:spcPct val="104000"/>
              </a:lnSpc>
              <a:spcBef>
                <a:spcPts val="0"/>
              </a:spcBef>
              <a:spcAft>
                <a:spcPts val="0"/>
              </a:spcAft>
            </a:pPr>
            <a:r>
              <a:rPr sz="1200" b="1" i="0">
                <a:solidFill>
                  <a:srgbClr val="267A73"/>
                </a:solidFill>
                <a:latin typeface="Noto Sans CJK JP"/>
              </a:rPr>
              <a:t>33研究</a:t>
            </a:r>
          </a:p>
        </p:txBody>
      </p:sp>
      <p:sp>
        <p:nvSpPr>
          <p:cNvPr id="18" name="TextBox 17"/>
          <p:cNvSpPr txBox="1"/>
          <p:nvPr/>
        </p:nvSpPr>
        <p:spPr>
          <a:xfrm>
            <a:off x="4864608" y="2953512"/>
            <a:ext cx="3044952" cy="347472"/>
          </a:xfrm>
          <a:prstGeom prst="rect">
            <a:avLst/>
          </a:prstGeom>
          <a:noFill/>
        </p:spPr>
        <p:txBody>
          <a:bodyPr wrap="square" lIns="18288" tIns="0" rIns="18288" bIns="0" anchor="ctr">
            <a:spAutoFit/>
          </a:bodyPr>
          <a:lstStyle/>
          <a:p>
            <a:pPr algn="l">
              <a:lnSpc>
                <a:spcPct val="104000"/>
              </a:lnSpc>
              <a:spcBef>
                <a:spcPts val="0"/>
              </a:spcBef>
              <a:spcAft>
                <a:spcPts val="0"/>
              </a:spcAft>
            </a:pPr>
            <a:r>
              <a:rPr sz="1700" b="1" i="0">
                <a:solidFill>
                  <a:srgbClr val="19243D"/>
                </a:solidFill>
                <a:latin typeface="Noto Sans CJK JP"/>
              </a:rPr>
              <a:t>大魚小池効果</a:t>
            </a:r>
          </a:p>
        </p:txBody>
      </p:sp>
      <p:sp>
        <p:nvSpPr>
          <p:cNvPr id="19" name="TextBox 18"/>
          <p:cNvSpPr txBox="1"/>
          <p:nvPr/>
        </p:nvSpPr>
        <p:spPr>
          <a:xfrm>
            <a:off x="4864608" y="3374136"/>
            <a:ext cx="2990088" cy="822960"/>
          </a:xfrm>
          <a:prstGeom prst="rect">
            <a:avLst/>
          </a:prstGeom>
          <a:noFill/>
        </p:spPr>
        <p:txBody>
          <a:bodyPr wrap="square" lIns="18288" tIns="0" rIns="18288" bIns="0" anchor="ctr">
            <a:spAutoFit/>
          </a:bodyPr>
          <a:lstStyle/>
          <a:p>
            <a:pPr algn="l">
              <a:lnSpc>
                <a:spcPct val="104000"/>
              </a:lnSpc>
              <a:spcBef>
                <a:spcPts val="0"/>
              </a:spcBef>
              <a:spcAft>
                <a:spcPts val="0"/>
              </a:spcAft>
            </a:pPr>
            <a:r>
              <a:rPr sz="1100" b="0" i="0">
                <a:solidFill>
                  <a:srgbClr val="6B7485"/>
                </a:solidFill>
                <a:latin typeface="Noto Sans CJK JP"/>
              </a:rPr>
              <a:t>周囲の学力水準が高いほど、同じ</a:t>
            </a:r>
          </a:p>
          <a:p>
            <a:pPr algn="l">
              <a:lnSpc>
                <a:spcPct val="104000"/>
              </a:lnSpc>
              <a:spcBef>
                <a:spcPts val="0"/>
              </a:spcBef>
              <a:spcAft>
                <a:spcPts val="0"/>
              </a:spcAft>
            </a:pPr>
            <a:r>
              <a:rPr sz="1100" b="0" i="0">
                <a:solidFill>
                  <a:srgbClr val="6B7485"/>
                </a:solidFill>
                <a:latin typeface="Noto Sans CJK JP"/>
              </a:rPr>
              <a:t>本人の学業的自己概念が低い傾向</a:t>
            </a:r>
          </a:p>
        </p:txBody>
      </p:sp>
      <p:sp>
        <p:nvSpPr>
          <p:cNvPr id="20" name="TextBox 19"/>
          <p:cNvSpPr txBox="1"/>
          <p:nvPr/>
        </p:nvSpPr>
        <p:spPr>
          <a:xfrm>
            <a:off x="4864608" y="4352544"/>
            <a:ext cx="2990088" cy="201168"/>
          </a:xfrm>
          <a:prstGeom prst="rect">
            <a:avLst/>
          </a:prstGeom>
          <a:noFill/>
        </p:spPr>
        <p:txBody>
          <a:bodyPr wrap="square" lIns="18288" tIns="0" rIns="18288" bIns="0" anchor="ctr">
            <a:spAutoFit/>
          </a:bodyPr>
          <a:lstStyle/>
          <a:p>
            <a:pPr algn="l">
              <a:lnSpc>
                <a:spcPct val="104000"/>
              </a:lnSpc>
              <a:spcBef>
                <a:spcPts val="0"/>
              </a:spcBef>
              <a:spcAft>
                <a:spcPts val="0"/>
              </a:spcAft>
            </a:pPr>
            <a:r>
              <a:rPr sz="1000" b="1" i="0">
                <a:solidFill>
                  <a:srgbClr val="F4774E"/>
                </a:solidFill>
                <a:latin typeface="Noto Sans CJK JP"/>
              </a:rPr>
              <a:t>Fang et al., 2018</a:t>
            </a:r>
          </a:p>
        </p:txBody>
      </p:sp>
      <p:sp>
        <p:nvSpPr>
          <p:cNvPr id="21" name="Rounded Rectangle 20"/>
          <p:cNvSpPr/>
          <p:nvPr/>
        </p:nvSpPr>
        <p:spPr>
          <a:xfrm>
            <a:off x="8494776" y="2331720"/>
            <a:ext cx="3465576" cy="2350008"/>
          </a:xfrm>
          <a:prstGeom prst="roundRect">
            <a:avLst>
              <a:gd name="adj" fmla="val 10000"/>
            </a:avLst>
          </a:prstGeom>
          <a:solidFill>
            <a:srgbClr val="FFFFFF"/>
          </a:solidFill>
          <a:ln w="12700">
            <a:solidFill>
              <a:srgbClr val="E6E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90000"/>
                </a:schemeClr>
              </a:solidFill>
              <a:highlight>
                <a:srgbClr val="00FF00"/>
              </a:highlight>
            </a:endParaRPr>
          </a:p>
        </p:txBody>
      </p:sp>
      <p:sp>
        <p:nvSpPr>
          <p:cNvPr id="22" name="Rounded Rectangle 21"/>
          <p:cNvSpPr/>
          <p:nvPr/>
        </p:nvSpPr>
        <p:spPr>
          <a:xfrm>
            <a:off x="8650224" y="2523744"/>
            <a:ext cx="3136392" cy="283464"/>
          </a:xfrm>
          <a:prstGeom prst="roundRect">
            <a:avLst>
              <a:gd name="adj" fmla="val 10000"/>
            </a:avLst>
          </a:prstGeom>
          <a:solidFill>
            <a:srgbClr val="EA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759952" y="2551176"/>
            <a:ext cx="2834640" cy="219456"/>
          </a:xfrm>
          <a:prstGeom prst="rect">
            <a:avLst/>
          </a:prstGeom>
          <a:noFill/>
        </p:spPr>
        <p:txBody>
          <a:bodyPr wrap="square" lIns="18288" tIns="0" rIns="18288" bIns="0" anchor="ctr">
            <a:spAutoFit/>
          </a:bodyPr>
          <a:lstStyle/>
          <a:p>
            <a:pPr algn="l">
              <a:lnSpc>
                <a:spcPct val="104000"/>
              </a:lnSpc>
              <a:spcBef>
                <a:spcPts val="0"/>
              </a:spcBef>
              <a:spcAft>
                <a:spcPts val="0"/>
              </a:spcAft>
            </a:pPr>
            <a:r>
              <a:rPr sz="1200" b="1" i="0">
                <a:solidFill>
                  <a:srgbClr val="267A73"/>
                </a:solidFill>
                <a:latin typeface="Noto Sans CJK JP"/>
              </a:rPr>
              <a:t>381人</a:t>
            </a:r>
          </a:p>
        </p:txBody>
      </p:sp>
      <p:sp>
        <p:nvSpPr>
          <p:cNvPr id="24" name="TextBox 23"/>
          <p:cNvSpPr txBox="1"/>
          <p:nvPr/>
        </p:nvSpPr>
        <p:spPr>
          <a:xfrm>
            <a:off x="8695944" y="2953512"/>
            <a:ext cx="3044952" cy="347472"/>
          </a:xfrm>
          <a:prstGeom prst="rect">
            <a:avLst/>
          </a:prstGeom>
          <a:noFill/>
        </p:spPr>
        <p:txBody>
          <a:bodyPr wrap="square" lIns="18288" tIns="0" rIns="18288" bIns="0" anchor="ctr">
            <a:spAutoFit/>
          </a:bodyPr>
          <a:lstStyle/>
          <a:p>
            <a:pPr algn="l">
              <a:lnSpc>
                <a:spcPct val="104000"/>
              </a:lnSpc>
              <a:spcBef>
                <a:spcPts val="0"/>
              </a:spcBef>
              <a:spcAft>
                <a:spcPts val="0"/>
              </a:spcAft>
            </a:pPr>
            <a:r>
              <a:rPr sz="1700" b="1" i="0">
                <a:solidFill>
                  <a:srgbClr val="19243D"/>
                </a:solidFill>
                <a:latin typeface="Noto Sans CJK JP"/>
              </a:rPr>
              <a:t>VR教室実験</a:t>
            </a:r>
          </a:p>
        </p:txBody>
      </p:sp>
      <p:sp>
        <p:nvSpPr>
          <p:cNvPr id="25" name="TextBox 24"/>
          <p:cNvSpPr txBox="1"/>
          <p:nvPr/>
        </p:nvSpPr>
        <p:spPr>
          <a:xfrm>
            <a:off x="8695944" y="3374136"/>
            <a:ext cx="2990088" cy="822960"/>
          </a:xfrm>
          <a:prstGeom prst="rect">
            <a:avLst/>
          </a:prstGeom>
          <a:noFill/>
        </p:spPr>
        <p:txBody>
          <a:bodyPr wrap="square" lIns="18288" tIns="0" rIns="18288" bIns="0" anchor="ctr">
            <a:spAutoFit/>
          </a:bodyPr>
          <a:lstStyle/>
          <a:p>
            <a:pPr algn="l">
              <a:lnSpc>
                <a:spcPct val="104000"/>
              </a:lnSpc>
              <a:spcBef>
                <a:spcPts val="0"/>
              </a:spcBef>
              <a:spcAft>
                <a:spcPts val="0"/>
              </a:spcAft>
            </a:pPr>
            <a:r>
              <a:rPr sz="1100" b="0" i="0">
                <a:solidFill>
                  <a:srgbClr val="6B7485"/>
                </a:solidFill>
                <a:latin typeface="Noto Sans CJK JP"/>
              </a:rPr>
              <a:t>仮想同級生の挙手率を変えると</a:t>
            </a:r>
          </a:p>
          <a:p>
            <a:pPr algn="l">
              <a:lnSpc>
                <a:spcPct val="104000"/>
              </a:lnSpc>
              <a:spcBef>
                <a:spcPts val="0"/>
              </a:spcBef>
              <a:spcAft>
                <a:spcPts val="0"/>
              </a:spcAft>
            </a:pPr>
            <a:r>
              <a:rPr sz="1100" b="0" i="0">
                <a:solidFill>
                  <a:srgbClr val="6B7485"/>
                </a:solidFill>
                <a:latin typeface="Noto Sans CJK JP"/>
              </a:rPr>
              <a:t>一時的な自己評価に差が生じた</a:t>
            </a:r>
          </a:p>
        </p:txBody>
      </p:sp>
      <p:sp>
        <p:nvSpPr>
          <p:cNvPr id="26" name="TextBox 25"/>
          <p:cNvSpPr txBox="1"/>
          <p:nvPr/>
        </p:nvSpPr>
        <p:spPr>
          <a:xfrm>
            <a:off x="8695944" y="4352544"/>
            <a:ext cx="2990088" cy="201168"/>
          </a:xfrm>
          <a:prstGeom prst="rect">
            <a:avLst/>
          </a:prstGeom>
          <a:noFill/>
        </p:spPr>
        <p:txBody>
          <a:bodyPr wrap="square" lIns="18288" tIns="0" rIns="18288" bIns="0" anchor="ctr">
            <a:spAutoFit/>
          </a:bodyPr>
          <a:lstStyle/>
          <a:p>
            <a:pPr algn="l">
              <a:lnSpc>
                <a:spcPct val="104000"/>
              </a:lnSpc>
              <a:spcBef>
                <a:spcPts val="0"/>
              </a:spcBef>
              <a:spcAft>
                <a:spcPts val="0"/>
              </a:spcAft>
            </a:pPr>
            <a:r>
              <a:rPr sz="1000" b="1" i="0">
                <a:solidFill>
                  <a:srgbClr val="F4774E"/>
                </a:solidFill>
                <a:latin typeface="Noto Sans CJK JP"/>
              </a:rPr>
              <a:t>Hasenbein et al., 2023</a:t>
            </a:r>
          </a:p>
        </p:txBody>
      </p:sp>
      <p:sp>
        <p:nvSpPr>
          <p:cNvPr id="27" name="Rounded Rectangle 26"/>
          <p:cNvSpPr/>
          <p:nvPr/>
        </p:nvSpPr>
        <p:spPr>
          <a:xfrm>
            <a:off x="905256" y="4983480"/>
            <a:ext cx="10396728" cy="914400"/>
          </a:xfrm>
          <a:prstGeom prst="roundRect">
            <a:avLst>
              <a:gd name="adj" fmla="val 10000"/>
            </a:avLst>
          </a:prstGeom>
          <a:solidFill>
            <a:srgbClr val="F0E9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24712" y="5148072"/>
            <a:ext cx="9994392" cy="548640"/>
          </a:xfrm>
          <a:prstGeom prst="rect">
            <a:avLst/>
          </a:prstGeom>
          <a:noFill/>
        </p:spPr>
        <p:txBody>
          <a:bodyPr wrap="square" lIns="18288" tIns="0" rIns="18288" bIns="0" anchor="ctr">
            <a:spAutoFit/>
          </a:bodyPr>
          <a:lstStyle/>
          <a:p>
            <a:pPr algn="ctr">
              <a:lnSpc>
                <a:spcPct val="104000"/>
              </a:lnSpc>
              <a:spcBef>
                <a:spcPts val="0"/>
              </a:spcBef>
              <a:spcAft>
                <a:spcPts val="0"/>
              </a:spcAft>
            </a:pPr>
            <a:r>
              <a:rPr sz="1500" b="1" i="0">
                <a:solidFill>
                  <a:srgbClr val="19243D"/>
                </a:solidFill>
                <a:latin typeface="Noto Sans CJK JP"/>
              </a:rPr>
              <a:t>仮説：本人の実力に見合う「出番」と具体的な承認が、</a:t>
            </a:r>
          </a:p>
          <a:p>
            <a:pPr algn="ctr">
              <a:lnSpc>
                <a:spcPct val="104000"/>
              </a:lnSpc>
              <a:spcBef>
                <a:spcPts val="0"/>
              </a:spcBef>
              <a:spcAft>
                <a:spcPts val="0"/>
              </a:spcAft>
            </a:pPr>
            <a:r>
              <a:rPr sz="1500" b="1" i="0">
                <a:solidFill>
                  <a:srgbClr val="19243D"/>
                </a:solidFill>
                <a:latin typeface="Noto Sans CJK JP"/>
              </a:rPr>
              <a:t>学びへの自己効力感や再挑戦意欲につながるのではないか。</a:t>
            </a:r>
          </a:p>
        </p:txBody>
      </p:sp>
      <p:sp>
        <p:nvSpPr>
          <p:cNvPr id="29" name="TextBox 28"/>
          <p:cNvSpPr txBox="1"/>
          <p:nvPr/>
        </p:nvSpPr>
        <p:spPr>
          <a:xfrm>
            <a:off x="1078992" y="6099048"/>
            <a:ext cx="10012680" cy="192024"/>
          </a:xfrm>
          <a:prstGeom prst="rect">
            <a:avLst/>
          </a:prstGeom>
          <a:noFill/>
        </p:spPr>
        <p:txBody>
          <a:bodyPr wrap="square" lIns="18288" tIns="0" rIns="18288" bIns="0" anchor="ctr">
            <a:spAutoFit/>
          </a:bodyPr>
          <a:lstStyle/>
          <a:p>
            <a:pPr algn="ctr">
              <a:lnSpc>
                <a:spcPct val="104000"/>
              </a:lnSpc>
              <a:spcBef>
                <a:spcPts val="0"/>
              </a:spcBef>
              <a:spcAft>
                <a:spcPts val="0"/>
              </a:spcAft>
            </a:pPr>
            <a:r>
              <a:rPr sz="1000" b="0" i="0">
                <a:solidFill>
                  <a:srgbClr val="757F8E"/>
                </a:solidFill>
                <a:latin typeface="Noto Sans CJK JP"/>
              </a:rPr>
              <a:t>※VR実験で確認されたのは15分後の状況的自己概念の差。大人の長期効果は未検証。</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49808" y="521207"/>
            <a:ext cx="59436" cy="237744"/>
          </a:xfrm>
          <a:prstGeom prst="rect">
            <a:avLst/>
          </a:prstGeom>
          <a:solidFill>
            <a:srgbClr val="8EEB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498347"/>
            <a:ext cx="10332720" cy="274320"/>
          </a:xfrm>
          <a:prstGeom prst="rect">
            <a:avLst/>
          </a:prstGeom>
          <a:noFill/>
        </p:spPr>
        <p:txBody>
          <a:bodyPr wrap="square" lIns="0" tIns="9144" rIns="0" bIns="9144" anchor="ctr">
            <a:spAutoFit/>
          </a:bodyPr>
          <a:lstStyle/>
          <a:p>
            <a:pPr algn="l">
              <a:spcBef>
                <a:spcPts val="0"/>
              </a:spcBef>
              <a:spcAft>
                <a:spcPts val="0"/>
              </a:spcAft>
            </a:pPr>
            <a:r>
              <a:rPr sz="1200" b="1" i="0">
                <a:solidFill>
                  <a:srgbClr val="8EEBCF"/>
                </a:solidFill>
                <a:latin typeface="Noto Sans CJK JP"/>
              </a:rPr>
              <a:t>TECHNOLOGY / GOOGLE DEEPMIND 2026.10.27</a:t>
            </a:r>
          </a:p>
        </p:txBody>
      </p:sp>
      <p:sp>
        <p:nvSpPr>
          <p:cNvPr id="5" name="TextBox 4"/>
          <p:cNvSpPr txBox="1"/>
          <p:nvPr/>
        </p:nvSpPr>
        <p:spPr>
          <a:xfrm>
            <a:off x="795528" y="1132537"/>
            <a:ext cx="10415016" cy="587853"/>
          </a:xfrm>
          <a:prstGeom prst="rect">
            <a:avLst/>
          </a:prstGeom>
          <a:noFill/>
        </p:spPr>
        <p:txBody>
          <a:bodyPr wrap="square" lIns="0" tIns="9144" rIns="0" bIns="9144" anchor="ctr">
            <a:spAutoFit/>
          </a:bodyPr>
          <a:lstStyle/>
          <a:p>
            <a:pPr algn="l">
              <a:spcBef>
                <a:spcPts val="0"/>
              </a:spcBef>
              <a:spcAft>
                <a:spcPts val="0"/>
              </a:spcAft>
            </a:pPr>
            <a:r>
              <a:rPr sz="3700" b="1" i="0" dirty="0">
                <a:solidFill>
                  <a:srgbClr val="FFFFFF"/>
                </a:solidFill>
                <a:latin typeface="Noto Sans CJK JP"/>
              </a:rPr>
              <a:t>Genie 4 × Gemini</a:t>
            </a:r>
          </a:p>
        </p:txBody>
      </p:sp>
      <p:sp>
        <p:nvSpPr>
          <p:cNvPr id="6" name="TextBox 5"/>
          <p:cNvSpPr txBox="1"/>
          <p:nvPr/>
        </p:nvSpPr>
        <p:spPr>
          <a:xfrm>
            <a:off x="813816" y="1828800"/>
            <a:ext cx="10488168" cy="429768"/>
          </a:xfrm>
          <a:prstGeom prst="rect">
            <a:avLst/>
          </a:prstGeom>
          <a:noFill/>
        </p:spPr>
        <p:txBody>
          <a:bodyPr wrap="square" lIns="0" tIns="9144" rIns="0" bIns="9144" anchor="ctr">
            <a:spAutoFit/>
          </a:bodyPr>
          <a:lstStyle/>
          <a:p>
            <a:pPr>
              <a:defRPr sz="1900" b="1">
                <a:solidFill>
                  <a:srgbClr val="EBEBFA"/>
                </a:solidFill>
              </a:defRPr>
            </a:pPr>
            <a:r>
              <a:t>文章（プロンプト）だけで、動く世界が生まれる ― 公開デモ3本</a:t>
            </a:r>
          </a:p>
        </p:txBody>
      </p:sp>
      <p:sp>
        <p:nvSpPr>
          <p:cNvPr id="31" name="TextBox 30"/>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99A1C0"/>
                </a:solidFill>
                <a:latin typeface="Noto Sans CJK JP"/>
              </a:rPr>
              <a:t>STARRING  /  AIエージェント アイデアソン by Animoca Brands Japan</a:t>
            </a:r>
          </a:p>
        </p:txBody>
      </p:sp>
      <p:sp>
        <p:nvSpPr>
          <p:cNvPr id="32" name="TextBox 31"/>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13</a:t>
            </a:r>
          </a:p>
        </p:txBody>
      </p:sp>
      <p:sp>
        <p:nvSpPr>
          <p:cNvPr id="33" name="TextBox 32"/>
          <p:cNvSpPr txBox="1"/>
          <p:nvPr/>
        </p:nvSpPr>
        <p:spPr>
          <a:xfrm>
            <a:off x="658368" y="6245352"/>
            <a:ext cx="10789920" cy="164592"/>
          </a:xfrm>
          <a:prstGeom prst="rect">
            <a:avLst/>
          </a:prstGeom>
          <a:noFill/>
        </p:spPr>
        <p:txBody>
          <a:bodyPr wrap="square" lIns="0" tIns="9144" rIns="0" bIns="9144" anchor="ctr">
            <a:spAutoFit/>
          </a:bodyPr>
          <a:lstStyle/>
          <a:p>
            <a:pPr algn="l">
              <a:spcBef>
                <a:spcPts val="0"/>
              </a:spcBef>
              <a:spcAft>
                <a:spcPts val="0"/>
              </a:spcAft>
            </a:pPr>
            <a:r>
              <a:rPr sz="800" b="0" i="0">
                <a:solidFill>
                  <a:srgbClr val="99A1C0"/>
                </a:solidFill>
                <a:latin typeface="Noto Sans CJK JP"/>
              </a:rPr>
              <a:t>Google DeepMind, Genie 4: A new generation of world simulation (2026-10-27)</a:t>
            </a:r>
          </a:p>
        </p:txBody>
      </p:sp>
      <p:sp>
        <p:nvSpPr>
          <p:cNvPr id="100" name="Shape 100"/>
          <p:cNvSpPr/>
          <p:nvPr/>
        </p:nvSpPr>
        <p:spPr>
          <a:xfrm>
            <a:off x="685800" y="2430000"/>
            <a:ext cx="3454400" cy="3400000"/>
          </a:xfrm>
          <a:prstGeom prst="roundRect">
            <a:avLst>
              <a:gd name="adj" fmla="val 5000"/>
            </a:avLst>
          </a:prstGeom>
          <a:solidFill>
            <a:srgbClr val="1C2340"/>
          </a:solidFill>
          <a:ln w="9525">
            <a:solidFill>
              <a:srgbClr val="3A4670"/>
            </a:solidFill>
          </a:ln>
        </p:spPr>
        <p:txBody>
          <a:bodyPr anchor="ctr"/>
          <a:lstStyle/>
          <a:p>
            <a:endParaRPr lang="ja-JP"/>
          </a:p>
        </p:txBody>
      </p:sp>
      <p:sp>
        <p:nvSpPr>
          <p:cNvPr id="101" name="TextBox 101"/>
          <p:cNvSpPr txBox="1"/>
          <p:nvPr/>
        </p:nvSpPr>
        <p:spPr>
          <a:xfrm>
            <a:off x="868680" y="2530000"/>
            <a:ext cx="3088640" cy="280000"/>
          </a:xfrm>
          <a:prstGeom prst="rect">
            <a:avLst/>
          </a:prstGeom>
          <a:noFill/>
        </p:spPr>
        <p:txBody>
          <a:bodyPr wrap="square" lIns="0" tIns="0" rIns="0" bIns="0" anchor="ctr">
            <a:normAutofit/>
          </a:bodyPr>
          <a:lstStyle/>
          <a:p>
            <a:pPr algn="l">
              <a:lnSpc>
                <a:spcPct val="110000"/>
              </a:lnSpc>
            </a:pPr>
            <a:r>
              <a:rPr lang="ja-JP" sz="1500" b="1" dirty="0">
                <a:solidFill>
                  <a:srgbClr val="F6AF65"/>
                </a:solidFill>
                <a:latin typeface="Noto Sans CJK JP"/>
                <a:ea typeface="Noto Sans CJK JP"/>
              </a:rPr>
              <a:t>01  /  ROBOTICS</a:t>
            </a:r>
          </a:p>
        </p:txBody>
      </p:sp>
      <p:sp>
        <p:nvSpPr>
          <p:cNvPr id="102" name="TextBox 102"/>
          <p:cNvSpPr txBox="1"/>
          <p:nvPr/>
        </p:nvSpPr>
        <p:spPr>
          <a:xfrm>
            <a:off x="2657320" y="2530000"/>
            <a:ext cx="1300000" cy="280000"/>
          </a:xfrm>
          <a:prstGeom prst="rect">
            <a:avLst/>
          </a:prstGeom>
          <a:noFill/>
        </p:spPr>
        <p:txBody>
          <a:bodyPr wrap="square" lIns="0" tIns="0" rIns="0" bIns="0" anchor="ctr">
            <a:normAutofit/>
          </a:bodyPr>
          <a:lstStyle/>
          <a:p>
            <a:pPr algn="r">
              <a:lnSpc>
                <a:spcPct val="110000"/>
              </a:lnSpc>
            </a:pPr>
            <a:r>
              <a:rPr lang="ja-JP" sz="900" b="0" dirty="0">
                <a:solidFill>
                  <a:srgbClr val="8EEBCF"/>
                </a:solidFill>
                <a:latin typeface="Noto Sans CJK JP"/>
                <a:ea typeface="Noto Sans CJK JP"/>
              </a:rPr>
              <a:t>● 自動再生  29秒</a:t>
            </a:r>
          </a:p>
        </p:txBody>
      </p:sp>
      <p:pic>
        <p:nvPicPr>
          <p:cNvPr id="103" name="Genie 4 demo 01  /  ROBOTICS" descr="Genie 4 demo 01  /  ROBOTICS">
            <a:hlinkClick r:id="" action="ppaction://media"/>
          </p:cNvPr>
          <p:cNvPicPr>
            <a:picLocks noChangeAspect="1"/>
          </p:cNvPicPr>
          <p:nvPr>
            <a:videoFile r:link="rIdV0"/>
            <p:extLst>
              <p:ext uri="{DAA4B4D4-6D71-4841-9C94-3DE7FCFB9230}">
                <p14:media xmlns:p14="http://schemas.microsoft.com/office/powerpoint/2010/main" r:embed="rIdM0"/>
              </p:ext>
            </p:extLst>
          </p:nvPr>
        </p:nvPicPr>
        <p:blipFill>
          <a:blip r:embed="rIdP0"/>
          <a:stretch>
            <a:fillRect/>
          </a:stretch>
        </p:blipFill>
        <p:spPr>
          <a:xfrm>
            <a:off x="777240" y="2860000"/>
            <a:ext cx="3271520" cy="1840230"/>
          </a:xfrm>
          <a:prstGeom prst="rect">
            <a:avLst/>
          </a:prstGeom>
        </p:spPr>
      </p:pic>
      <p:sp>
        <p:nvSpPr>
          <p:cNvPr id="104" name="TextBox 104"/>
          <p:cNvSpPr txBox="1"/>
          <p:nvPr/>
        </p:nvSpPr>
        <p:spPr>
          <a:xfrm>
            <a:off x="868680" y="4810230"/>
            <a:ext cx="3088640" cy="560000"/>
          </a:xfrm>
          <a:prstGeom prst="rect">
            <a:avLst/>
          </a:prstGeom>
          <a:noFill/>
        </p:spPr>
        <p:txBody>
          <a:bodyPr wrap="square" lIns="0" tIns="0" rIns="0" bIns="0" anchor="t">
            <a:normAutofit/>
          </a:bodyPr>
          <a:lstStyle/>
          <a:p>
            <a:pPr algn="l">
              <a:lnSpc>
                <a:spcPct val="110000"/>
              </a:lnSpc>
            </a:pPr>
            <a:r>
              <a:rPr lang="ja-JP" sz="900" b="1" dirty="0">
                <a:solidFill>
                  <a:srgbClr val="8EEBCF"/>
                </a:solidFill>
                <a:latin typeface="Noto Sans CJK JP"/>
                <a:ea typeface="Noto Sans CJK JP"/>
              </a:rPr>
              <a:t>PROMPT</a:t>
            </a:r>
          </a:p>
          <a:p>
            <a:pPr algn="l">
              <a:lnSpc>
                <a:spcPct val="110000"/>
              </a:lnSpc>
            </a:pPr>
            <a:r>
              <a:rPr lang="ja-JP" sz="1150" b="0" dirty="0">
                <a:solidFill>
                  <a:srgbClr val="EBEEF7"/>
                </a:solidFill>
                <a:latin typeface="Noto Sans CJK JP"/>
                <a:ea typeface="Noto Sans CJK JP"/>
              </a:rPr>
              <a:t>UR5ロボットアームがピペットで液体をプレートに注ぎ、小さな火花が散る</a:t>
            </a:r>
          </a:p>
        </p:txBody>
      </p:sp>
      <p:sp>
        <p:nvSpPr>
          <p:cNvPr id="105" name="TextBox 105"/>
          <p:cNvSpPr txBox="1"/>
          <p:nvPr/>
        </p:nvSpPr>
        <p:spPr>
          <a:xfrm>
            <a:off x="868680" y="5410230"/>
            <a:ext cx="3088640" cy="300000"/>
          </a:xfrm>
          <a:prstGeom prst="rect">
            <a:avLst/>
          </a:prstGeom>
          <a:noFill/>
        </p:spPr>
        <p:txBody>
          <a:bodyPr wrap="square" lIns="0" tIns="0" rIns="0" bIns="0" anchor="t">
            <a:normAutofit/>
          </a:bodyPr>
          <a:lstStyle/>
          <a:p>
            <a:pPr algn="l">
              <a:lnSpc>
                <a:spcPct val="110000"/>
              </a:lnSpc>
            </a:pPr>
            <a:r>
              <a:rPr lang="ja-JP" sz="1150" b="1" dirty="0">
                <a:solidFill>
                  <a:srgbClr val="F6AF65"/>
                </a:solidFill>
                <a:latin typeface="Noto Sans CJK JP"/>
                <a:ea typeface="Noto Sans CJK JP"/>
              </a:rPr>
              <a:t>→ 実験室の細かな物理操作を、映像だけで再現</a:t>
            </a:r>
          </a:p>
        </p:txBody>
      </p:sp>
      <p:sp>
        <p:nvSpPr>
          <p:cNvPr id="106" name="Shape 106"/>
          <p:cNvSpPr/>
          <p:nvPr/>
        </p:nvSpPr>
        <p:spPr>
          <a:xfrm>
            <a:off x="4368800" y="2430000"/>
            <a:ext cx="3454400" cy="3400000"/>
          </a:xfrm>
          <a:prstGeom prst="roundRect">
            <a:avLst>
              <a:gd name="adj" fmla="val 5000"/>
            </a:avLst>
          </a:prstGeom>
          <a:solidFill>
            <a:srgbClr val="1C2340"/>
          </a:solidFill>
          <a:ln w="9525">
            <a:solidFill>
              <a:srgbClr val="3A4670"/>
            </a:solidFill>
          </a:ln>
        </p:spPr>
        <p:txBody>
          <a:bodyPr anchor="ctr"/>
          <a:lstStyle/>
          <a:p>
            <a:endParaRPr lang="ja-JP"/>
          </a:p>
        </p:txBody>
      </p:sp>
      <p:sp>
        <p:nvSpPr>
          <p:cNvPr id="107" name="TextBox 107"/>
          <p:cNvSpPr txBox="1"/>
          <p:nvPr/>
        </p:nvSpPr>
        <p:spPr>
          <a:xfrm>
            <a:off x="4551680" y="2530000"/>
            <a:ext cx="3088640" cy="280000"/>
          </a:xfrm>
          <a:prstGeom prst="rect">
            <a:avLst/>
          </a:prstGeom>
          <a:noFill/>
        </p:spPr>
        <p:txBody>
          <a:bodyPr wrap="square" lIns="0" tIns="0" rIns="0" bIns="0" anchor="ctr">
            <a:normAutofit/>
          </a:bodyPr>
          <a:lstStyle/>
          <a:p>
            <a:pPr algn="l">
              <a:lnSpc>
                <a:spcPct val="110000"/>
              </a:lnSpc>
            </a:pPr>
            <a:r>
              <a:rPr lang="ja-JP" sz="1500" b="1" dirty="0">
                <a:solidFill>
                  <a:srgbClr val="F6AF65"/>
                </a:solidFill>
                <a:latin typeface="Noto Sans CJK JP"/>
                <a:ea typeface="Noto Sans CJK JP"/>
              </a:rPr>
              <a:t>02  /  MAGICIAN</a:t>
            </a:r>
          </a:p>
        </p:txBody>
      </p:sp>
      <p:sp>
        <p:nvSpPr>
          <p:cNvPr id="108" name="TextBox 108"/>
          <p:cNvSpPr txBox="1"/>
          <p:nvPr/>
        </p:nvSpPr>
        <p:spPr>
          <a:xfrm>
            <a:off x="6340320" y="2530000"/>
            <a:ext cx="1300000" cy="280000"/>
          </a:xfrm>
          <a:prstGeom prst="rect">
            <a:avLst/>
          </a:prstGeom>
          <a:noFill/>
        </p:spPr>
        <p:txBody>
          <a:bodyPr wrap="square" lIns="0" tIns="0" rIns="0" bIns="0" anchor="ctr">
            <a:normAutofit/>
          </a:bodyPr>
          <a:lstStyle/>
          <a:p>
            <a:pPr algn="r">
              <a:lnSpc>
                <a:spcPct val="110000"/>
              </a:lnSpc>
            </a:pPr>
            <a:r>
              <a:rPr lang="ja-JP" sz="900" b="0" dirty="0">
                <a:solidFill>
                  <a:srgbClr val="8EEBCF"/>
                </a:solidFill>
                <a:latin typeface="Noto Sans CJK JP"/>
                <a:ea typeface="Noto Sans CJK JP"/>
              </a:rPr>
              <a:t>● 自動再生  24秒</a:t>
            </a:r>
          </a:p>
        </p:txBody>
      </p:sp>
      <p:pic>
        <p:nvPicPr>
          <p:cNvPr id="109" name="Genie 4 demo 02  /  MAGICIAN" descr="Genie 4 demo 02  /  MAGICIAN">
            <a:hlinkClick r:id="" action="ppaction://media"/>
          </p:cNvPr>
          <p:cNvPicPr>
            <a:picLocks noChangeAspect="1"/>
          </p:cNvPicPr>
          <p:nvPr>
            <a:videoFile r:link="rIdV1"/>
            <p:extLst>
              <p:ext uri="{DAA4B4D4-6D71-4841-9C94-3DE7FCFB9230}">
                <p14:media xmlns:p14="http://schemas.microsoft.com/office/powerpoint/2010/main" r:embed="rIdM1"/>
              </p:ext>
            </p:extLst>
          </p:nvPr>
        </p:nvPicPr>
        <p:blipFill>
          <a:blip r:embed="rIdP1"/>
          <a:stretch>
            <a:fillRect/>
          </a:stretch>
        </p:blipFill>
        <p:spPr>
          <a:xfrm>
            <a:off x="4460240" y="2860000"/>
            <a:ext cx="3271520" cy="1840230"/>
          </a:xfrm>
          <a:prstGeom prst="rect">
            <a:avLst/>
          </a:prstGeom>
        </p:spPr>
      </p:pic>
      <p:sp>
        <p:nvSpPr>
          <p:cNvPr id="110" name="TextBox 110"/>
          <p:cNvSpPr txBox="1"/>
          <p:nvPr/>
        </p:nvSpPr>
        <p:spPr>
          <a:xfrm>
            <a:off x="4551680" y="4810230"/>
            <a:ext cx="3088640" cy="560000"/>
          </a:xfrm>
          <a:prstGeom prst="rect">
            <a:avLst/>
          </a:prstGeom>
          <a:noFill/>
        </p:spPr>
        <p:txBody>
          <a:bodyPr wrap="square" lIns="0" tIns="0" rIns="0" bIns="0" anchor="t">
            <a:normAutofit/>
          </a:bodyPr>
          <a:lstStyle/>
          <a:p>
            <a:pPr algn="l">
              <a:lnSpc>
                <a:spcPct val="110000"/>
              </a:lnSpc>
            </a:pPr>
            <a:r>
              <a:rPr lang="ja-JP" sz="900" b="1" dirty="0">
                <a:solidFill>
                  <a:srgbClr val="8EEBCF"/>
                </a:solidFill>
                <a:latin typeface="Noto Sans CJK JP"/>
                <a:ea typeface="Noto Sans CJK JP"/>
              </a:rPr>
              <a:t>PROMPT</a:t>
            </a:r>
          </a:p>
          <a:p>
            <a:pPr algn="l">
              <a:lnSpc>
                <a:spcPct val="110000"/>
              </a:lnSpc>
            </a:pPr>
            <a:r>
              <a:rPr lang="ja-JP" sz="1150" b="0" dirty="0">
                <a:solidFill>
                  <a:srgbClr val="EBEEF7"/>
                </a:solidFill>
                <a:latin typeface="Noto Sans CJK JP"/>
                <a:ea typeface="Noto Sans CJK JP"/>
              </a:rPr>
              <a:t>骨董サロンを杖を手に一人称で歩く。磁器の動物と本物のクジャク</a:t>
            </a:r>
          </a:p>
        </p:txBody>
      </p:sp>
      <p:sp>
        <p:nvSpPr>
          <p:cNvPr id="111" name="TextBox 111"/>
          <p:cNvSpPr txBox="1"/>
          <p:nvPr/>
        </p:nvSpPr>
        <p:spPr>
          <a:xfrm>
            <a:off x="4551680" y="5410230"/>
            <a:ext cx="3088640" cy="300000"/>
          </a:xfrm>
          <a:prstGeom prst="rect">
            <a:avLst/>
          </a:prstGeom>
          <a:noFill/>
        </p:spPr>
        <p:txBody>
          <a:bodyPr wrap="square" lIns="0" tIns="0" rIns="0" bIns="0" anchor="t">
            <a:normAutofit/>
          </a:bodyPr>
          <a:lstStyle/>
          <a:p>
            <a:pPr algn="l">
              <a:lnSpc>
                <a:spcPct val="110000"/>
              </a:lnSpc>
            </a:pPr>
            <a:r>
              <a:rPr lang="ja-JP" sz="1150" b="1" dirty="0">
                <a:solidFill>
                  <a:srgbClr val="F6AF65"/>
                </a:solidFill>
                <a:latin typeface="Noto Sans CJK JP"/>
                <a:ea typeface="Noto Sans CJK JP"/>
              </a:rPr>
              <a:t>→ 歩いて探索できる、映画品質の一人称世界</a:t>
            </a:r>
          </a:p>
        </p:txBody>
      </p:sp>
      <p:sp>
        <p:nvSpPr>
          <p:cNvPr id="112" name="Shape 112"/>
          <p:cNvSpPr/>
          <p:nvPr/>
        </p:nvSpPr>
        <p:spPr>
          <a:xfrm>
            <a:off x="8051800" y="2430000"/>
            <a:ext cx="3454400" cy="3400000"/>
          </a:xfrm>
          <a:prstGeom prst="roundRect">
            <a:avLst>
              <a:gd name="adj" fmla="val 5000"/>
            </a:avLst>
          </a:prstGeom>
          <a:solidFill>
            <a:srgbClr val="1C2340"/>
          </a:solidFill>
          <a:ln w="9525">
            <a:solidFill>
              <a:srgbClr val="3A4670"/>
            </a:solidFill>
          </a:ln>
        </p:spPr>
        <p:txBody>
          <a:bodyPr anchor="ctr"/>
          <a:lstStyle/>
          <a:p>
            <a:endParaRPr lang="ja-JP"/>
          </a:p>
        </p:txBody>
      </p:sp>
      <p:sp>
        <p:nvSpPr>
          <p:cNvPr id="113" name="TextBox 113"/>
          <p:cNvSpPr txBox="1"/>
          <p:nvPr/>
        </p:nvSpPr>
        <p:spPr>
          <a:xfrm>
            <a:off x="8234680" y="2530000"/>
            <a:ext cx="3088640" cy="280000"/>
          </a:xfrm>
          <a:prstGeom prst="rect">
            <a:avLst/>
          </a:prstGeom>
          <a:noFill/>
        </p:spPr>
        <p:txBody>
          <a:bodyPr wrap="square" lIns="0" tIns="0" rIns="0" bIns="0" anchor="ctr">
            <a:normAutofit/>
          </a:bodyPr>
          <a:lstStyle/>
          <a:p>
            <a:pPr algn="l">
              <a:lnSpc>
                <a:spcPct val="110000"/>
              </a:lnSpc>
            </a:pPr>
            <a:r>
              <a:rPr lang="ja-JP" sz="1500" b="1" dirty="0">
                <a:solidFill>
                  <a:srgbClr val="F6AF65"/>
                </a:solidFill>
                <a:latin typeface="Noto Sans CJK JP"/>
                <a:ea typeface="Noto Sans CJK JP"/>
              </a:rPr>
              <a:t>03  /  CRANE</a:t>
            </a:r>
          </a:p>
        </p:txBody>
      </p:sp>
      <p:sp>
        <p:nvSpPr>
          <p:cNvPr id="114" name="TextBox 114"/>
          <p:cNvSpPr txBox="1"/>
          <p:nvPr/>
        </p:nvSpPr>
        <p:spPr>
          <a:xfrm>
            <a:off x="10023320" y="2530000"/>
            <a:ext cx="1300000" cy="280000"/>
          </a:xfrm>
          <a:prstGeom prst="rect">
            <a:avLst/>
          </a:prstGeom>
          <a:noFill/>
        </p:spPr>
        <p:txBody>
          <a:bodyPr wrap="square" lIns="0" tIns="0" rIns="0" bIns="0" anchor="ctr">
            <a:normAutofit/>
          </a:bodyPr>
          <a:lstStyle/>
          <a:p>
            <a:pPr algn="r">
              <a:lnSpc>
                <a:spcPct val="110000"/>
              </a:lnSpc>
            </a:pPr>
            <a:r>
              <a:rPr lang="ja-JP" sz="900" b="0" dirty="0">
                <a:solidFill>
                  <a:srgbClr val="8EEBCF"/>
                </a:solidFill>
                <a:latin typeface="Noto Sans CJK JP"/>
                <a:ea typeface="Noto Sans CJK JP"/>
              </a:rPr>
              <a:t>● 自動再生  55秒</a:t>
            </a:r>
          </a:p>
        </p:txBody>
      </p:sp>
      <p:pic>
        <p:nvPicPr>
          <p:cNvPr id="115" name="Genie 4 demo 03  /  CRANE" descr="Genie 4 demo 03  /  CRANE">
            <a:hlinkClick r:id="" action="ppaction://media"/>
          </p:cNvPr>
          <p:cNvPicPr>
            <a:picLocks noChangeAspect="1"/>
          </p:cNvPicPr>
          <p:nvPr>
            <a:videoFile r:link="rIdV2"/>
            <p:extLst>
              <p:ext uri="{DAA4B4D4-6D71-4841-9C94-3DE7FCFB9230}">
                <p14:media xmlns:p14="http://schemas.microsoft.com/office/powerpoint/2010/main" r:embed="rIdM2"/>
              </p:ext>
            </p:extLst>
          </p:nvPr>
        </p:nvPicPr>
        <p:blipFill>
          <a:blip r:embed="rIdP2"/>
          <a:stretch>
            <a:fillRect/>
          </a:stretch>
        </p:blipFill>
        <p:spPr>
          <a:xfrm>
            <a:off x="8143240" y="2860000"/>
            <a:ext cx="3271520" cy="1840230"/>
          </a:xfrm>
          <a:prstGeom prst="rect">
            <a:avLst/>
          </a:prstGeom>
        </p:spPr>
      </p:pic>
      <p:sp>
        <p:nvSpPr>
          <p:cNvPr id="116" name="TextBox 116"/>
          <p:cNvSpPr txBox="1"/>
          <p:nvPr/>
        </p:nvSpPr>
        <p:spPr>
          <a:xfrm>
            <a:off x="8234680" y="4810230"/>
            <a:ext cx="3088640" cy="560000"/>
          </a:xfrm>
          <a:prstGeom prst="rect">
            <a:avLst/>
          </a:prstGeom>
          <a:noFill/>
        </p:spPr>
        <p:txBody>
          <a:bodyPr wrap="square" lIns="0" tIns="0" rIns="0" bIns="0" anchor="t">
            <a:normAutofit/>
          </a:bodyPr>
          <a:lstStyle/>
          <a:p>
            <a:pPr algn="l">
              <a:lnSpc>
                <a:spcPct val="110000"/>
              </a:lnSpc>
            </a:pPr>
            <a:r>
              <a:rPr lang="ja-JP" sz="900" b="1" dirty="0">
                <a:solidFill>
                  <a:srgbClr val="8EEBCF"/>
                </a:solidFill>
                <a:latin typeface="Noto Sans CJK JP"/>
                <a:ea typeface="Noto Sans CJK JP"/>
              </a:rPr>
              <a:t>PROMPT</a:t>
            </a:r>
          </a:p>
          <a:p>
            <a:pPr algn="l">
              <a:lnSpc>
                <a:spcPct val="110000"/>
              </a:lnSpc>
            </a:pPr>
            <a:r>
              <a:rPr lang="ja-JP" sz="1150" b="0" dirty="0">
                <a:solidFill>
                  <a:srgbClr val="EBEEF7"/>
                </a:solidFill>
                <a:latin typeface="Noto Sans CJK JP"/>
                <a:ea typeface="Noto Sans CJK JP"/>
              </a:rPr>
              <a:t>夕暮れの空の下、雪原を歩くカンムリヅル（ドキュメンタリー調）</a:t>
            </a:r>
          </a:p>
        </p:txBody>
      </p:sp>
      <p:sp>
        <p:nvSpPr>
          <p:cNvPr id="117" name="TextBox 117"/>
          <p:cNvSpPr txBox="1"/>
          <p:nvPr/>
        </p:nvSpPr>
        <p:spPr>
          <a:xfrm>
            <a:off x="8234680" y="5410230"/>
            <a:ext cx="3088640" cy="300000"/>
          </a:xfrm>
          <a:prstGeom prst="rect">
            <a:avLst/>
          </a:prstGeom>
          <a:noFill/>
        </p:spPr>
        <p:txBody>
          <a:bodyPr wrap="square" lIns="0" tIns="0" rIns="0" bIns="0" anchor="t">
            <a:normAutofit/>
          </a:bodyPr>
          <a:lstStyle/>
          <a:p>
            <a:pPr algn="l">
              <a:lnSpc>
                <a:spcPct val="110000"/>
              </a:lnSpc>
            </a:pPr>
            <a:r>
              <a:rPr lang="ja-JP" sz="1150" b="1" dirty="0">
                <a:solidFill>
                  <a:srgbClr val="F6AF65"/>
                </a:solidFill>
                <a:latin typeface="Noto Sans CJK JP"/>
                <a:ea typeface="Noto Sans CJK JP"/>
              </a:rPr>
              <a:t>→ 自然・生き物の世界も、実写さながらに生成</a:t>
            </a:r>
          </a:p>
        </p:txBody>
      </p:sp>
      <p:sp>
        <p:nvSpPr>
          <p:cNvPr id="118" name="TextBox 118"/>
          <p:cNvSpPr txBox="1"/>
          <p:nvPr/>
        </p:nvSpPr>
        <p:spPr>
          <a:xfrm>
            <a:off x="685800" y="5930000"/>
            <a:ext cx="10820400" cy="240000"/>
          </a:xfrm>
          <a:prstGeom prst="rect">
            <a:avLst/>
          </a:prstGeom>
          <a:noFill/>
        </p:spPr>
        <p:txBody>
          <a:bodyPr wrap="square" lIns="0" tIns="0" rIns="0" bIns="0" anchor="t">
            <a:normAutofit/>
          </a:bodyPr>
          <a:lstStyle/>
          <a:p>
            <a:pPr algn="l">
              <a:lnSpc>
                <a:spcPct val="110000"/>
              </a:lnSpc>
            </a:pPr>
            <a:r>
              <a:rPr lang="ja-JP" sz="1100" b="0" dirty="0">
                <a:solidFill>
                  <a:srgbClr val="C9CEE0"/>
                </a:solidFill>
                <a:latin typeface="Noto Sans CJK JP"/>
                <a:ea typeface="Noto Sans CJK JP"/>
              </a:rPr>
              <a:t>※動画はPPT内に埋め込み済み。スライド表示と同時に3本が自動再生・ループ（無音）。研究プレビュー段階の技術です。</a:t>
            </a:r>
          </a:p>
        </p:txBody>
      </p:sp>
      <p:sp>
        <p:nvSpPr>
          <p:cNvPr id="119" name="TextBox 119">
            <a:hlinkClick r:id="rIdBlog"/>
          </p:cNvPr>
          <p:cNvSpPr txBox="1"/>
          <p:nvPr/>
        </p:nvSpPr>
        <p:spPr>
          <a:xfrm>
            <a:off x="7400000" y="6245352"/>
            <a:ext cx="4106200" cy="164592"/>
          </a:xfrm>
          <a:prstGeom prst="rect">
            <a:avLst/>
          </a:prstGeom>
          <a:noFill/>
        </p:spPr>
        <p:txBody>
          <a:bodyPr wrap="square" lIns="0" tIns="0" rIns="0" bIns="0" anchor="t">
            <a:normAutofit/>
          </a:bodyPr>
          <a:lstStyle/>
          <a:p>
            <a:pPr algn="r">
              <a:lnSpc>
                <a:spcPct val="110000"/>
              </a:lnSpc>
            </a:pPr>
            <a:r>
              <a:rPr lang="ja-JP" sz="800" b="0" dirty="0">
                <a:solidFill>
                  <a:srgbClr val="8EEBCF"/>
                </a:solidFill>
                <a:latin typeface="Noto Sans CJK JP"/>
                <a:ea typeface="Noto Sans CJK JP"/>
              </a:rPr>
              <a:t>deepmind.google/blog/genie-4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1" presetClass="mediacall" presetSubtype="0" fill="hold" nodeType="afterEffect">
                                  <p:stCondLst>
                                    <p:cond delay="0"/>
                                  </p:stCondLst>
                                  <p:childTnLst>
                                    <p:cmd type="call" cmd="playFrom(0.0)">
                                      <p:cBhvr>
                                        <p:cTn id="9" dur="29000" fill="hold"/>
                                        <p:tgtEl>
                                          <p:spTgt spid="103"/>
                                        </p:tgtEl>
                                      </p:cBhvr>
                                    </p:cmd>
                                  </p:childTnLst>
                                </p:cTn>
                              </p:par>
                              <p:par>
                                <p:cTn id="10" presetID="1" presetClass="mediacall" presetSubtype="0" fill="hold" nodeType="withEffect">
                                  <p:stCondLst>
                                    <p:cond delay="0"/>
                                  </p:stCondLst>
                                  <p:childTnLst>
                                    <p:cmd type="call" cmd="playFrom(0.0)">
                                      <p:cBhvr>
                                        <p:cTn id="11" dur="24000" fill="hold"/>
                                        <p:tgtEl>
                                          <p:spTgt spid="109"/>
                                        </p:tgtEl>
                                      </p:cBhvr>
                                    </p:cmd>
                                  </p:childTnLst>
                                </p:cTn>
                              </p:par>
                              <p:par>
                                <p:cTn id="12" presetID="1" presetClass="mediacall" presetSubtype="0" fill="hold" nodeType="withEffect">
                                  <p:stCondLst>
                                    <p:cond delay="0"/>
                                  </p:stCondLst>
                                  <p:childTnLst>
                                    <p:cmd type="call" cmd="playFrom(0.0)">
                                      <p:cBhvr>
                                        <p:cTn id="13" dur="55667" fill="hold"/>
                                        <p:tgtEl>
                                          <p:spTgt spid="1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14" repeatCount="indefinite" fill="hold" display="0">
                  <p:stCondLst>
                    <p:cond delay="indefinite"/>
                  </p:stCondLst>
                </p:cTn>
                <p:tgtEl>
                  <p:spTgt spid="103"/>
                </p:tgtEl>
              </p:cMediaNode>
            </p:video>
            <p:video>
              <p:cMediaNode vol="0" mute="1">
                <p:cTn id="15" repeatCount="indefinite" fill="hold" display="0">
                  <p:stCondLst>
                    <p:cond delay="indefinite"/>
                  </p:stCondLst>
                </p:cTn>
                <p:tgtEl>
                  <p:spTgt spid="109"/>
                </p:tgtEl>
              </p:cMediaNode>
            </p:video>
            <p:video>
              <p:cMediaNode vol="0" mute="1">
                <p:cTn id="16" repeatCount="indefinite" fill="hold" display="0">
                  <p:stCondLst>
                    <p:cond delay="indefinite"/>
                  </p:stCondLst>
                </p:cTn>
                <p:tgtEl>
                  <p:spTgt spid="115"/>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869680" y="-1051560"/>
            <a:ext cx="3931920" cy="3931920"/>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217152" y="-886968"/>
            <a:ext cx="3584448" cy="3584448"/>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564624" y="-722375"/>
            <a:ext cx="3236976" cy="3236976"/>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912096" y="-557783"/>
            <a:ext cx="2889503" cy="2889503"/>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259567" y="-393191"/>
            <a:ext cx="2542032" cy="2542032"/>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68096" y="530352"/>
            <a:ext cx="59436" cy="237744"/>
          </a:xfrm>
          <a:prstGeom prst="rect">
            <a:avLst/>
          </a:prstGeom>
          <a:solidFill>
            <a:srgbClr val="FFA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507491"/>
            <a:ext cx="10332720" cy="274320"/>
          </a:xfrm>
          <a:prstGeom prst="rect">
            <a:avLst/>
          </a:prstGeom>
          <a:noFill/>
        </p:spPr>
        <p:txBody>
          <a:bodyPr wrap="square" lIns="0" tIns="9144" rIns="0" bIns="9144" anchor="ctr">
            <a:spAutoFit/>
          </a:bodyPr>
          <a:lstStyle/>
          <a:p>
            <a:pPr algn="l">
              <a:spcBef>
                <a:spcPts val="0"/>
              </a:spcBef>
              <a:spcAft>
                <a:spcPts val="0"/>
              </a:spcAft>
            </a:pPr>
            <a:r>
              <a:rPr sz="1200" b="1" i="0">
                <a:solidFill>
                  <a:srgbClr val="FFAA7C"/>
                </a:solidFill>
                <a:latin typeface="Noto Sans CJK JP"/>
              </a:rPr>
              <a:t>STARRING  /  OUR VISION</a:t>
            </a:r>
          </a:p>
        </p:txBody>
      </p:sp>
      <p:sp>
        <p:nvSpPr>
          <p:cNvPr id="10" name="TextBox 9"/>
          <p:cNvSpPr txBox="1"/>
          <p:nvPr/>
        </p:nvSpPr>
        <p:spPr>
          <a:xfrm>
            <a:off x="758952" y="1170432"/>
            <a:ext cx="10671048" cy="1307592"/>
          </a:xfrm>
          <a:prstGeom prst="rect">
            <a:avLst/>
          </a:prstGeom>
          <a:noFill/>
        </p:spPr>
        <p:txBody>
          <a:bodyPr wrap="square" lIns="0" tIns="9144" rIns="0" bIns="9144" anchor="ctr">
            <a:spAutoFit/>
          </a:bodyPr>
          <a:lstStyle/>
          <a:p>
            <a:pPr algn="l">
              <a:spcBef>
                <a:spcPts val="0"/>
              </a:spcBef>
              <a:spcAft>
                <a:spcPts val="0"/>
              </a:spcAft>
            </a:pPr>
            <a:r>
              <a:rPr sz="3900" b="1" i="0">
                <a:solidFill>
                  <a:srgbClr val="FFFFFF"/>
                </a:solidFill>
                <a:latin typeface="Noto Sans CJK JP"/>
              </a:rPr>
              <a:t>集合写真の中から、
自分を探すように。</a:t>
            </a:r>
          </a:p>
        </p:txBody>
      </p:sp>
      <p:sp>
        <p:nvSpPr>
          <p:cNvPr id="11" name="TextBox 10"/>
          <p:cNvSpPr txBox="1"/>
          <p:nvPr/>
        </p:nvSpPr>
        <p:spPr>
          <a:xfrm>
            <a:off x="777240" y="2862072"/>
            <a:ext cx="10643616" cy="1243584"/>
          </a:xfrm>
          <a:prstGeom prst="rect">
            <a:avLst/>
          </a:prstGeom>
          <a:noFill/>
        </p:spPr>
        <p:txBody>
          <a:bodyPr wrap="square" lIns="0" tIns="9144" rIns="0" bIns="9144" anchor="ctr">
            <a:spAutoFit/>
          </a:bodyPr>
          <a:lstStyle/>
          <a:p>
            <a:pPr algn="l">
              <a:spcBef>
                <a:spcPts val="0"/>
              </a:spcBef>
              <a:spcAft>
                <a:spcPts val="0"/>
              </a:spcAft>
            </a:pPr>
            <a:r>
              <a:rPr sz="3800" b="1" i="0">
                <a:solidFill>
                  <a:srgbClr val="FFD47C"/>
                </a:solidFill>
                <a:latin typeface="Noto Sans CJK JP"/>
              </a:rPr>
              <a:t>教材の中にも、
自分自身を見つけられる世界を。</a:t>
            </a:r>
          </a:p>
        </p:txBody>
      </p:sp>
      <p:sp>
        <p:nvSpPr>
          <p:cNvPr id="12" name="Rounded Rectangle 11"/>
          <p:cNvSpPr/>
          <p:nvPr/>
        </p:nvSpPr>
        <p:spPr>
          <a:xfrm>
            <a:off x="850392" y="4818888"/>
            <a:ext cx="10469880" cy="758952"/>
          </a:xfrm>
          <a:prstGeom prst="roundRect">
            <a:avLst>
              <a:gd name="adj" fmla="val 8433"/>
            </a:avLst>
          </a:prstGeom>
          <a:solidFill>
            <a:srgbClr val="25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5032343"/>
            <a:ext cx="10149840" cy="295466"/>
          </a:xfrm>
          <a:prstGeom prst="rect">
            <a:avLst/>
          </a:prstGeom>
          <a:noFill/>
        </p:spPr>
        <p:txBody>
          <a:bodyPr wrap="square" lIns="0" tIns="9144" rIns="0" bIns="9144" anchor="ctr">
            <a:spAutoFit/>
          </a:bodyPr>
          <a:lstStyle/>
          <a:p>
            <a:r>
              <a:rPr sz="1800" dirty="0" err="1">
                <a:solidFill>
                  <a:schemeClr val="bg1"/>
                </a:solidFill>
                <a:latin typeface="Noto Sans CJK JP"/>
              </a:rPr>
              <a:t>学ぶ。答える。認められる。また、自分から挑戦したくなる</a:t>
            </a:r>
            <a:r>
              <a:rPr sz="1800" dirty="0">
                <a:solidFill>
                  <a:schemeClr val="bg1"/>
                </a:solidFill>
                <a:latin typeface="Noto Sans CJK JP"/>
              </a:rPr>
              <a:t>。</a:t>
            </a:r>
          </a:p>
        </p:txBody>
      </p:sp>
      <p:sp>
        <p:nvSpPr>
          <p:cNvPr id="14" name="TextBox 13"/>
          <p:cNvSpPr txBox="1"/>
          <p:nvPr/>
        </p:nvSpPr>
        <p:spPr>
          <a:xfrm>
            <a:off x="822960" y="5824728"/>
            <a:ext cx="10515600" cy="466344"/>
          </a:xfrm>
          <a:prstGeom prst="rect">
            <a:avLst/>
          </a:prstGeom>
          <a:noFill/>
        </p:spPr>
        <p:txBody>
          <a:bodyPr wrap="square" lIns="0" tIns="9144" rIns="0" bIns="9144" anchor="ctr">
            <a:spAutoFit/>
          </a:bodyPr>
          <a:lstStyle/>
          <a:p>
            <a:pPr algn="r">
              <a:spcBef>
                <a:spcPts val="0"/>
              </a:spcBef>
              <a:spcAft>
                <a:spcPts val="0"/>
              </a:spcAft>
            </a:pPr>
            <a:r>
              <a:rPr sz="2700" b="1" i="0">
                <a:solidFill>
                  <a:srgbClr val="FFAA7C"/>
                </a:solidFill>
                <a:latin typeface="Noto Sans CJK JP"/>
              </a:rPr>
              <a:t>STARRING</a:t>
            </a:r>
          </a:p>
        </p:txBody>
      </p:sp>
      <p:sp>
        <p:nvSpPr>
          <p:cNvPr id="15" name="TextBox 14"/>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99A1C0"/>
                </a:solidFill>
                <a:latin typeface="Noto Sans CJK JP"/>
              </a:rPr>
              <a:t>STARRING  /  AIエージェント アイデアソン by Animoca Brands Japan</a:t>
            </a:r>
          </a:p>
        </p:txBody>
      </p:sp>
      <p:sp>
        <p:nvSpPr>
          <p:cNvPr id="16" name="TextBox 15"/>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1205</Words>
  <Application>Microsoft Macintosh PowerPoint</Application>
  <PresentationFormat>ワイド画面</PresentationFormat>
  <Paragraphs>191</Paragraphs>
  <Slides>14</Slides>
  <Notes>14</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14</vt:i4>
      </vt:variant>
    </vt:vector>
  </HeadingPairs>
  <TitlesOfParts>
    <vt:vector size="18" baseType="lpstr">
      <vt:lpstr>Noto Sans CJK JP</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STARRING | 自分が教材になる、行動が世界を変える</dc:title>
  <dc:subject>Animoca Brands Japan 学生AIエージェントアイデアソン 提案</dc:subject>
  <dc:creator>渡邉 直也</dc:creator>
  <cp:keywords/>
  <dc:description>generated using python-pptx</dc:description>
  <cp:lastModifiedBy>渡邉 直也</cp:lastModifiedBy>
  <cp:revision>3</cp:revision>
  <dcterms:created xsi:type="dcterms:W3CDTF">2013-01-27T09:14:16Z</dcterms:created>
  <dcterms:modified xsi:type="dcterms:W3CDTF">2026-10-30T10:47:52Z</dcterms:modified>
  <cp:category/>
</cp:coreProperties>
</file>